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78d1a8ce824844" /><Relationship Type="http://schemas.openxmlformats.org/officeDocument/2006/relationships/extended-properties" Target="/docProps/app.xml" Id="R66761bea9e284fbd" /><Relationship Type="http://schemas.openxmlformats.org/officeDocument/2006/relationships/officeDocument" Target="/ppt/presentation.xml" Id="Rcd6a90daec3948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37ebeb1d944e11"/>
  </p:sldMasterIdLst>
  <p:notesMasterIdLst>
    <p:notesMasterId xmlns:r="http://schemas.openxmlformats.org/officeDocument/2006/relationships" r:id="R031348e2717547f0"/>
  </p:notesMasterIdLst>
  <p:sldIdLst>
    <p:sldId xmlns:r="http://schemas.openxmlformats.org/officeDocument/2006/relationships" id="256" r:id="R6839668277dd4f54"/>
    <p:sldId xmlns:r="http://schemas.openxmlformats.org/officeDocument/2006/relationships" id="257" r:id="R2f2027d1f6624d00"/>
    <p:sldId xmlns:r="http://schemas.openxmlformats.org/officeDocument/2006/relationships" id="258" r:id="Rfceaff0425a24a88"/>
    <p:sldId xmlns:r="http://schemas.openxmlformats.org/officeDocument/2006/relationships" id="259" r:id="R374a51354ad0452f"/>
    <p:sldId xmlns:r="http://schemas.openxmlformats.org/officeDocument/2006/relationships" id="260" r:id="R0c91ad6b99c44d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c427893e0d4632" /><Relationship Type="http://schemas.openxmlformats.org/officeDocument/2006/relationships/slideMaster" Target="/ppt/slideMasters/slideMaster1.xml" Id="R5b37ebeb1d944e11" /><Relationship Type="http://schemas.openxmlformats.org/officeDocument/2006/relationships/notesMaster" Target="/ppt/notesMasters/notesMaster1.xml" Id="R031348e2717547f0" /><Relationship Type="http://schemas.openxmlformats.org/officeDocument/2006/relationships/presProps" Target="/ppt/presProps.xml" Id="R3bf233d42d954786" /><Relationship Type="http://schemas.openxmlformats.org/officeDocument/2006/relationships/tableStyles" Target="/ppt/tableStyles.xml" Id="R6dfebdf4574942ea" /><Relationship Type="http://schemas.openxmlformats.org/officeDocument/2006/relationships/slide" Target="/ppt/slides/slide1.xml" Id="R6839668277dd4f54" /><Relationship Type="http://schemas.openxmlformats.org/officeDocument/2006/relationships/slide" Target="/ppt/slides/slide2.xml" Id="R2f2027d1f6624d00" /><Relationship Type="http://schemas.openxmlformats.org/officeDocument/2006/relationships/slide" Target="/ppt/slides/slide3.xml" Id="Rfceaff0425a24a88" /><Relationship Type="http://schemas.openxmlformats.org/officeDocument/2006/relationships/slide" Target="/ppt/slides/slide4.xml" Id="R374a51354ad0452f" /><Relationship Type="http://schemas.openxmlformats.org/officeDocument/2006/relationships/slide" Target="/ppt/slides/slide5.xml" Id="R0c91ad6b99c44d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f6d5451638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528725cce943b4" /><Relationship Type="http://schemas.openxmlformats.org/officeDocument/2006/relationships/notesMaster" Target="/ppt/notesMasters/notesMaster1.xml" Id="R1908a84e3a3942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04ec6d5dcf4fdd" /><Relationship Type="http://schemas.openxmlformats.org/officeDocument/2006/relationships/notesMaster" Target="/ppt/notesMasters/notesMaster1.xml" Id="R1ea44fcd460344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3954305bd14b94" /><Relationship Type="http://schemas.openxmlformats.org/officeDocument/2006/relationships/notesMaster" Target="/ppt/notesMasters/notesMaster1.xml" Id="R88294cd93be343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372027ab124434" /><Relationship Type="http://schemas.openxmlformats.org/officeDocument/2006/relationships/notesMaster" Target="/ppt/notesMasters/notesMaster1.xml" Id="Rc7a78b20279d48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bd841af76646ee" /><Relationship Type="http://schemas.openxmlformats.org/officeDocument/2006/relationships/notesMaster" Target="/ppt/notesMasters/notesMaster1.xml" Id="Rdb52d474517f4d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flow based on the current Guard MVP. Private checks remain separate from contributions. Reports require consent and analyst review before promotion into verified intelligence.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 source: Guard product pages in app/pricing/page.tsx and app/business/page.tsx, reviewed 17 October 2026. Enterprise pricing remains custom and should be tested through pilots.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product status as of 17 October 2026. Metrics describe product implementation, test coverage and dataset records. They do not represent active users, revenue or validated commercial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Q4 2026 reflects completed internal work. All 2027 milestones are proposed planning assumptions and should be revised after pilot partner commitments, data-access agreements and resourcing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Partnership asks reflect the priorities supplied by the founder: cybersecurity partnerships, cloud or model credits, pilot distribution and access to privacy-safe Ghanaian fraud data. No funding amount is stated because the capital requirement has not yet been defined.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dbac8ff564e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b78903063f4832" /><Relationship Type="http://schemas.openxmlformats.org/officeDocument/2006/relationships/slideLayout" Target="/ppt/slideLayouts/slideLayout1.xml" Id="R24abd53f438a44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abd53f438a44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6adb26ca54e1f" /><Relationship Type="http://schemas.openxmlformats.org/officeDocument/2006/relationships/image" Target="/ppt/media/image.png" Id="Rf459d6278c6e4083" /><Relationship Type="http://schemas.openxmlformats.org/officeDocument/2006/relationships/notesSlide" Target="/ppt/notesSlides/notesSlide1.xml" Id="R73380dc8404d46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41aff4941473f" /><Relationship Type="http://schemas.openxmlformats.org/officeDocument/2006/relationships/notesSlide" Target="/ppt/notesSlides/notesSlide2.xml" Id="R0fe3ec2ec1de4b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e24a99d924df2" /><Relationship Type="http://schemas.openxmlformats.org/officeDocument/2006/relationships/notesSlide" Target="/ppt/notesSlides/notesSlide3.xml" Id="R5df3039417dd4d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abef57bad4d5d" /><Relationship Type="http://schemas.openxmlformats.org/officeDocument/2006/relationships/notesSlide" Target="/ppt/notesSlides/notesSlide4.xml" Id="Rb4870ea71e2243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0fa2568ad4156" /><Relationship Type="http://schemas.openxmlformats.org/officeDocument/2006/relationships/image" Target="/ppt/media/image2.png" Id="R5ab2b321cc5944c0" /><Relationship Type="http://schemas.openxmlformats.org/officeDocument/2006/relationships/notesSlide" Target="/ppt/notesSlides/notesSlide5.xml" Id="Ree8076ebb5ff47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FC6B3C-9589-4D0C-834E-B4449CB9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2850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How Guard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8870B-5080-4D39-87E5-785AE771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D1D9"/>
                </a:solidFill>
                <a:latin typeface="Inter 24pt"/>
                <a:ea typeface="Inter 24pt"/>
                <a:cs typeface="Inter 24pt"/>
              </a:defRPr>
            </a:pPr>
            <a:r>
              <a:rPr sz="1275" b="0">
                <a:solidFill>
                  <a:srgbClr val="B7D1D9"/>
                </a:solidFill>
                <a:latin typeface="Inter 24pt"/>
                <a:ea typeface="Inter 24pt"/>
                <a:cs typeface="Inter 24pt"/>
              </a:rPr>
              <a:t>A private check produces an explainable result. Only intentional reports enter the learning pipeline.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573C0-6E66-43FE-A9A4-2B3D802A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6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defRPr>
            </a:pPr>
            <a:r>
              <a: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rPr>
              <a:t>GUARD 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071DF-6478-4551-8D6D-A68F7C88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5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2719A-E2B0-42CC-900F-7483ED02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B"/>
          </a:solidFill>
          <a:ln xmlns:a="http://schemas.openxmlformats.org/drawingml/2006/main" w="9525">
            <a:solidFill>
              <a:srgbClr val="07C6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975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641E6-CCD0-4A53-A404-57A03434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24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Submit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14EA2-20F1-4CA2-9A41-4484D803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95425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D1D9"/>
                </a:solidFill>
                <a:latin typeface="Inter 24pt"/>
                <a:ea typeface="Inter 24pt"/>
                <a:cs typeface="Inter 24pt"/>
              </a:defRPr>
            </a:pPr>
            <a:r>
              <a:rPr sz="1050" b="0">
                <a:solidFill>
                  <a:srgbClr val="B7D1D9"/>
                </a:solidFill>
                <a:latin typeface="Inter 24pt"/>
                <a:ea typeface="Inter 24pt"/>
                <a:cs typeface="Inter 24pt"/>
              </a:rPr>
              <a:t>Message, link, number, screenshot, call or payment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DC0DC-4E44-49DD-879B-5B690ACD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71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B"/>
          </a:solidFill>
          <a:ln xmlns:a="http://schemas.openxmlformats.org/drawingml/2006/main" w="9525">
            <a:solidFill>
              <a:srgbClr val="07C6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975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414BA-385B-443F-9CAA-4FB804B0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907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Extract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F0287-2A50-4C0A-9176-D042C612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62200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D1D9"/>
                </a:solidFill>
                <a:latin typeface="Inter 24pt"/>
                <a:ea typeface="Inter 24pt"/>
                <a:cs typeface="Inter 24pt"/>
              </a:defRPr>
            </a:pPr>
            <a:r>
              <a:rPr sz="1050" b="0">
                <a:solidFill>
                  <a:srgbClr val="B7D1D9"/>
                </a:solidFill>
                <a:latin typeface="Inter 24pt"/>
                <a:ea typeface="Inter 24pt"/>
                <a:cs typeface="Inter 24pt"/>
              </a:rPr>
              <a:t>Guard detects credential requests, urgency, impersonation and suspicious URLs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08646-FFDE-40DD-9F80-CC25596D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B"/>
          </a:solidFill>
          <a:ln xmlns:a="http://schemas.openxmlformats.org/drawingml/2006/main" w="9525">
            <a:solidFill>
              <a:srgbClr val="07C6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975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DDFE5-CED2-41D5-837C-CD9C572C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Corroborate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CFFA2-0273-4EB7-A129-2ADEEE85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28975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D1D9"/>
                </a:solidFill>
                <a:latin typeface="Inter 24pt"/>
                <a:ea typeface="Inter 24pt"/>
                <a:cs typeface="Inter 24pt"/>
              </a:defRPr>
            </a:pPr>
            <a:r>
              <a:rPr sz="1050" b="0">
                <a:solidFill>
                  <a:srgbClr val="B7D1D9"/>
                </a:solidFill>
                <a:latin typeface="Inter 24pt"/>
                <a:ea typeface="Inter 24pt"/>
                <a:cs typeface="Inter 24pt"/>
              </a:rPr>
              <a:t>Rules and moderated Ghana intelligence strengthen or challenge the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0F300-CB8F-42CB-BC2D-1613A8F9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05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B"/>
          </a:solidFill>
          <a:ln xmlns:a="http://schemas.openxmlformats.org/drawingml/2006/main" w="9525">
            <a:solidFill>
              <a:srgbClr val="07C6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975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C0825-F9DF-4719-B4FD-CCBA1679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243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9E102-7A57-4C5D-AA72-5189820F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95750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D1D9"/>
                </a:solidFill>
                <a:latin typeface="Inter 24pt"/>
                <a:ea typeface="Inter 24pt"/>
                <a:cs typeface="Inter 24pt"/>
              </a:defRPr>
            </a:pPr>
            <a:r>
              <a:rPr sz="1050" b="0">
                <a:solidFill>
                  <a:srgbClr val="B7D1D9"/>
                </a:solidFill>
                <a:latin typeface="Inter 24pt"/>
                <a:ea typeface="Inter 24pt"/>
                <a:cs typeface="Inter 24pt"/>
              </a:rPr>
              <a:t>The user receives a risk score, likely pattern and safer next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E46EF-6A8F-41AA-A180-064EBC98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72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B"/>
          </a:solidFill>
          <a:ln xmlns:a="http://schemas.openxmlformats.org/drawingml/2006/main" w="9525">
            <a:solidFill>
              <a:srgbClr val="07C6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975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40484-4DF6-4544-AA65-2A9353FB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911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Improve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EF192D-A65C-4473-A372-00685641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62525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D1D9"/>
                </a:solidFill>
                <a:latin typeface="Inter 24pt"/>
                <a:ea typeface="Inter 24pt"/>
                <a:cs typeface="Inter 24pt"/>
              </a:defRPr>
            </a:pPr>
            <a:r>
              <a:rPr sz="1050" b="0">
                <a:solidFill>
                  <a:srgbClr val="B7D1D9"/>
                </a:solidFill>
                <a:latin typeface="Inter 24pt"/>
                <a:ea typeface="Inter 24pt"/>
                <a:cs typeface="Inter 24pt"/>
              </a:rPr>
              <a:t>Opt-in reports enter analyst review before they can influence verified intelligence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9d6278c6e4083"/>
          <a:srcRect xmlns:a="http://schemas.openxmlformats.org/drawingml/2006/main" l="22004" t="0" r="22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1352550"/>
            <a:ext cx="4667250" cy="4686300"/>
          </a:xfrm>
          <a:prstGeom xmlns:a="http://schemas.openxmlformats.org/drawingml/2006/main" prst="roundRect">
            <a:avLst>
              <a:gd name="adj" fmla="val 4898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A4503-00FB-419D-976F-E1151F9E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defRPr>
            </a:pPr>
            <a:r>
              <a: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rPr>
              <a:t>PRIVATE BY DEFAULT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5197B1-EA8D-40F2-BB07-C6C07513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817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975" b="0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Checks do not become training data unless the user reports them and consents.</a:t>
            </a:r>
          </a:p>
        </p:txBody>
      </p:sp>
    </p:spTree>
    <p:extLst>
      <p:ext uri="{BB962C8B-B14F-4D97-AF65-F5344CB8AC3E}">
        <p14:creationId xmlns:p14="http://schemas.microsoft.com/office/powerpoint/2010/main" val="1302998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5FB6BF-ED03-4B8F-83FB-D1D45A44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2850" b="1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DAEF7-40D4-47CB-9106-ADEAE5EB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C86"/>
                </a:solidFill>
                <a:latin typeface="Inter 24pt"/>
                <a:ea typeface="Inter 24pt"/>
                <a:cs typeface="Inter 24pt"/>
              </a:defRPr>
            </a:pPr>
            <a:r>
              <a:rPr sz="1275" b="0">
                <a:solidFill>
                  <a:srgbClr val="667C86"/>
                </a:solidFill>
                <a:latin typeface="Inter 24pt"/>
                <a:ea typeface="Inter 24pt"/>
                <a:cs typeface="Inter 24pt"/>
              </a:rPr>
              <a:t>Free access builds reach. Team subscriptions and enterprise integrations fund the intelligence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C9945-1A44-4D03-9B80-7DC6273C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6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825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GUARD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BCD7D-12E3-418E-8209-C40B3A4C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47625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7FE"/>
          </a:solidFill>
          <a:ln xmlns:a="http://schemas.openxmlformats.org/drawingml/2006/main" w="9525">
            <a:solidFill>
              <a:srgbClr val="9EDB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A2C5E-BC2F-4F34-BB6E-C9E4D840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750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EVERYDAY 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6364A-6A17-4DC6-837C-398A2D92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1650" b="1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Free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F8176-F709-4248-BD42-81D392C9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6690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975" b="0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Five checks per day across messages, links and numbers. Guard Plus adds unlimited checks and saved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63994-8256-44C2-8D0F-36B6324F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5905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BEEFFF"/>
          </a:solidFill>
          <a:ln xmlns:a="http://schemas.openxmlformats.org/drawingml/2006/main" w="9525">
            <a:solidFill>
              <a:srgbClr val="9EDB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FFE91-032D-4DD1-9DBF-ADDFE4E9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750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SMEs AND SUPPORT TEAMS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570DB-B4F9-4B67-9A1D-F78266C4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1650" b="1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GHS 1,500 / month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2A18C-F06E-41FC-B653-8534A717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4800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975" b="0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Protect includes 2,500 monthly checks, 15 team members, review queues and priority intelligence.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182CD-B287-4FC4-A697-FDA664CF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70485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8BE2FA"/>
          </a:solidFill>
          <a:ln xmlns:a="http://schemas.openxmlformats.org/drawingml/2006/main" w="9525">
            <a:solidFill>
              <a:srgbClr val="9EDB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E1616-E021-4226-9B1C-A955A53B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750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ENTERPRISE AND PARTNERS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E9F7F-194F-428E-9BAB-1FBE293B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1650" b="1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Custom contracts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5E1A1-8C61-4AFB-8F58-2AF8E946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19600"/>
            <a:ext cx="342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975" b="0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API access, configurable rules, data integrations and dedicated intelligence support.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5EC84-A44D-445D-95FF-4ED7B6B7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825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LAND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8A8C5-35DD-461B-AB85-488E7FA1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1350" b="1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Free consumer and team pilots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E7187-1613-4E51-BE12-8B89BD1A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336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8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89C2A-7D55-4C0C-91DA-32BE7794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825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EXPAND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E8829-70C4-46AC-9FF5-FABCEE51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051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1350" b="1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More checks, seats and shared workflows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61146-E7BA-4EE2-B662-3505408A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8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10AA2-B4C9-4116-B4DE-60384E28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825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INTEGRATE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589FD-61E3-40C5-80BA-C999C3CF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1350" b="1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API, custom rules and partner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A6ED0-9AE0-4407-9948-A4467E2A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76850"/>
            <a:ext cx="2952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A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DC2515-F173-45B1-AC52-897CDE10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1020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900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Recurring subscriptions + enterprise contracts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A4294C-7C14-4724-ADCD-3FC6C7AC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C86"/>
                </a:solidFill>
                <a:latin typeface="Inter 24pt"/>
                <a:ea typeface="Inter 24pt"/>
                <a:cs typeface="Inter 24pt"/>
              </a:defRPr>
            </a:pPr>
            <a:r>
              <a:rPr sz="825" b="0">
                <a:solidFill>
                  <a:srgbClr val="667C86"/>
                </a:solidFill>
                <a:latin typeface="Inter 24pt"/>
                <a:ea typeface="Inter 24pt"/>
                <a:cs typeface="Inter 24pt"/>
              </a:rPr>
              <a:t>Current product pricing. Enterprise pricing varies by volume and integration scope.</a:t>
            </a:r>
          </a:p>
        </p:txBody>
      </p:sp>
    </p:spTree>
    <p:extLst>
      <p:ext uri="{BB962C8B-B14F-4D97-AF65-F5344CB8AC3E}">
        <p14:creationId xmlns:p14="http://schemas.microsoft.com/office/powerpoint/2010/main" val="17236099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0335E-405A-4EEA-A254-BFEE9FB3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2850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ED976-228C-46F1-B2FB-4C694D46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D1D9"/>
                </a:solidFill>
                <a:latin typeface="Inter 24pt"/>
                <a:ea typeface="Inter 24pt"/>
                <a:cs typeface="Inter 24pt"/>
              </a:defRPr>
            </a:pPr>
            <a:r>
              <a:rPr sz="1275" b="0">
                <a:solidFill>
                  <a:srgbClr val="B7D1D9"/>
                </a:solidFill>
                <a:latin typeface="Inter 24pt"/>
                <a:ea typeface="Inter 24pt"/>
                <a:cs typeface="Inter 24pt"/>
              </a:rPr>
              <a:t>The MVP now connects research, user experience, risk logic and a governed data pipeline.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6EED5-E2DA-4DBC-953A-E13756F6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6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defRPr>
            </a:pPr>
            <a:r>
              <a: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rPr>
              <a:t>GUARD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661D3-3ABB-4CA7-B38E-9C48877B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C6FF"/>
                </a:solidFill>
                <a:latin typeface="Inter 24pt"/>
                <a:ea typeface="Inter 24pt"/>
                <a:cs typeface="Inter 24pt"/>
              </a:defRPr>
            </a:pPr>
            <a:r>
              <a:rPr sz="3900" b="1">
                <a:solidFill>
                  <a:srgbClr val="07C6FF"/>
                </a:solidFill>
                <a:latin typeface="Inter 24pt"/>
                <a:ea typeface="Inter 24pt"/>
                <a:cs typeface="Inter 24pt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01468-0434-47A1-AD10-62B3F0CB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200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input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7FF51-049A-471A-BEDB-7380447F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AD2"/>
                </a:solidFill>
                <a:latin typeface="Inter 24pt"/>
                <a:ea typeface="Inter 24pt"/>
                <a:cs typeface="Inter 24pt"/>
              </a:defRPr>
            </a:pPr>
            <a:r>
              <a:rPr sz="900" b="0">
                <a:solidFill>
                  <a:srgbClr val="AFCAD2"/>
                </a:solidFill>
                <a:latin typeface="Inter 24pt"/>
                <a:ea typeface="Inter 24pt"/>
                <a:cs typeface="Inter 24pt"/>
              </a:rPr>
              <a:t>Messages, links, numbers, WhatsApp, screenshots, calls and payments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EBD16-E3D3-4618-967F-B4CE03DE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C6FF"/>
                </a:solidFill>
                <a:latin typeface="Inter 24pt"/>
                <a:ea typeface="Inter 24pt"/>
                <a:cs typeface="Inter 24pt"/>
              </a:defRPr>
            </a:pPr>
            <a:r>
              <a:rPr sz="3900" b="1">
                <a:solidFill>
                  <a:srgbClr val="07C6FF"/>
                </a:solidFill>
                <a:latin typeface="Inter 24pt"/>
                <a:ea typeface="Inter 24pt"/>
                <a:cs typeface="Inter 24pt"/>
              </a:rPr>
              <a:t>1,400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464BB-A9E7-4B29-98FD-B6A65000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200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records loaded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081DF-4069-475E-BABA-82587E8A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431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AD2"/>
                </a:solidFill>
                <a:latin typeface="Inter 24pt"/>
                <a:ea typeface="Inter 24pt"/>
                <a:cs typeface="Inter 24pt"/>
              </a:defRPr>
            </a:pPr>
            <a:r>
              <a:rPr sz="900" b="0">
                <a:solidFill>
                  <a:srgbClr val="AFCAD2"/>
                </a:solidFill>
                <a:latin typeface="Inter 24pt"/>
                <a:ea typeface="Inter 24pt"/>
                <a:cs typeface="Inter 24pt"/>
              </a:rPr>
              <a:t>Fraud, legitimate and URL examples in the intelligence 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8932C-B98F-4EBD-BC61-F9B2E18D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621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C6FF"/>
                </a:solidFill>
                <a:latin typeface="Inter 24pt"/>
                <a:ea typeface="Inter 24pt"/>
                <a:cs typeface="Inter 24pt"/>
              </a:defRPr>
            </a:pPr>
            <a:r>
              <a:rPr sz="3900" b="1">
                <a:solidFill>
                  <a:srgbClr val="07C6FF"/>
                </a:solidFill>
                <a:latin typeface="Inter 24pt"/>
                <a:ea typeface="Inter 24pt"/>
                <a:cs typeface="Inter 24pt"/>
              </a:rPr>
              <a:t>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4B130-F288-423F-973D-28706EB6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200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analysis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F7578-A35A-4F31-AD4B-6CF15A27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431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AD2"/>
                </a:solidFill>
                <a:latin typeface="Inter 24pt"/>
                <a:ea typeface="Inter 24pt"/>
                <a:cs typeface="Inter 24pt"/>
              </a:defRPr>
            </a:pPr>
            <a:r>
              <a:rPr sz="900" b="0">
                <a:solidFill>
                  <a:srgbClr val="AFCAD2"/>
                </a:solidFill>
                <a:latin typeface="Inter 24pt"/>
                <a:ea typeface="Inter 24pt"/>
                <a:cs typeface="Inter 24pt"/>
              </a:rPr>
              <a:t>Core pattern, URL, database and safety checks passing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5DA57-E725-4176-8D10-01F2AF8E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4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57A69-4C89-4F5D-BDFE-06A925D0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defRPr>
            </a:pPr>
            <a:r>
              <a: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rPr>
              <a:t>DISCOVERY AND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2FEDD-20D9-471F-846D-820290B8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4572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User research and problem definition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Ghana fraud-pattern mapping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Public product flows and admin workspace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Responsive screens and brand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42C3D8-7D61-4438-A1DA-F66AFC0F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defRPr>
            </a:pPr>
            <a:r>
              <a: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rPr>
              <a:t>WORKING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0661F-6322-4E7A-B1C4-9B77C93E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Explainable risk engine and URL analysis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FastAPI backend with Supabase PostgreSQL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Authentication and role-based administration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350" b="0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Reporting, import and analyst review pipeline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9F944-118C-4E0E-9816-A6EBD52A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030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ADE1CC-FD88-45C6-9768-26C22B93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defRPr>
            </a:pPr>
            <a:r>
              <a: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rPr>
              <a:t>Current stage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101BF-6990-4299-B8CF-941768A6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0293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350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Working MVP ready for controlled pilots and verified Ghana data partnerships</a:t>
            </a:r>
          </a:p>
        </p:txBody>
      </p:sp>
    </p:spTree>
    <p:extLst>
      <p:ext uri="{BB962C8B-B14F-4D97-AF65-F5344CB8AC3E}">
        <p14:creationId xmlns:p14="http://schemas.microsoft.com/office/powerpoint/2010/main" val="10776590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90B83E-6869-4F9A-A205-3DE9356E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2850" b="1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Key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7ECDC-1686-4FEC-A1D1-626E36F6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C86"/>
                </a:solidFill>
                <a:latin typeface="Inter 24pt"/>
                <a:ea typeface="Inter 24pt"/>
                <a:cs typeface="Inter 24pt"/>
              </a:defRPr>
            </a:pPr>
            <a:r>
              <a:rPr sz="1275" b="0">
                <a:solidFill>
                  <a:srgbClr val="667C86"/>
                </a:solidFill>
                <a:latin typeface="Inter 24pt"/>
                <a:ea typeface="Inter 24pt"/>
                <a:cs typeface="Inter 24pt"/>
              </a:rPr>
              <a:t>A proposed quarterly path from working MVP to repeatable deployment by the end of 2027.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E2345-4ACB-44A9-B7A8-B8C1F759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6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825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GUARD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18889-7486-4841-8FC2-90E4D0EA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5E8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D0C25-C09F-42B6-AF88-3845D724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90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8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050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AF6BA-EB4E-4A30-8B0D-79DFA436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C98F"/>
                </a:solidFill>
                <a:latin typeface="Inter 24pt"/>
                <a:ea typeface="Inter 24pt"/>
                <a:cs typeface="Inter 24pt"/>
              </a:defRPr>
            </a:pPr>
            <a:r>
              <a:rPr sz="1050" b="1">
                <a:solidFill>
                  <a:srgbClr val="35C98F"/>
                </a:solidFill>
                <a:latin typeface="Inter 24pt"/>
                <a:ea typeface="Inter 24pt"/>
                <a:cs typeface="Inter 24pt"/>
              </a:rPr>
              <a:t>Q4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6F5EE-1344-47DB-9B1E-2B1B4CF4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1500" b="1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91B58-55B5-4D9D-B77B-A9F7F119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1809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defRPr>
            </a:pPr>
            <a:r>
              <a: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rPr>
              <a:t>User research complete</a:t>
            </a:r>
          </a:p>
          <a:p xmlns:a="http://schemas.openxmlformats.org/drawingml/2006/main">
            <a:pPr algn="l">
              <a:def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defRPr>
            </a:pPr>
            <a:r>
              <a: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rPr>
              <a:t>Web MVP, backend and database 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7D3C6-D04E-4A0A-A1CE-04BCF389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847B0-2ED1-4ED8-845D-578C8BCF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53025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6705C"/>
                </a:solidFill>
                <a:latin typeface="Inter 24pt"/>
                <a:ea typeface="Inter 24pt"/>
                <a:cs typeface="Inter 24pt"/>
              </a:defRPr>
            </a:pPr>
            <a:r>
              <a:rPr sz="675" b="1">
                <a:solidFill>
                  <a:srgbClr val="16705C"/>
                </a:solidFill>
                <a:latin typeface="Inter 24pt"/>
                <a:ea typeface="Inter 24pt"/>
                <a:cs typeface="Inter 24pt"/>
              </a:rPr>
              <a:t>COMPLETED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3DCE3-2B7D-49F4-B76F-E1983AB5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050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A2F5A-BEC7-47C8-A437-2D574E5A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66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1050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Q1 2027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CD04D-AF1D-40E5-A6AA-98BF816C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384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1500" b="1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Pilot readiness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B57BD-6DC6-4968-A36B-7B6241EC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76625"/>
            <a:ext cx="1809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defRPr>
            </a:pPr>
            <a:r>
              <a: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rPr>
              <a:t>Review and benchmark the dataset</a:t>
            </a:r>
          </a:p>
          <a:p xmlns:a="http://schemas.openxmlformats.org/drawingml/2006/main">
            <a:pPr algn="l">
              <a:def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defRPr>
            </a:pPr>
            <a:r>
              <a: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rPr>
              <a:t>Onboard controlled SME and support-team pilots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62EFB-B9B3-4598-8344-4451B99B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76825"/>
            <a:ext cx="800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20120-F177-4523-88E7-346E839A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530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675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PROPOSED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909F3-2DC4-4F9C-B957-792F433E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90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050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59BC4-3D6D-488D-B35B-C92202B0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66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1050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Q2 2027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15F78-4651-4552-B7F8-475C27F1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384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1500" b="1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Multi-channel beta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F12517-F6B5-4B7D-972F-B65F184A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76625"/>
            <a:ext cx="1809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defRPr>
            </a:pPr>
            <a:r>
              <a: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rPr>
              <a:t>Release the mobile app beta</a:t>
            </a:r>
          </a:p>
          <a:p xmlns:a="http://schemas.openxmlformats.org/drawingml/2006/main">
            <a:pPr algn="l">
              <a:def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defRPr>
            </a:pPr>
            <a:r>
              <a: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rPr>
              <a:t>Test browser extension and partner plugin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58906-3D66-4877-98F3-A75CE230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76825"/>
            <a:ext cx="800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8BA53-7258-4609-9721-CF68B45F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530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675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PROPOSED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A93F1-9FFC-4B8F-99F2-DCE2D8C8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050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6931B5-C68F-4753-BF1E-18E47906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66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1050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Q3 2027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8F499-2F89-44CB-975A-A7F4B804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384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1500" b="1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Partnerships and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9C3E1-5F39-48DA-A353-D5172122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76625"/>
            <a:ext cx="1809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defRPr>
            </a:pPr>
            <a:r>
              <a: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rPr>
              <a:t>Secure cybersecurity and sector partners</a:t>
            </a:r>
          </a:p>
          <a:p xmlns:a="http://schemas.openxmlformats.org/drawingml/2006/main">
            <a:pPr algn="l">
              <a:def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defRPr>
            </a:pPr>
            <a:r>
              <a: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rPr>
              <a:t>Expand verified Ghana fraud intelligence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AD707E-CF4F-491D-B2DC-BF7FFAE1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76825"/>
            <a:ext cx="800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D265E1-3CF1-4C24-9E44-FB8BF50A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530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675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PROPOSED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3E25A9-5BE4-499D-9D98-87E9A1B4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90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050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0AE1F7-5C2B-4988-B836-53829CCC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66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1050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Q4 2027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4D7920-760E-483D-93A7-49496F8D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384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3"/>
                </a:solidFill>
                <a:latin typeface="Inter 24pt"/>
                <a:ea typeface="Inter 24pt"/>
                <a:cs typeface="Inter 24pt"/>
              </a:defRPr>
            </a:pPr>
            <a:r>
              <a:rPr sz="1500" b="1">
                <a:solidFill>
                  <a:srgbClr val="102A33"/>
                </a:solidFill>
                <a:latin typeface="Inter 24pt"/>
                <a:ea typeface="Inter 24pt"/>
                <a:cs typeface="Inter 24pt"/>
              </a:rPr>
              <a:t>Scale readiness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727DC2-F626-467D-988F-C78132E2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76625"/>
            <a:ext cx="1809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defRPr>
            </a:pPr>
            <a:r>
              <a: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rPr>
              <a:t>Run paid enterprise pilots</a:t>
            </a:r>
          </a:p>
          <a:p xmlns:a="http://schemas.openxmlformats.org/drawingml/2006/main">
            <a:pPr algn="l">
              <a:def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defRPr>
            </a:pPr>
            <a:r>
              <a:rPr sz="1050" b="0">
                <a:solidFill>
                  <a:srgbClr val="667C86"/>
                </a:solidFill>
                <a:latin typeface="Inter 24pt"/>
                <a:ea typeface="Inter 24pt"/>
                <a:cs typeface="Inter 24pt"/>
              </a:rPr>
              <a:t>Harden API, security and model monitoring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B5CFC7-B9FD-4820-9CC7-981A0977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76825"/>
            <a:ext cx="800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9A9CCD-DB36-4F2F-9355-60408AC6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530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A8DB"/>
                </a:solidFill>
                <a:latin typeface="Inter 24pt"/>
                <a:ea typeface="Inter 24pt"/>
                <a:cs typeface="Inter 24pt"/>
              </a:defRPr>
            </a:pPr>
            <a:r>
              <a:rPr sz="675" b="1">
                <a:solidFill>
                  <a:srgbClr val="00A8DB"/>
                </a:solidFill>
                <a:latin typeface="Inter 24pt"/>
                <a:ea typeface="Inter 24pt"/>
                <a:cs typeface="Inter 24pt"/>
              </a:rPr>
              <a:t>PROPOSED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A47CFA-9320-4298-A410-5A5F4001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9775"/>
            <a:ext cx="108966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71A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2DB2F8-4345-4746-B544-4EB87CF9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defRPr>
            </a:pPr>
            <a:r>
              <a: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rPr>
              <a:t>2027 outcome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E7701C-5B37-4E4E-8D64-3DF1D766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943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350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Verified local intelligence, multi-channel access and enterprise pilots ready for scale</a:t>
            </a:r>
          </a:p>
        </p:txBody>
      </p:sp>
    </p:spTree>
    <p:extLst>
      <p:ext uri="{BB962C8B-B14F-4D97-AF65-F5344CB8AC3E}">
        <p14:creationId xmlns:p14="http://schemas.microsoft.com/office/powerpoint/2010/main" val="1237925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2b321cc5944c0"/>
          <a:srcRect xmlns:a="http://schemas.openxmlformats.org/drawingml/2006/main" l="25964" t="0" r="259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0"/>
            <a:ext cx="58578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7AE8A-54ED-4C0A-9589-8A869E25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7F073-F9FD-4645-9B17-7283D160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3000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The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D9E75-2748-472B-BE2D-0213128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D1D9"/>
                </a:solidFill>
                <a:latin typeface="Inter 24pt"/>
                <a:ea typeface="Inter 24pt"/>
                <a:cs typeface="Inter 24pt"/>
              </a:defRPr>
            </a:pPr>
            <a:r>
              <a:rPr sz="1350" b="0">
                <a:solidFill>
                  <a:srgbClr val="B7D1D9"/>
                </a:solidFill>
                <a:latin typeface="Inter 24pt"/>
                <a:ea typeface="Inter 24pt"/>
                <a:cs typeface="Inter 24pt"/>
              </a:rPr>
              <a:t>Partners can help Guard move from a working MVP to controlled Ghana pilots.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C19E5-2BB8-4F55-B9C1-AC39F619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62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defRPr>
            </a:pPr>
            <a:r>
              <a:rPr sz="825" b="1">
                <a:solidFill>
                  <a:srgbClr val="7FE3FF"/>
                </a:solidFill>
                <a:latin typeface="Inter 24pt"/>
                <a:ea typeface="Inter 24pt"/>
                <a:cs typeface="Inter 24pt"/>
              </a:rPr>
              <a:t>GUARD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8ED62-B18D-445B-A071-9894EA21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C6FF"/>
                </a:solidFill>
                <a:latin typeface="Inter 24pt"/>
                <a:ea typeface="Inter 24pt"/>
                <a:cs typeface="Inter 24pt"/>
              </a:defRPr>
            </a:pPr>
            <a:r>
              <a:rPr sz="900" b="1">
                <a:solidFill>
                  <a:srgbClr val="07C6FF"/>
                </a:solidFill>
                <a:latin typeface="Inter 24pt"/>
                <a:ea typeface="Inter 24pt"/>
                <a:cs typeface="Inter 24p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FFC0A-128D-4DC8-A681-64605523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66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Cybersecurity partnerships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98724-953D-4E8D-A225-ABFD90FD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D1D9"/>
                </a:solidFill>
                <a:latin typeface="Inter 24pt"/>
                <a:ea typeface="Inter 24pt"/>
                <a:cs typeface="Inter 24pt"/>
              </a:defRPr>
            </a:pPr>
            <a:r>
              <a:rPr sz="975" b="0">
                <a:solidFill>
                  <a:srgbClr val="B7D1D9"/>
                </a:solidFill>
                <a:latin typeface="Inter 24pt"/>
                <a:ea typeface="Inter 24pt"/>
                <a:cs typeface="Inter 24pt"/>
              </a:rPr>
              <a:t>Fraud expertise, threat intelligence and independent evaluation from trusted security organisations.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72D84-A2CA-4FC9-AE87-9DB50BF9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4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AE206-3F1A-42FB-85C3-5D5EF16E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C6FF"/>
                </a:solidFill>
                <a:latin typeface="Inter 24pt"/>
                <a:ea typeface="Inter 24pt"/>
                <a:cs typeface="Inter 24pt"/>
              </a:defRPr>
            </a:pPr>
            <a:r>
              <a:rPr sz="900" b="1">
                <a:solidFill>
                  <a:srgbClr val="07C6FF"/>
                </a:solidFill>
                <a:latin typeface="Inter 24pt"/>
                <a:ea typeface="Inter 24pt"/>
                <a:cs typeface="Inter 24p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B9D05-4644-4EE5-979D-AF46574D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670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Privacy-safe Ghanaian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125BF-58A8-479F-8D39-036D29E8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D1D9"/>
                </a:solidFill>
                <a:latin typeface="Inter 24pt"/>
                <a:ea typeface="Inter 24pt"/>
                <a:cs typeface="Inter 24pt"/>
              </a:defRPr>
            </a:pPr>
            <a:r>
              <a:rPr sz="975" b="0">
                <a:solidFill>
                  <a:srgbClr val="B7D1D9"/>
                </a:solidFill>
                <a:latin typeface="Inter 24pt"/>
                <a:ea typeface="Inter 24pt"/>
                <a:cs typeface="Inter 24pt"/>
              </a:rPr>
              <a:t>De-identified messages, URLs, sender patterns and confirmed cases from telcos, banks, fintechs and agencies.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EAF40-AEB1-47F3-B0E4-3DA91174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4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99A7A-E619-46D0-80E5-E3B0B96B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C6FF"/>
                </a:solidFill>
                <a:latin typeface="Inter 24pt"/>
                <a:ea typeface="Inter 24pt"/>
                <a:cs typeface="Inter 24pt"/>
              </a:defRPr>
            </a:pPr>
            <a:r>
              <a:rPr sz="900" b="1">
                <a:solidFill>
                  <a:srgbClr val="07C6FF"/>
                </a:solidFill>
                <a:latin typeface="Inter 24pt"/>
                <a:ea typeface="Inter 24pt"/>
                <a:cs typeface="Inter 24p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7552E-1D75-40FE-A37C-2DC62E3B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Cloud and model credits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147F8-EFAD-4E22-A0CD-E8F0798E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D1D9"/>
                </a:solidFill>
                <a:latin typeface="Inter 24pt"/>
                <a:ea typeface="Inter 24pt"/>
                <a:cs typeface="Inter 24pt"/>
              </a:defRPr>
            </a:pPr>
            <a:r>
              <a:rPr sz="975" b="0">
                <a:solidFill>
                  <a:srgbClr val="B7D1D9"/>
                </a:solidFill>
                <a:latin typeface="Inter 24pt"/>
                <a:ea typeface="Inter 24pt"/>
                <a:cs typeface="Inter 24pt"/>
              </a:rPr>
              <a:t>Compute, secure storage, model inference, monitoring and evaluation support for the pilot period.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AFD05-1362-4DD2-A79F-1CAA8FEA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4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51137-00C8-4474-B592-77F2E324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C6FF"/>
                </a:solidFill>
                <a:latin typeface="Inter 24pt"/>
                <a:ea typeface="Inter 24pt"/>
                <a:cs typeface="Inter 24pt"/>
              </a:defRPr>
            </a:pPr>
            <a:r>
              <a:rPr sz="900" b="1">
                <a:solidFill>
                  <a:srgbClr val="07C6FF"/>
                </a:solidFill>
                <a:latin typeface="Inter 24pt"/>
                <a:ea typeface="Inter 24pt"/>
                <a:cs typeface="Inter 24pt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E0ED5-AA59-4468-A16F-FEEC84A3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672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1425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Pilot distribution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2B117-B800-4F48-9B87-3F063986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D1D9"/>
                </a:solidFill>
                <a:latin typeface="Inter 24pt"/>
                <a:ea typeface="Inter 24pt"/>
                <a:cs typeface="Inter 24pt"/>
              </a:defRPr>
            </a:pPr>
            <a:r>
              <a:rPr sz="975" b="0">
                <a:solidFill>
                  <a:srgbClr val="B7D1D9"/>
                </a:solidFill>
                <a:latin typeface="Inter 24pt"/>
                <a:ea typeface="Inter 24pt"/>
                <a:cs typeface="Inter 24pt"/>
              </a:rPr>
              <a:t>Access to SMEs, merchants, support teams and public-sector services where Guard can test real workflows.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A383E-2AA7-4D42-A754-8ECD6179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5314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8A9EBA-D647-46B9-819F-CDC7D706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5010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 24pt"/>
                <a:ea typeface="Inter 24pt"/>
                <a:cs typeface="Inter 24pt"/>
              </a:defRPr>
            </a:pPr>
            <a:r>
              <a:rPr sz="975" b="1">
                <a:solidFill>
                  <a:srgbClr val="FFFFFF"/>
                </a:solidFill>
                <a:latin typeface="Inter 24pt"/>
                <a:ea typeface="Inter 24pt"/>
                <a:cs typeface="Inter 24pt"/>
              </a:rPr>
              <a:t>Priority: launch trusted pilots with verified Ghana fraud intelligence</a:t>
            </a:r>
          </a:p>
        </p:txBody>
      </p:sp>
    </p:spTree>
    <p:extLst>
      <p:ext uri="{BB962C8B-B14F-4D97-AF65-F5344CB8AC3E}">
        <p14:creationId xmlns:p14="http://schemas.microsoft.com/office/powerpoint/2010/main" val="1189746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2026-10-17T00:08:49.7640000Z</dcterms:created>
  <dcterms:modified xsi:type="dcterms:W3CDTF">2026-10-17T00:08:49.7640000Z</dcterms:modified>
</coreProperties>
</file>