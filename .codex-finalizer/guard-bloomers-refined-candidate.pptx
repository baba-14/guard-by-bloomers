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acf0e61b2f44a3" /><Relationship Type="http://schemas.openxmlformats.org/officeDocument/2006/relationships/extended-properties" Target="/docProps/app.xml" Id="Rf623a170cc934772" /><Relationship Type="http://schemas.openxmlformats.org/officeDocument/2006/relationships/officeDocument" Target="/ppt/presentation.xml" Id="R6e0ebdd3abbc48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0c0a0968c34a39"/>
  </p:sldMasterIdLst>
  <p:notesMasterIdLst>
    <p:notesMasterId xmlns:r="http://schemas.openxmlformats.org/officeDocument/2006/relationships" r:id="Rdffa0adb3c7a4e74"/>
  </p:notesMasterIdLst>
  <p:sldIdLst>
    <p:sldId xmlns:r="http://schemas.openxmlformats.org/officeDocument/2006/relationships" id="256" r:id="Ra7126608dcd54f7e"/>
    <p:sldId xmlns:r="http://schemas.openxmlformats.org/officeDocument/2006/relationships" id="257" r:id="Re71d7542142d4ceb"/>
    <p:sldId xmlns:r="http://schemas.openxmlformats.org/officeDocument/2006/relationships" id="258" r:id="Ree6519a6927546e4"/>
    <p:sldId xmlns:r="http://schemas.openxmlformats.org/officeDocument/2006/relationships" id="259" r:id="Rd89db574871f4cd4"/>
    <p:sldId xmlns:r="http://schemas.openxmlformats.org/officeDocument/2006/relationships" id="260" r:id="Rc0c69124b44d4e90"/>
    <p:sldId xmlns:r="http://schemas.openxmlformats.org/officeDocument/2006/relationships" id="261" r:id="R04a3663fcce74f1d"/>
    <p:sldId xmlns:r="http://schemas.openxmlformats.org/officeDocument/2006/relationships" id="262" r:id="R430f0ac5b1a541cc"/>
    <p:sldId xmlns:r="http://schemas.openxmlformats.org/officeDocument/2006/relationships" id="263" r:id="R4c2df7ca187c44dc"/>
    <p:sldId xmlns:r="http://schemas.openxmlformats.org/officeDocument/2006/relationships" id="264" r:id="R6c5d455222814f80"/>
    <p:sldId xmlns:r="http://schemas.openxmlformats.org/officeDocument/2006/relationships" id="265" r:id="R595db6404889481b"/>
    <p:sldId xmlns:r="http://schemas.openxmlformats.org/officeDocument/2006/relationships" id="266" r:id="R55b12aae590e4343"/>
    <p:sldId xmlns:r="http://schemas.openxmlformats.org/officeDocument/2006/relationships" id="267" r:id="R797208f8ab04445f"/>
    <p:sldId xmlns:r="http://schemas.openxmlformats.org/officeDocument/2006/relationships" id="268" r:id="R073fbb159a1a4d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608f339f314779" /><Relationship Type="http://schemas.openxmlformats.org/officeDocument/2006/relationships/slideMaster" Target="/ppt/slideMasters/slideMaster1.xml" Id="Rb70c0a0968c34a39" /><Relationship Type="http://schemas.openxmlformats.org/officeDocument/2006/relationships/notesMaster" Target="/ppt/notesMasters/notesMaster1.xml" Id="Rdffa0adb3c7a4e74" /><Relationship Type="http://schemas.openxmlformats.org/officeDocument/2006/relationships/presProps" Target="/ppt/presProps.xml" Id="R5aeb626d9d0349d4" /><Relationship Type="http://schemas.openxmlformats.org/officeDocument/2006/relationships/tableStyles" Target="/ppt/tableStyles.xml" Id="R3d8121fa357c4a7d" /><Relationship Type="http://schemas.openxmlformats.org/officeDocument/2006/relationships/slide" Target="/ppt/slides/slide1.xml" Id="Ra7126608dcd54f7e" /><Relationship Type="http://schemas.openxmlformats.org/officeDocument/2006/relationships/slide" Target="/ppt/slides/slide2.xml" Id="Re71d7542142d4ceb" /><Relationship Type="http://schemas.openxmlformats.org/officeDocument/2006/relationships/slide" Target="/ppt/slides/slide3.xml" Id="Ree6519a6927546e4" /><Relationship Type="http://schemas.openxmlformats.org/officeDocument/2006/relationships/slide" Target="/ppt/slides/slide4.xml" Id="Rd89db574871f4cd4" /><Relationship Type="http://schemas.openxmlformats.org/officeDocument/2006/relationships/slide" Target="/ppt/slides/slide5.xml" Id="Rc0c69124b44d4e90" /><Relationship Type="http://schemas.openxmlformats.org/officeDocument/2006/relationships/slide" Target="/ppt/slides/slide6.xml" Id="R04a3663fcce74f1d" /><Relationship Type="http://schemas.openxmlformats.org/officeDocument/2006/relationships/slide" Target="/ppt/slides/slide7.xml" Id="R430f0ac5b1a541cc" /><Relationship Type="http://schemas.openxmlformats.org/officeDocument/2006/relationships/slide" Target="/ppt/slides/slide8.xml" Id="R4c2df7ca187c44dc" /><Relationship Type="http://schemas.openxmlformats.org/officeDocument/2006/relationships/slide" Target="/ppt/slides/slide9.xml" Id="R6c5d455222814f80" /><Relationship Type="http://schemas.openxmlformats.org/officeDocument/2006/relationships/slide" Target="/ppt/slides/slide10.xml" Id="R595db6404889481b" /><Relationship Type="http://schemas.openxmlformats.org/officeDocument/2006/relationships/slide" Target="/ppt/slides/slide11.xml" Id="R55b12aae590e4343" /><Relationship Type="http://schemas.openxmlformats.org/officeDocument/2006/relationships/slide" Target="/ppt/slides/slide12.xml" Id="R797208f8ab04445f" /><Relationship Type="http://schemas.openxmlformats.org/officeDocument/2006/relationships/slide" Target="/ppt/slides/slide13.xml" Id="R073fbb159a1a4d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0fc571f98e41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60fb08acac451c" /><Relationship Type="http://schemas.openxmlformats.org/officeDocument/2006/relationships/notesMaster" Target="/ppt/notesMasters/notesMaster1.xml" Id="R5379d46867a04d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c6314a63734e45" /><Relationship Type="http://schemas.openxmlformats.org/officeDocument/2006/relationships/notesMaster" Target="/ppt/notesMasters/notesMaster1.xml" Id="Rd552cf41a6c74f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ebfd0e82124729" /><Relationship Type="http://schemas.openxmlformats.org/officeDocument/2006/relationships/notesMaster" Target="/ppt/notesMasters/notesMaster1.xml" Id="Rab12621701b643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f504a6f409499e" /><Relationship Type="http://schemas.openxmlformats.org/officeDocument/2006/relationships/notesMaster" Target="/ppt/notesMasters/notesMaster1.xml" Id="Raf27cd918caf45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f8a4e323db440e" /><Relationship Type="http://schemas.openxmlformats.org/officeDocument/2006/relationships/notesMaster" Target="/ppt/notesMasters/notesMaster1.xml" Id="R5d1280af37c047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493b04cdc4469d" /><Relationship Type="http://schemas.openxmlformats.org/officeDocument/2006/relationships/notesMaster" Target="/ppt/notesMasters/notesMaster1.xml" Id="R6c0b3a92bc554d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24de0d2747478b" /><Relationship Type="http://schemas.openxmlformats.org/officeDocument/2006/relationships/notesMaster" Target="/ppt/notesMasters/notesMaster1.xml" Id="R64ca6cf6bfbb4c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9fbdfaf5fa4f90" /><Relationship Type="http://schemas.openxmlformats.org/officeDocument/2006/relationships/notesMaster" Target="/ppt/notesMasters/notesMaster1.xml" Id="Rc91feb21a4664d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736cb90900483d" /><Relationship Type="http://schemas.openxmlformats.org/officeDocument/2006/relationships/notesMaster" Target="/ppt/notesMasters/notesMaster1.xml" Id="R56fb3b38cdda4e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920c6070ce4eff" /><Relationship Type="http://schemas.openxmlformats.org/officeDocument/2006/relationships/notesMaster" Target="/ppt/notesMasters/notesMaster1.xml" Id="R6eaf895b5d424e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6901977601457a" /><Relationship Type="http://schemas.openxmlformats.org/officeDocument/2006/relationships/notesMaster" Target="/ppt/notesMasters/notesMaster1.xml" Id="Re355c77940fb49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ce720de9cb464d" /><Relationship Type="http://schemas.openxmlformats.org/officeDocument/2006/relationships/notesMaster" Target="/ppt/notesMasters/notesMaster1.xml" Id="Rac9fee633c4f45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0dec4310e74966" /><Relationship Type="http://schemas.openxmlformats.org/officeDocument/2006/relationships/notesMaster" Target="/ppt/notesMasters/notesMaster1.xml" Id="R20b7bfbc464c43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 product vision supplied by the founder. Cover image is an existing Guard brand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Bank of Ghana Fraud Report 2025: https://www.bog.gov.gh/wp-content/uploads/2026/07/FRAUD-REPORT-2025.pdf. CSA 2026 awareness-month release: https://csa.gov.gh/2026-national-cyber-security-awareness-month-launched-to-build-digital-trust.php. NCA June 2026 statistics: https://nca.org.gh/. Subscriptions are not unique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composite scenario based on common impersonation, phishing and payment-request patterns. It is not presented as a specific customer incident.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product vision. Platform access is permission-based and varies by operating system. Android supports user-selected call screening and permissioned notification access; iOS uses Call Directory / Live Caller ID and Message Filter extensions; Gmail requires account authorization. Sources: https://developer.android.com/reference/android/telecom/CallScreeningService, https://developer.android.com/reference/android/service/notification/NotificationListenerService, https://developer.apple.com/documentation/IdentityLookup, https://developers.google.com/workspace/gmail/api/guides/push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experience. Exact UI placement depends on operating-system and app integration points and on user-granted permissions.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the intended product approach. The current project separates private user checks from explicitly consented fraud-intelligence contributions. Security and privacy controls require formal validation before production launch.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Guard workspace, including README.md, components/Checker.tsx, backend/app/intelligence.py and backend/app/intelligence_routes.py; plus the October 2026 internal project update used in the supplied deck. Database-table count is an internal report and should be verified during due diligence. No accuracy, user or revenue traction is inferred.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Ghana launch-market evidence: 30,515,711 mobile-data subscriptions and 89.53% penetration in June 2026, NCA: https://nca.org.gh/. These are subscriptions, not unique users. No TAM/SAM/SOM value is asserted until conversion and pricing assumptions are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Category-level positioning hypothesis. It is not an audited comparison with every competitor. Named competitor research and customer interviews should be added before investor circulation.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business model only. The supplied materials do not document revenue, signed customers or validated pricing. Fixed prices and forecasts should be added only after pilot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roadmap subject to technical validation, platform policy and available resources. Exact channel coverage cannot be assumed until tested on target operating-system versions and approved integrations.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names are taken from the supplied investor deck. Roles, biographies, contact details, fundraising target and use-of-funds budget were not provided and remain explicit completion 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Bank of Ghana Fraud Report 2025 https://www.bog.gov.gh/wp-content/uploads/2026/07/FRAUD-REPORT-2025.pdf; Cyber Security Authority 2026 incident snapshot https://csa.gov.gh/2026-national-cyber-security-awareness-month-launched-to-build-digital-trust.php; National Communications Authority June 2026 telecom statistics https://nca.org.gh/; Android CallScreeningService https://developer.android.com/reference/android/telecom/CallScreeningService; Android NotificationListenerService https://developer.android.com/reference/android/service/notification/NotificationListenerService; Apple IdentityLookup https://developer.apple.com/documentation/IdentityLookup; Gmail push notifications https://developers.google.com/workspace/gmail/api/guides/push. Internal evidence: current Guard workspace and the October 2026 project update represented in the supplied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83950828740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b76cc9c30c4114" /><Relationship Type="http://schemas.openxmlformats.org/officeDocument/2006/relationships/slideLayout" Target="/ppt/slideLayouts/slideLayout1.xml" Id="R64882fc60d1a4d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882fc60d1a4d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5d83479be434a" /><Relationship Type="http://schemas.openxmlformats.org/officeDocument/2006/relationships/image" Target="/ppt/media/image.png" Id="R520c4f423c7c4d50" /><Relationship Type="http://schemas.openxmlformats.org/officeDocument/2006/relationships/image" Target="/ppt/media/image2.png" Id="Rb4e2f830234d43ed" /><Relationship Type="http://schemas.openxmlformats.org/officeDocument/2006/relationships/notesSlide" Target="/ppt/notesSlides/notesSlide1.xml" Id="R26a934bb6aad4d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6359310a64130" /><Relationship Type="http://schemas.openxmlformats.org/officeDocument/2006/relationships/image" Target="/ppt/media/image3.png" Id="R43b99c1a7ee1460f" /><Relationship Type="http://schemas.openxmlformats.org/officeDocument/2006/relationships/notesSlide" Target="/ppt/notesSlides/notesSlide2.xml" Id="R7e4a5ba1ead84f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8e73a789e40a9" /><Relationship Type="http://schemas.openxmlformats.org/officeDocument/2006/relationships/image" Target="/ppt/media/image4.png" Id="R88960b66c2b44232" /><Relationship Type="http://schemas.openxmlformats.org/officeDocument/2006/relationships/notesSlide" Target="/ppt/notesSlides/notesSlide3.xml" Id="Rfb604328731941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56846cc354ea7" /><Relationship Type="http://schemas.openxmlformats.org/officeDocument/2006/relationships/image" Target="/ppt/media/image5.png" Id="R95fe92a974a14003" /><Relationship Type="http://schemas.openxmlformats.org/officeDocument/2006/relationships/image" Target="/ppt/media/image6.png" Id="R3be665d0388c411b" /><Relationship Type="http://schemas.openxmlformats.org/officeDocument/2006/relationships/notesSlide" Target="/ppt/notesSlides/notesSlide4.xml" Id="Ra78f820b35b94d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8618f14dd4ad4" /><Relationship Type="http://schemas.openxmlformats.org/officeDocument/2006/relationships/image" Target="/ppt/media/image7.png" Id="R841a9c1a4d06456d" /><Relationship Type="http://schemas.openxmlformats.org/officeDocument/2006/relationships/notesSlide" Target="/ppt/notesSlides/notesSlide5.xml" Id="R6526cad61b7344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aaa764d114e01" /><Relationship Type="http://schemas.openxmlformats.org/officeDocument/2006/relationships/image" Target="/ppt/media/image8.png" Id="R577b30a181594598" /><Relationship Type="http://schemas.openxmlformats.org/officeDocument/2006/relationships/notesSlide" Target="/ppt/notesSlides/notesSlide6.xml" Id="R33ecdd196ba540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f5de79f064955" /><Relationship Type="http://schemas.openxmlformats.org/officeDocument/2006/relationships/image" Target="/ppt/media/image9.png" Id="R0715c32cab9a499e" /><Relationship Type="http://schemas.openxmlformats.org/officeDocument/2006/relationships/image" Target="/ppt/media/image10.png" Id="R5983a8f7bb9d45f2" /><Relationship Type="http://schemas.openxmlformats.org/officeDocument/2006/relationships/notesSlide" Target="/ppt/notesSlides/notesSlide7.xml" Id="Ra403ee04ff5547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1a35f5f0044f4" /><Relationship Type="http://schemas.openxmlformats.org/officeDocument/2006/relationships/image" Target="/ppt/media/image11.png" Id="R716e68f557974778" /><Relationship Type="http://schemas.openxmlformats.org/officeDocument/2006/relationships/notesSlide" Target="/ppt/notesSlides/notesSlide8.xml" Id="R1726ce08fa9246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2eff9c50745a9" /><Relationship Type="http://schemas.openxmlformats.org/officeDocument/2006/relationships/image" Target="/ppt/media/image12.png" Id="R6f04b80d86184c5b" /><Relationship Type="http://schemas.openxmlformats.org/officeDocument/2006/relationships/notesSlide" Target="/ppt/notesSlides/notesSlide9.xml" Id="R63bf21db8e204f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7b1ff753d4daf" /><Relationship Type="http://schemas.openxmlformats.org/officeDocument/2006/relationships/image" Target="/ppt/media/image13.png" Id="R07c479ccb5f540f3" /><Relationship Type="http://schemas.openxmlformats.org/officeDocument/2006/relationships/notesSlide" Target="/ppt/notesSlides/notesSlide10.xml" Id="R82393891f6f04a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2ad313dac46c8" /><Relationship Type="http://schemas.openxmlformats.org/officeDocument/2006/relationships/image" Target="/ppt/media/image14.png" Id="R0ba10996584e4385" /><Relationship Type="http://schemas.openxmlformats.org/officeDocument/2006/relationships/notesSlide" Target="/ppt/notesSlides/notesSlide11.xml" Id="R174e6a2afc4f49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6df85ff4d46af" /><Relationship Type="http://schemas.openxmlformats.org/officeDocument/2006/relationships/image" Target="/ppt/media/image15.png" Id="R2eea55904bf34cb0" /><Relationship Type="http://schemas.openxmlformats.org/officeDocument/2006/relationships/notesSlide" Target="/ppt/notesSlides/notesSlide12.xml" Id="Rf33dddfdaa3b40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8398ab2944d45" /><Relationship Type="http://schemas.openxmlformats.org/officeDocument/2006/relationships/image" Target="/ppt/media/image16.png" Id="R1b84e1f8adaf40f5" /><Relationship Type="http://schemas.openxmlformats.org/officeDocument/2006/relationships/notesSlide" Target="/ppt/notesSlides/notesSlide13.xml" Id="R62223b324edf41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0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c4f423c7c4d50"/>
          <a:srcRect xmlns:a="http://schemas.openxmlformats.org/drawingml/2006/main" l="26941" t="0" r="26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C1B36-608C-456C-9B7D-12284ECD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1571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821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2f830234d43ed"/>
          <a:stretch xmlns:a="http://schemas.openxmlformats.org/drawingml/2006/main"/>
        </p:blipFill>
        <p:spPr>
          <a:xfrm xmlns:a="http://schemas.openxmlformats.org/drawingml/2006/main">
            <a:off x="514823" y="323850"/>
            <a:ext cx="361005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1A11C-643F-438C-B511-F2124135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99B0E-2245-48A9-9925-65737455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31D14-A7F7-4060-AADD-8A7932AD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INVESTOR PITCH •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0FFA3-876E-41D4-BADB-A4E43578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Fraud moves fast.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Guard gets there first.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C126D-09AB-4FC4-9ABC-2046CE7E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519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CBE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CBE4"/>
                </a:solidFill>
                <a:latin typeface="Arial"/>
                <a:ea typeface="Arial"/>
                <a:cs typeface="Arial"/>
              </a:rPr>
              <a:t>Permission-based protection across calls, SMS, email, links and supported app notifications—before a user clicks, pays or shares a code.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5F68E-512B-478D-9F86-C05C8A4B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7A1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BF549-C543-4C24-85D2-18149A05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519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Ghana-first • Explainable • Built for everyday digital life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99F0E-160A-41BE-AFA3-186B99BE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A4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A4C8"/>
                </a:solidFill>
                <a:latin typeface="Arial"/>
                <a:ea typeface="Arial"/>
                <a:cs typeface="Arial"/>
              </a:rPr>
              <a:t>Think before you trust.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21102-ED52-4BDF-93FA-38AD8F8A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2E5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FE92C6-3599-4118-8495-5191E2D1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A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A4C8"/>
                </a:solidFill>
                <a:latin typeface="Arial"/>
                <a:ea typeface="Arial"/>
                <a:cs typeface="Arial"/>
              </a:rPr>
              <a:t>GUARD / BLOOMERS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12296-3C6F-4B5C-B8EE-2FCE7AC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7203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99c1a7ee1460f"/>
          <a:stretch xmlns:a="http://schemas.openxmlformats.org/drawingml/2006/main"/>
        </p:blipFill>
        <p:spPr>
          <a:xfrm xmlns:a="http://schemas.openxmlformats.org/drawingml/2006/main">
            <a:off x="514823" y="323850"/>
            <a:ext cx="361005" cy="361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26DA3-3A10-4094-B84C-309DEDA6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08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0821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A74CA-5150-4C36-A5AD-12AF916B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778D5-04A7-4CC9-8C21-9890E731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F68D9-5B5C-4A69-A4F0-FCCA5BDF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THE 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85218-94AE-4EAA-A867-43B2D0E2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Digital fraud is becoming part of everyday life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DFC51-1DEB-4772-90D0-AA72F589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The attack surface is growing at the same time as Ghana's connected economy.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19688-09B6-4693-94E5-AE59E433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25336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2E9FF"/>
          </a:solidFill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93C4E-074F-4FE4-962E-18242687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2533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E93DB-BCFD-49C8-8021-7EF9BAE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24,778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32962-5B17-488C-BED1-A30F7905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reported financial-sector fraud cases in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96A16-72F1-432D-AA24-47160651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25336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486F7-AF34-4371-B401-5BD6ABBF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2533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793E8-7C95-4711-94E4-116564A8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5277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7A1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7A18"/>
                </a:solidFill>
                <a:latin typeface="Arial"/>
                <a:ea typeface="Arial"/>
                <a:cs typeface="Arial"/>
              </a:rPr>
              <a:t>+48%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7FFB3-614F-496F-BF39-22FCF33F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1477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year-on-year increase in reported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CE18C-A8E8-4B5C-BA75-B65459AD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81300"/>
            <a:ext cx="25336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2034D-588A-44EB-B3D4-F0CBDAFA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81300"/>
            <a:ext cx="2533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4D5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C9C4B-ED98-4383-9C6D-3B660D2C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5277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E34D5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34D59"/>
                </a:solidFill>
                <a:latin typeface="Arial"/>
                <a:ea typeface="Arial"/>
                <a:cs typeface="Arial"/>
              </a:rPr>
              <a:t>47%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DB1EB-13DC-4CD2-97F5-D9AE8606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1477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of CSA incidents were online fraud, Jan–Jul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DE541-EB2E-4FA8-95A9-9D233163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25336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E83183-5CE7-4379-975A-0E12F203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2533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E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E92B8E-D7AC-4D6E-B2F5-004D11CC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5277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4A78E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4A78E8"/>
                </a:solidFill>
                <a:latin typeface="Arial"/>
                <a:ea typeface="Arial"/>
                <a:cs typeface="Arial"/>
              </a:rPr>
              <a:t>30.5m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84270-0B1C-461E-B696-E64A1018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1477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mobile data subscriptions in June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ADBAE-FDE4-40C4-A922-988315A7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10934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308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928A45-DE04-4A4C-8837-6C7D220C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loss starts before money moves—when a convincing message creates urgency, trust and a bad decision.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893822-CA82-4515-9312-1AACB314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BBB96D-A7D1-435F-B425-44B82103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A8DA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8DA3"/>
                </a:solidFill>
                <a:latin typeface="Arial"/>
                <a:ea typeface="Arial"/>
                <a:cs typeface="Arial"/>
              </a:rPr>
              <a:t>GUARD / BLOOMERS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95B58-1E0E-4FBF-B6D9-EFBAD269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50091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0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60b66c2b44232"/>
          <a:stretch xmlns:a="http://schemas.openxmlformats.org/drawingml/2006/main"/>
        </p:blipFill>
        <p:spPr>
          <a:xfrm xmlns:a="http://schemas.openxmlformats.org/drawingml/2006/main">
            <a:off x="514823" y="323850"/>
            <a:ext cx="361005" cy="361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C3AAB-D75B-41D2-97DF-F0AD6071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EEAB4-9EF8-47E0-81C0-F4E219F4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BD52B-304D-44F3-9339-4B52D9A0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A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749DE-A243-492A-BD7C-5F442C31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10A34-F4EA-4EE5-8252-DBCB4D2B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scam can move across five familiar surfaces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FB969-8674-4E54-B2CC-984368C7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A3D7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4B3B6-5C3B-4C26-A491-86898B10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432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AB212-6784-4CC3-A17B-783B27B3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05150"/>
            <a:ext cx="514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6837C-9DB7-4E7C-87BB-062BC6AC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SMS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BE0E4-A029-4619-AB27-797FDB20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fake alert creates urgency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481A9-1F52-4686-8A45-1AFB6119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9432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B6AFE-A7D3-4290-B381-C92DD22F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05150"/>
            <a:ext cx="514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193B0-8ED3-4887-82BB-291DAF93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052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F4B07-36C3-45DD-A43E-44A969C0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9575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 impersonator reinforces the 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94231-D371-4815-AB5B-AF275D3B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432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6F415-DC0B-49AE-AD06-3EB6DC23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05150"/>
            <a:ext cx="514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B0A22-BEB1-4948-BE0C-EF2129BF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052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5742A-0B27-4A42-8C2E-853F73C4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9575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lookalike page captures credentials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E5CF6-2F3A-459A-B53F-1290B7A7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432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D2F1C8-B5D0-4D3D-9FEE-9EEB0F6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05150"/>
            <a:ext cx="514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CB6C7-F7A9-496A-BE55-4AF7DC97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052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CHAT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BAC6E2-5F9A-4766-9676-25DF77BA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9575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payment request feels personal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9B4B98-3BCD-450E-90F4-E8476877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9432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03C1F4-978D-40A3-8B3B-91EF470B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105150"/>
            <a:ext cx="514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402E94-5396-4E97-8333-8DEE6AE6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052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EMAIL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CEB92B-6E59-42C9-9EC1-71576713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9575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follow-up makes the fraud look official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1B513C-A3A3-4BE5-A818-89E6544B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76850"/>
            <a:ext cx="868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A153D"/>
          </a:solidFill>
          <a:ln xmlns:a="http://schemas.openxmlformats.org/drawingml/2006/main" w="9525">
            <a:solidFill>
              <a:srgbClr val="5D3B7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F349A1-471A-4535-8671-6803BEC3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578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8DD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DDF0"/>
                </a:solidFill>
                <a:latin typeface="Arial"/>
                <a:ea typeface="Arial"/>
                <a:cs typeface="Arial"/>
              </a:rPr>
              <a:t>Today's defenses are channel-specific. The user experiences one coordinated attack.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3245CC-8397-40E9-9995-DE5168F7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2E5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7E6F55-121F-4D05-A69E-F24E36F6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A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A4C8"/>
                </a:solidFill>
                <a:latin typeface="Arial"/>
                <a:ea typeface="Arial"/>
                <a:cs typeface="Arial"/>
              </a:rPr>
              <a:t>GUARD / BLOOMERS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42020B-A0B8-4CC1-BC1C-3066CE1F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0857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e92a974a14003"/>
          <a:stretch xmlns:a="http://schemas.openxmlformats.org/drawingml/2006/main"/>
        </p:blipFill>
        <p:spPr>
          <a:xfrm xmlns:a="http://schemas.openxmlformats.org/drawingml/2006/main">
            <a:off x="514823" y="323850"/>
            <a:ext cx="361005" cy="361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B9955-41DD-4839-A5BD-F11D25E2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08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0821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7BD7E-3EEA-43B8-A16C-96CDFED8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97D3E-C750-4E7E-8209-434FA066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94FE4-B33E-41DF-A49B-44C48D5E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THE 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154FC-7874-423A-A228-B0A3C817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A digital safety layer that appears before the mistake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B8E13-FFA7-4E82-A190-273013E3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Guard listens only where the user grants access, combines risk signals, and explains what to do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92CE4-E227-46C1-80CB-0F18ADA8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914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E9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B0B6E-380E-47CF-AFBB-9FEAD8C7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CALLS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25F94-2F28-424D-8495-1A712AFE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7336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Screen or identify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1EED3-78B1-4F57-8526-E38539F7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28925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DD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2C54B-6AE7-4ED2-B19E-8BAC7B8F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48025"/>
            <a:ext cx="914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96C5E-B2A0-4BA0-8ED1-F225056C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SMS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5A284-168D-460D-9E5D-8E1FAA1C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295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Flag in the inbox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7D2B7-1B10-4562-83AD-964EF22D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909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DD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6BA9F-25C8-433B-9413-8EE28F92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914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E9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21A8D-B918-4A06-9021-7CBF7462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EMAIL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6B120-FABC-48A0-BF4A-D3FC2ED1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857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Warn before reply or click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14A42-C00B-41D6-A762-137833CD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52875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DD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553064-6155-4E1A-B185-4D4CBF79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1975"/>
            <a:ext cx="914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E9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05D10-A202-4FAD-BD8C-C6466A41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4817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LINKS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81A8BE-5984-4564-9AF2-902A7AD1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Assess destination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BCACF-25EE-40FA-873A-F1D3E670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148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DD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924E1E-D990-4498-AFB0-95CEDE20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914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E9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EE532-47D5-4DFF-B7BF-A8B259F1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APPS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852795-0388-40FB-B8EE-7B7540F0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9815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Use supported notifications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156BF6-ACF4-49F8-AF51-652E0ABF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76825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DD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D457D9-AC1D-4DD8-B773-2C048F7C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05075"/>
            <a:ext cx="2876550" cy="30670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130821"/>
          </a:solidFill>
          <a:ln xmlns:a="http://schemas.openxmlformats.org/drawingml/2006/main" w="0">
            <a:noFill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665d0388c411b"/>
          <a:stretch xmlns:a="http://schemas.openxmlformats.org/drawingml/2006/main"/>
        </p:blipFill>
        <p:spPr>
          <a:xfrm xmlns:a="http://schemas.openxmlformats.org/drawingml/2006/main">
            <a:off x="6287694" y="2809875"/>
            <a:ext cx="912013" cy="9144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A422EB-8C4C-4392-BCDC-F176119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33825"/>
            <a:ext cx="2114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1DF3BA-2DBE-47D6-939F-A193AA5C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410075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Identity + content + link + reputation signals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71526F-08FF-40A4-AC10-B36037FD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DD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51A418-5BE0-4E18-98EE-A75E5B7A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57500"/>
            <a:ext cx="2628900" cy="2352675"/>
          </a:xfrm>
          <a:prstGeom xmlns:a="http://schemas.openxmlformats.org/drawingml/2006/main" prst="roundRect">
            <a:avLst>
              <a:gd name="adj" fmla="val 3239"/>
            </a:avLst>
          </a:prstGeom>
          <a:solidFill xmlns:a="http://schemas.openxmlformats.org/drawingml/2006/main">
            <a:srgbClr val="FFC34D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4AAF31-4A88-4BC3-B814-BCBCF7A7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623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34D5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4D59"/>
                </a:solidFill>
                <a:latin typeface="Arial"/>
                <a:ea typeface="Arial"/>
                <a:cs typeface="Arial"/>
              </a:rPr>
              <a:t>HIGH RISK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567524-2244-447A-9EEB-F3EE8E6F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480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Don't share the code.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1BB93-258F-45B2-A6F4-801B6254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958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61B31"/>
                </a:solidFill>
                <a:latin typeface="Arial"/>
                <a:ea typeface="Arial"/>
                <a:cs typeface="Arial"/>
              </a:rPr>
              <a:t>This request uses impersonation and false urgency. Verify through the official channel.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88C9EC-F2D5-479F-919F-8DE378B6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743CE4-E5FF-40B9-8FBE-B8C52984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A8DA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8DA3"/>
                </a:solidFill>
                <a:latin typeface="Arial"/>
                <a:ea typeface="Arial"/>
                <a:cs typeface="Arial"/>
              </a:rPr>
              <a:t>GUARD / BLOOMERS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A873F4-FABC-4876-B36A-C58044CF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6440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E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a9c1a4d06456d"/>
          <a:stretch xmlns:a="http://schemas.openxmlformats.org/drawingml/2006/main"/>
        </p:blipFill>
        <p:spPr>
          <a:xfrm xmlns:a="http://schemas.openxmlformats.org/drawingml/2006/main">
            <a:off x="514823" y="323850"/>
            <a:ext cx="361005" cy="361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11DF2-74FB-4B22-8BF5-F0151581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08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0821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F3CDF-C5A1-46A5-9DC1-C5FF5FD8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9512E-8193-41B0-93E0-85843ED5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0EB30-2269-4503-A5CB-32DD7B13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THE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60884-A4C7-4974-8CB1-9190C8E1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The warning lives where the user needs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35508-97C5-4B6B-B23C-009102DF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190875" cy="36480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13082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D5683-57C0-4CF3-890D-D31E86E9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76500"/>
            <a:ext cx="2828925" cy="3228975"/>
          </a:xfrm>
          <a:prstGeom xmlns:a="http://schemas.openxmlformats.org/drawingml/2006/main" prst="roundRect">
            <a:avLst>
              <a:gd name="adj" fmla="val 26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28BE9-9967-4F5F-B6EF-6BB0BA35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05100"/>
            <a:ext cx="571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E9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0D3CF-BC8C-4B48-AA1D-8ECBAE78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813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SMS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F6433-AFEA-4461-9670-F7065581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908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MoMo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72F4F-85B4-4A3D-912D-20E7639E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590925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Your account is blocked. Send the OTP now to restore access.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2AD85-DE08-423C-931E-6CFE9AD0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2543175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9525">
            <a:solidFill>
              <a:srgbClr val="FFD0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818DC-5EB7-41D9-9DBA-4EE69061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33925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34D5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34D59"/>
                </a:solidFill>
                <a:latin typeface="Arial"/>
                <a:ea typeface="Arial"/>
                <a:cs typeface="Arial"/>
              </a:rPr>
              <a:t>GUARD WARNING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CAD14-3026-4826-BAB7-EC6B46AA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911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Likely impersonation. Do not share the OTP.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50A2D-A37A-409E-B8F9-96B29084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38400"/>
            <a:ext cx="30670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502B7-E46C-4BE4-A0DB-CE62B6AF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384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Contextual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7D07A-E6F8-4A79-BCF0-A65F7DAB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A flag appears inside or beside the supported interaction.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80021-1A2B-4DE8-80E5-0C9D5D74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30670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37DA1-23B9-4489-A9A3-058D746C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384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Explainable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08AAED-A162-4AC9-93D8-165995DD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The user sees the signals—not an unexplained red badge.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8B52F-8F95-4BB6-A437-05F6E3B6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76700"/>
            <a:ext cx="30670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03D70-5A83-481A-B181-C12A75BD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767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A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A18"/>
                </a:solidFill>
                <a:latin typeface="Arial"/>
                <a:ea typeface="Arial"/>
                <a:cs typeface="Arial"/>
              </a:rPr>
              <a:t>Actionable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49C87A-CE74-46A4-A8BF-EB7F3567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863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Guard recommends the safest next step: pause, block or verify.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41D37E-D646-4E0A-B0A8-E47BAC1E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76700"/>
            <a:ext cx="30670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95214E-DC64-4F32-A8EE-C292BC9F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Permissioned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962E4C-5DA0-4BF8-8BB5-3D024F66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Each data source is explicit, revocable and platform-limited.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10C0C5-9FD7-4B8E-ABF1-7E38A026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667375"/>
            <a:ext cx="643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Illustrative mobile experience—not a claim that every platform exposes the same controls.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D5429C-39EE-4456-AF1D-65F09D2F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8B7EE3-5A4C-4B69-A719-363E4164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A8DA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8DA3"/>
                </a:solidFill>
                <a:latin typeface="Arial"/>
                <a:ea typeface="Arial"/>
                <a:cs typeface="Arial"/>
              </a:rPr>
              <a:t>GUARD / BLOOMERS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B9DEDA-F12B-4C6C-BD06-502DF0C7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55854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b30a181594598"/>
          <a:stretch xmlns:a="http://schemas.openxmlformats.org/drawingml/2006/main"/>
        </p:blipFill>
        <p:spPr>
          <a:xfrm xmlns:a="http://schemas.openxmlformats.org/drawingml/2006/main">
            <a:off x="514823" y="323850"/>
            <a:ext cx="361005" cy="361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817FE-1932-49C6-B5AF-C543BE25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08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0821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52F9A-AD58-453B-A15F-AE7F69FB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A0946-FC5A-40D2-8A41-00BF1F5B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92E4A-E1E8-4712-9A65-E1A9B6C9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C8037-48CD-4AB2-8C64-08612723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Fast detection without becoming another privacy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701D4-743E-424C-9A55-DD9F1A5E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47925"/>
            <a:ext cx="2524125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30821"/>
          </a:solidFill>
          <a:ln xmlns:a="http://schemas.openxmlformats.org/drawingml/2006/main" w="9525">
            <a:solidFill>
              <a:srgbClr val="13082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59700-D748-4746-BC96-24858673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EBD77-A643-4817-884A-4B7216A6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7B463-D645-4D78-B807-3A467CA4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USER PERMISSION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1BB53-587E-461E-A7A4-413AB007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the channels Guard may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F8999-4AE1-45A5-87E4-FF654642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2524125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305BC-413C-4A5A-BD53-9B6D5AC4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574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9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33A19-3B4F-40AB-9A12-3CA9B736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3C50A-C65B-483A-A34B-C2D0B183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289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SIGNAL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8A3FA-2EEE-4FF1-8BAF-4A2B213A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48075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Inspect content, sender, link and behavior signals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C86FF-D1A9-49FA-938C-C9DF0B05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47925"/>
            <a:ext cx="2524125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D5EB0-F959-42ED-B6EF-ED740DAA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574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D7894-8E6D-489A-99C8-AB586C9D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10933-22E5-4B76-AFF4-6F335604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289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RISK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59D91-9D8F-43AB-B53F-661F2479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48075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Score concern and identify the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06E19-A174-4FB3-AC9E-BD2AA51C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47925"/>
            <a:ext cx="2524125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18822A-F52C-4733-AEBE-027A2903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574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9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57C1A-C9B5-43F2-86BD-B6AA0ACD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FAC25F-A29E-4CDF-AA00-2B895F55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289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SAFE 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25BF91-2E47-4B53-96D8-A2FFF1D0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48075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Warn, explain and route to official verification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350099-4E49-4BF8-B709-482EEE3B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7A1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7A18"/>
                </a:solidFill>
                <a:latin typeface="Arial"/>
                <a:ea typeface="Arial"/>
                <a:cs typeface="Arial"/>
              </a:rPr>
              <a:t>MINIMISE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04E30A-C88D-4556-8D9E-775888B4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Collect only what the feature needs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6C131F-AD1D-4ECF-AAD9-FBB51F20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911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7A1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7A18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638CD4-AB1E-44BC-8D1E-2D0CB50E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578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Show why a warning appeared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CE266D-98A1-44D5-8158-6E5AF100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7A1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7A18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D960FE-52E3-4E25-97D1-AA879EA3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578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Let users revoke access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8F9063-6BB2-42E3-A280-E0BC75FC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911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7A1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7A18"/>
                </a:solidFill>
                <a:latin typeface="Arial"/>
                <a:ea typeface="Arial"/>
                <a:cs typeface="Arial"/>
              </a:rPr>
              <a:t>SEPARATE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83AE18-2916-4A09-9574-A8B9E142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578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Keep private checks distinct from consented intelligence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3E1478-2F9A-4CFA-8A3F-7BFD207C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FB52F6-15DA-40AA-8A5D-AC220776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A8DA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8DA3"/>
                </a:solidFill>
                <a:latin typeface="Arial"/>
                <a:ea typeface="Arial"/>
                <a:cs typeface="Arial"/>
              </a:rPr>
              <a:t>GUARD / BLOOMERS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D1451D-53EA-46FF-B644-2E4C55AB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83965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0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5c32cab9a499e"/>
          <a:stretch xmlns:a="http://schemas.openxmlformats.org/drawingml/2006/main"/>
        </p:blipFill>
        <p:spPr>
          <a:xfrm xmlns:a="http://schemas.openxmlformats.org/drawingml/2006/main">
            <a:off x="514823" y="323850"/>
            <a:ext cx="361005" cy="361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D3AAA-EB99-47E5-B0EA-D10E6FFB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CCCC8-C812-436F-9F51-B47C5D7C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367B3-A9C2-4F03-ABC5-5ED9D00D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A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0BA03-93B0-4D5D-B5D0-A26CD131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PROOF OF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4150C-AFB4-45A8-82EF-E80CDD57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analysis engine already works on the web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3a8f7bb9d45f2"/>
          <a:srcRect xmlns:a="http://schemas.openxmlformats.org/drawingml/2006/main" l="9922" t="0" r="9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314575"/>
            <a:ext cx="4476750" cy="314325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8AF2F-E183-40C4-93F0-E59112FB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62200"/>
            <a:ext cx="1714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8143B"/>
          </a:solidFill>
          <a:ln xmlns:a="http://schemas.openxmlformats.org/drawingml/2006/main" w="9525">
            <a:solidFill>
              <a:srgbClr val="4C32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BE99B-95CD-4ED6-9261-E1A0F637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43175"/>
            <a:ext cx="137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45BC9-E284-4B4F-8334-E27E033F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5752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AAC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EAACB"/>
                </a:solidFill>
                <a:latin typeface="Arial"/>
                <a:ea typeface="Arial"/>
                <a:cs typeface="Arial"/>
              </a:rPr>
              <a:t>input types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0A239-8610-4D75-9883-3C37AA4C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362200"/>
            <a:ext cx="1714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8143B"/>
          </a:solidFill>
          <a:ln xmlns:a="http://schemas.openxmlformats.org/drawingml/2006/main" w="9525">
            <a:solidFill>
              <a:srgbClr val="4C326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63926-35D9-4379-B3DE-0876BBF3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43175"/>
            <a:ext cx="137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4ED39-2925-4429-A7C7-3AA6A223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05752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AAC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EAACB"/>
                </a:solidFill>
                <a:latin typeface="Arial"/>
                <a:ea typeface="Arial"/>
                <a:cs typeface="Arial"/>
              </a:rPr>
              <a:t>reported database tables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5C8C3-F495-497F-B9C4-54EA7D51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1714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8143B"/>
          </a:solidFill>
          <a:ln xmlns:a="http://schemas.openxmlformats.org/drawingml/2006/main" w="9525">
            <a:solidFill>
              <a:srgbClr val="4C326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E5BAC-76D5-410F-8D5A-B2BE1F39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43175"/>
            <a:ext cx="137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81EF8-B150-4744-99F9-319666CB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5752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AAC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EAACB"/>
                </a:solidFill>
                <a:latin typeface="Arial"/>
                <a:ea typeface="Arial"/>
                <a:cs typeface="Arial"/>
              </a:rPr>
              <a:t>user + admin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407B9-3EC6-4DBE-A219-7E87B79A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326EC-0E9D-49AE-B6DC-06386465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57625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Messages, screenshots, URLs, phone and WhatsApp numbers, payment requests and calls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2B18C-B183-4C1B-8FA4-1C88A12C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48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B0C52-B786-4CE8-B1D7-1B9FD4DD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0055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Explainable risk assessment, warning indicators and recommended 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B2FF5-85DE-474D-8614-F10FCAA3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91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9CEF55-DED0-4284-B62F-F1B5107D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43475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FastAPI backend, authenticated user flows and moderated intelligence workflows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EC6C4-AA60-471A-B211-A3E63073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600700"/>
            <a:ext cx="666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AE6FA-2212-40F5-A5C2-4A7D3930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6769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3D1C6-9BEA-4970-A923-7C2E0121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6483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Manual web verification proves the workflow. Native, background protection is the next product leap.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8A1997-FAAC-4147-94AB-6D8EEDDE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2E5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56FF86-6C19-4868-A559-881BE4B3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A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A4C8"/>
                </a:solidFill>
                <a:latin typeface="Arial"/>
                <a:ea typeface="Arial"/>
                <a:cs typeface="Arial"/>
              </a:rPr>
              <a:t>GUARD / BLOOMERS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66D9A0-8EC5-4BB4-8E5F-EFDD9B7D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363386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e68f557974778"/>
          <a:stretch xmlns:a="http://schemas.openxmlformats.org/drawingml/2006/main"/>
        </p:blipFill>
        <p:spPr>
          <a:xfrm xmlns:a="http://schemas.openxmlformats.org/drawingml/2006/main">
            <a:off x="514823" y="323850"/>
            <a:ext cx="361005" cy="361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B714A-DA11-4914-B2EC-FFC9FD28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08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0821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7CFAD-99D2-4F40-B3E2-35F9D3E4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D8ED3-E8CB-407F-907B-13D0F3E8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C33A3-2681-43D6-A08F-827B6B66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MARKET ENTRY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8B9FF-3533-432A-B42D-E00CF768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Start narrow, learn quickly, distribute through 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C63E5-8828-4992-AAFC-3B68AF00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Guard's first market is not “everyone online.” It is reachable users with a repeated fraud problem and a reason to install protection.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86E70-DCB1-45A3-A2AE-0A1BA26F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25146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F8C77-0438-498F-92E7-392A04C1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4A95B-E129-49DB-A555-3A593302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13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ANDROID 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B8E48-4AC3-4BAD-9AC3-E17383B3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927C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9F8D1-616B-4D03-AF9E-36194B7B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Early adopters exposed to calls, messages and risky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DE6DC-2EF9-4C9F-A966-59062EF4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33700"/>
            <a:ext cx="25146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BDAE8-F479-40A0-8A1F-BBE643F8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7A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A1BDA-B38A-47B6-9515-4D24E20E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38550"/>
            <a:ext cx="213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FAMILIES + SMES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5BD54-7B2F-4FD8-932D-2E247638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291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1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9746F-CF7E-4417-959C-4339771E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577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People protecting relatives, staff and business communication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7FD72-E962-46EF-83DB-ACDABEDB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33700"/>
            <a:ext cx="25146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193E4-972F-4590-8700-5EC6D1FA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78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A78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8336B-107F-47C2-BAC5-A8620533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213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DISTRIBUTION PARTNERS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C932E-0E48-49C2-B773-EF159B28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A78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F44ADD-D547-4AB8-BA8E-6435567E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Telecoms, financial institutions and digital platforms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F3A24F-9098-4F95-8FF9-1333EE26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33700"/>
            <a:ext cx="25146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5D1C1-2EB4-4B46-8851-C9069979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B88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C71B74-EE4C-43FA-A670-26DDA5B7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213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REGIONAL EXPANSION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CAFA4-27EB-494C-BBC2-C100F54F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291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B88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ED9DB6-9C9E-49C0-B963-0030A2E5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577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Local-language and market-specific fraud intelligence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DFEF70-20BA-4118-954A-7C43CAF5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109156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2E9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C32865-9489-4B07-A448-87332CE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1045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103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1039"/>
                </a:solidFill>
                <a:latin typeface="Arial"/>
                <a:ea typeface="Arial"/>
                <a:cs typeface="Arial"/>
              </a:rPr>
              <a:t>Market sizing will be built bottom-up from reachable users, pilot conversion and validated pricing—not headline internet counts.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836661-58DE-4097-831A-C94402D3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3F4FE0-534B-4680-9960-A9A1FE39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A8DA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8DA3"/>
                </a:solidFill>
                <a:latin typeface="Arial"/>
                <a:ea typeface="Arial"/>
                <a:cs typeface="Arial"/>
              </a:rPr>
              <a:t>GUARD / BLOOMERS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0E1AD3-6D39-416E-B7B5-31D44FBC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1091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4b80d86184c5b"/>
          <a:stretch xmlns:a="http://schemas.openxmlformats.org/drawingml/2006/main"/>
        </p:blipFill>
        <p:spPr>
          <a:xfrm xmlns:a="http://schemas.openxmlformats.org/drawingml/2006/main">
            <a:off x="514823" y="323850"/>
            <a:ext cx="361005" cy="361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48180-D562-4E7E-9952-0512EA71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08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0821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E7DD2-5D4E-4BA0-9DF5-9B6A1DE7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D7245-7FAE-40BA-8429-35CD0800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AC9E8-A010-4027-89A0-14DFD59A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WHY GUARD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483D6-B90B-47C2-97EA-E4CF0FEE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Most tools protect a channel. Guard protects the decision.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33400" y="2419350"/>
          <a:ext xmlns:a="http://schemas.openxmlformats.org/drawingml/2006/main" cx="109347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619250"/>
                <a:gridCol w="1714500"/>
                <a:gridCol w="1714500"/>
                <a:gridCol w="1619250"/>
                <a:gridCol w="1695450"/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</a:t>
                      </a:r>
                    </a:p>
                  </a:txBody>
                  <a:tcPr marL="91440" marR="91440" marT="45720" marB="45720" anchor="ctr">
                    <a:solidFill>
                      <a:srgbClr val="1308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Call / number</a:t>
                      </a:r>
                    </a:p>
                  </a:txBody>
                  <a:tcPr marL="91440" marR="91440" marT="45720" marB="45720" anchor="ctr">
                    <a:solidFill>
                      <a:srgbClr val="1308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Email / link</a:t>
                      </a:r>
                    </a:p>
                  </a:txBody>
                  <a:tcPr marL="91440" marR="91440" marT="45720" marB="45720" anchor="ctr">
                    <a:solidFill>
                      <a:srgbClr val="1308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Cross-channel</a:t>
                      </a:r>
                    </a:p>
                  </a:txBody>
                  <a:tcPr marL="91440" marR="91440" marT="45720" marB="45720" anchor="ctr">
                    <a:solidFill>
                      <a:srgbClr val="1308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 context</a:t>
                      </a:r>
                    </a:p>
                  </a:txBody>
                  <a:tcPr marL="91440" marR="91440" marT="45720" marB="45720" anchor="ctr">
                    <a:solidFill>
                      <a:srgbClr val="1308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Explains action</a:t>
                      </a:r>
                    </a:p>
                  </a:txBody>
                  <a:tcPr marL="91440" marR="91440" marT="45720" marB="45720" anchor="ctr">
                    <a:solidFill>
                      <a:srgbClr val="130821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261B31"/>
                          </a:solidFill>
                          <a:latin typeface="Arial"/>
                          <a:ea typeface="Arial"/>
                          <a:cs typeface="Arial"/>
                        </a:rPr>
                        <a:t>Guard</a:t>
                      </a:r>
                    </a:p>
                  </a:txBody>
                  <a:tcPr marL="91440" marR="91440" marT="45720" marB="45720" anchor="ctr">
                    <a:solidFill>
                      <a:srgbClr val="F2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7927C7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2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7927C7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2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7927C7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2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7927C7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2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7927C7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2E9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261B31"/>
                          </a:solidFill>
                          <a:latin typeface="Arial"/>
                          <a:ea typeface="Arial"/>
                          <a:cs typeface="Arial"/>
                        </a:rPr>
                        <a:t>Caller-ID tools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Strong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Limited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Limited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261B31"/>
                          </a:solidFill>
                          <a:latin typeface="Arial"/>
                          <a:ea typeface="Arial"/>
                          <a:cs typeface="Arial"/>
                        </a:rPr>
                        <a:t>Email spam filters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Strong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Limited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Limited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261B31"/>
                          </a:solidFill>
                          <a:latin typeface="Arial"/>
                          <a:ea typeface="Arial"/>
                          <a:cs typeface="Arial"/>
                        </a:rPr>
                        <a:t>URL reputation tools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Strong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Limited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Limited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261B31"/>
                          </a:solidFill>
                          <a:latin typeface="Arial"/>
                          <a:ea typeface="Arial"/>
                          <a:cs typeface="Arial"/>
                        </a:rPr>
                        <a:t>General AI assistants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Manual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Manual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Manual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Varies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756A7D"/>
                          </a:solidFill>
                          <a:latin typeface="Arial"/>
                          <a:ea typeface="Arial"/>
                          <a:cs typeface="Arial"/>
                        </a:rPr>
                        <a:t>Partial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D8F31-BFFF-469D-868E-A7C70099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Guard's defensibility grows with validated local fraud patterns, distribution partnerships and user trust—not with a generic AI label.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BC78A-BDC6-4D23-A510-0C6DCFA6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7DB84-57FC-4E08-86CE-B7800A55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A8DA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8DA3"/>
                </a:solidFill>
                <a:latin typeface="Arial"/>
                <a:ea typeface="Arial"/>
                <a:cs typeface="Arial"/>
              </a:rPr>
              <a:t>GUARD / BLOOMERS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24C81-5C38-424D-8AC7-D9D14385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18087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0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479ccb5f540f3"/>
          <a:stretch xmlns:a="http://schemas.openxmlformats.org/drawingml/2006/main"/>
        </p:blipFill>
        <p:spPr>
          <a:xfrm xmlns:a="http://schemas.openxmlformats.org/drawingml/2006/main">
            <a:off x="514823" y="323850"/>
            <a:ext cx="361005" cy="361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2D51B-105F-46F2-B9E2-11DFBDB9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F92CB-FEFA-4591-8E73-ED1B980F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7532A-FD5C-4688-AFC5-0A55E05C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A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B4157-73EC-4FC2-B489-3692AA08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BUSINESS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EF3EC-38C6-491E-A467-546677D0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Consumer reach creates partner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A5957-D550-4BCA-AA14-DCCE77F7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2514600" cy="26670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28143B"/>
          </a:solidFill>
          <a:ln xmlns:a="http://schemas.openxmlformats.org/drawingml/2006/main" w="9525">
            <a:solidFill>
              <a:srgbClr val="4E35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E5703-1EA7-4D06-B6D5-D3B9358C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2514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7E241-B87C-42F2-AEC5-61FF6DE0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FREE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2F08A-A9F8-46BF-A439-C637B6AF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Everyday protection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B6EA0-6DB3-4C70-836C-050E1166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B8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BB8D7"/>
                </a:solidFill>
                <a:latin typeface="Arial"/>
                <a:ea typeface="Arial"/>
                <a:cs typeface="Arial"/>
              </a:rPr>
              <a:t>Essential checks and supported warnings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C5F86-28B8-4AD4-AFE9-33FA6492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43175"/>
            <a:ext cx="2514600" cy="26670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28143B"/>
          </a:solidFill>
          <a:ln xmlns:a="http://schemas.openxmlformats.org/drawingml/2006/main" w="9525">
            <a:solidFill>
              <a:srgbClr val="4E356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D0053-A963-4489-90E1-6CDC06C6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43175"/>
            <a:ext cx="2514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0A9BA-C8DA-4B1B-90B4-FC13CBBE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47975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A18"/>
                </a:solidFill>
                <a:latin typeface="Arial"/>
                <a:ea typeface="Arial"/>
                <a:cs typeface="Arial"/>
              </a:rPr>
              <a:t>PREMIUM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E70EB-1109-4CB8-81DB-87271044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Personal + family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A05F3-FC9C-470F-8F95-F0D63A1C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B8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BB8D7"/>
                </a:solidFill>
                <a:latin typeface="Arial"/>
                <a:ea typeface="Arial"/>
                <a:cs typeface="Arial"/>
              </a:rPr>
              <a:t>Expanded monitoring, history and shared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68E45-23BF-4099-984A-878D554F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43175"/>
            <a:ext cx="2514600" cy="26670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28143B"/>
          </a:solidFill>
          <a:ln xmlns:a="http://schemas.openxmlformats.org/drawingml/2006/main" w="9525">
            <a:solidFill>
              <a:srgbClr val="4E356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503BD-9131-4F0D-BFFF-5E852EC6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43175"/>
            <a:ext cx="2514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1F753-AF3D-4D53-9D90-3D37AC10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47975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78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A78E8"/>
                </a:solidFill>
                <a:latin typeface="Arial"/>
                <a:ea typeface="Arial"/>
                <a:cs typeface="Arial"/>
              </a:rPr>
              <a:t>BUSINESS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5681B-6625-41B0-8EFE-B9F6ADD8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Seats + usage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F9744-B210-42F1-9025-BD23E5C2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719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B8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BB8D7"/>
                </a:solidFill>
                <a:latin typeface="Arial"/>
                <a:ea typeface="Arial"/>
                <a:cs typeface="Arial"/>
              </a:rPr>
              <a:t>Employee protection, support workflows and API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A29C75-5E21-4268-A037-3D1E593D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43175"/>
            <a:ext cx="2514600" cy="26670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28143B"/>
          </a:solidFill>
          <a:ln xmlns:a="http://schemas.openxmlformats.org/drawingml/2006/main" w="9525">
            <a:solidFill>
              <a:srgbClr val="4E356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949EBF-1C66-4C1F-8186-D330EF35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43175"/>
            <a:ext cx="2514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8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B69596-8DFE-4E07-B348-EC26F023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47975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84"/>
                </a:solidFill>
                <a:latin typeface="Arial"/>
                <a:ea typeface="Arial"/>
                <a:cs typeface="Arial"/>
              </a:rPr>
              <a:t>PARTNERS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51BF33-FA90-478E-B33E-AD9A9447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License + distribution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A3AE71-6C0C-4872-AA7F-A926882C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719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B8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BB8D7"/>
                </a:solidFill>
                <a:latin typeface="Arial"/>
                <a:ea typeface="Arial"/>
                <a:cs typeface="Arial"/>
              </a:rPr>
              <a:t>Embedded protection and local intelligence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70415F-0137-4E47-A4A9-4C424402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0915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Validate first: willingness to pay • cost per assessment • retention • enterprise procurement cycle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1B2862-6F0A-4BA5-81DA-8BAA0C4C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2E5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B52A71-3450-48F6-8069-F041AAC9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A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A4C8"/>
                </a:solidFill>
                <a:latin typeface="Arial"/>
                <a:ea typeface="Arial"/>
                <a:cs typeface="Arial"/>
              </a:rPr>
              <a:t>GUARD / BLOOMERS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82092E-B204-4AF9-A81A-8CA2B5C6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13238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10996584e4385"/>
          <a:stretch xmlns:a="http://schemas.openxmlformats.org/drawingml/2006/main"/>
        </p:blipFill>
        <p:spPr>
          <a:xfrm xmlns:a="http://schemas.openxmlformats.org/drawingml/2006/main">
            <a:off x="514823" y="323850"/>
            <a:ext cx="361005" cy="361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012FB-8855-4A8E-953C-11D992DC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08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0821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3E903-C904-49F3-A6CB-D14653BC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62B3C-0F94-4B0B-8D67-955BBB70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56569-C5C4-4762-88D2-FA7CAB6E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EE435-B09B-43EB-8361-6E9F01C4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Move from a working checker to trusted daily protection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1E237-BC2F-4CC7-8C98-35AEBB1B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71825"/>
            <a:ext cx="984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7DD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92CF8-8470-460A-AA84-A1BAA81B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071F0-BB63-4AD0-AC76-0A409F9F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670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BC788-3726-4557-A778-2C53AC0D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7A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7A18"/>
                </a:solidFill>
                <a:latin typeface="Arial"/>
                <a:ea typeface="Arial"/>
                <a:cs typeface="Arial"/>
              </a:rPr>
              <a:t>0–3 MONTHS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220BB-37BD-408B-BEB1-A8C904C9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62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INTEGRATE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98DDC-8586-480E-B9E2-BD4D2145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3425"/>
            <a:ext cx="2514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Productionize the web MVP, instrument quality and define the permission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A15C9-D61C-465A-AEB6-1C51DB6A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241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F7A40-4B2A-43F6-80ED-5142486E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670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1EAAE-9AEF-4F2A-823F-5A03B04B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7A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7A18"/>
                </a:solidFill>
                <a:latin typeface="Arial"/>
                <a:ea typeface="Arial"/>
                <a:cs typeface="Arial"/>
              </a:rPr>
              <a:t>3–6 MONTHS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7CD0B-01CB-4AC5-9342-C08AF3A3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862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ANDROID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A90D2-1028-4480-86F3-6D8BE0B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2514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Call screening, notifications and link checks with measured user consent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AE12E-36E4-4570-91A7-A9A5496C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241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BA0F5-F4F5-4A52-B3B6-A1F2D317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0670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31D4D-7BA6-4990-A853-7BF7F087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7A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7A18"/>
                </a:solidFill>
                <a:latin typeface="Arial"/>
                <a:ea typeface="Arial"/>
                <a:cs typeface="Arial"/>
              </a:rPr>
              <a:t>6–9 MONTHS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5F517-5002-4EBE-A532-1BD2129A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862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EMAIL + 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E4581-AC36-449A-9A08-837F41FB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43425"/>
            <a:ext cx="2514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Authorized Gmail connection and supported Apple extensions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0A946-149B-4BA6-962B-0D6F8F49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241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8B0CC3-09A7-4F12-86B9-7528AE0E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670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479B44-DFA5-4D8F-A5BA-96E0ADED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7A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7A18"/>
                </a:solidFill>
                <a:latin typeface="Arial"/>
                <a:ea typeface="Arial"/>
                <a:cs typeface="Arial"/>
              </a:rPr>
              <a:t>9–12 MONTHS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9FA77A-455F-414F-9AB8-60D8CC77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PARTNER PILOTS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E8BE1C-CF89-4638-AAF7-9DB6F101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43425"/>
            <a:ext cx="2514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Deploy with selected SMEs, financial and telecom partners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2C0DF5-1510-4AD4-9A89-12F606A8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9156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13082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B2B989-AA04-4391-8EC3-E4FAB310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45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Gates: detection quality • false-alert rate • task completion • permission trust • pilot retention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759C48-114E-4E42-AEFA-548F0277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83379D-CEEA-4A5E-A228-28794231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A8DA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8DA3"/>
                </a:solidFill>
                <a:latin typeface="Arial"/>
                <a:ea typeface="Arial"/>
                <a:cs typeface="Arial"/>
              </a:rPr>
              <a:t>GUARD / BLOOMERS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F891E0-D043-4ABD-B47E-C336C893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179009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0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a55904bf34cb0"/>
          <a:stretch xmlns:a="http://schemas.openxmlformats.org/drawingml/2006/main"/>
        </p:blipFill>
        <p:spPr>
          <a:xfrm xmlns:a="http://schemas.openxmlformats.org/drawingml/2006/main">
            <a:off x="514823" y="323850"/>
            <a:ext cx="361005" cy="361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D597B-A0AE-45D2-863F-6A3EFFFD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56784-8E7F-471E-9F2A-9DB73821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E2124-F6D2-48BB-9029-FEA617C9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A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F74C8-7930-4EF0-8D32-A970C0EE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TEAM + 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67AC4-0147-40F6-8FB5-C2711545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Help us move from checking to protecting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0C46F-23D9-4C90-8219-E5C10CFA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A18"/>
                </a:solidFill>
                <a:latin typeface="Arial"/>
                <a:ea typeface="Arial"/>
                <a:cs typeface="Arial"/>
              </a:rPr>
              <a:t>BLOOMERS 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561B9-46A9-4003-AFBB-9AB68C91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5619750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28143B"/>
          </a:solidFill>
          <a:ln xmlns:a="http://schemas.openxmlformats.org/drawingml/2006/main" w="9525">
            <a:solidFill>
              <a:srgbClr val="4E356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ADD4B-9710-460A-A86F-BEA22D66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860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Fuseini Saida Ayisha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E9752-6B87-4F10-B941-6863FFB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860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Yusif Babamu Issah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52F66-1A9A-4835-AF87-16968AB9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042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Josephus Bawah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D7B7B-D2AA-4FDA-AE0D-9917CD1B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Kelvin Ahorbo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C0D5C-4486-41AC-98C1-215D9396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Dennis Owusu Adarkwarh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3217B-8B83-4050-BB3D-E6F9C215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952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0D61E-F239-472A-9170-388D6BAC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TO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9F4EB-494B-4D05-B5B3-5211A908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362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B8D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BB8D7"/>
                </a:solidFill>
                <a:latin typeface="Arial"/>
                <a:ea typeface="Arial"/>
                <a:cs typeface="Arial"/>
              </a:rPr>
              <a:t>Add each member's role and one relevant proof point before external circulation.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3F4C5-BC51-415E-94F4-51DDBE9F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479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A18"/>
                </a:solidFill>
                <a:latin typeface="Arial"/>
                <a:ea typeface="Arial"/>
                <a:cs typeface="Arial"/>
              </a:rPr>
              <a:t>WHAT UNLOCKS THE NEXT STAGE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72BED-0BBF-4351-BCC8-DAC5899D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95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7F8E1-E046-42EF-9E47-D9DEBCAC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71775"/>
            <a:ext cx="266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2FB94-DABC-4E17-9579-6803CD83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4048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Representative fraud data and validation partners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82D85B-EE2F-46A2-946D-D83ADC4B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05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3433A-3221-4C41-8AC1-C73DDB01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81375"/>
            <a:ext cx="266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ED842-FBD6-45AB-A595-CEAA721E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95650"/>
            <a:ext cx="4048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Android consumer and SME pilot organisations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CEC79F-E590-4D65-9BB3-6A405E28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14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3EE6D5-EC3C-41F9-9049-B098B75F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90975"/>
            <a:ext cx="266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2BDA4B-F3E8-40E6-98E3-984CA728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05250"/>
            <a:ext cx="4048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Technical, regulatory and distribution mentorship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A7105A-020D-4F0E-A5E3-A2424853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24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52DAB9-40EC-4FDA-AB25-7940D0FE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00575"/>
            <a:ext cx="266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9EC643-673F-4B73-999C-E338732B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14850"/>
            <a:ext cx="4048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Pre-seed capital: insert target + use of funds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64CA41-3716-4E16-8F88-470E6FC3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0744200" cy="65722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C34D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2798C6-A195-469A-8CD3-9EEB81A3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Guard can stop a fraudulent interaction before it becomes a financial loss.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395440-5A6E-469D-A05C-01001681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2E5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12911D-85C4-45F0-8786-4F5C5F3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A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A4C8"/>
                </a:solidFill>
                <a:latin typeface="Arial"/>
                <a:ea typeface="Arial"/>
                <a:cs typeface="Arial"/>
              </a:rPr>
              <a:t>GUARD / BLOOMERS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C11862-3B9B-4F32-889B-11F36AF6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426669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4e1f8adaf40f5"/>
          <a:stretch xmlns:a="http://schemas.openxmlformats.org/drawingml/2006/main"/>
        </p:blipFill>
        <p:spPr>
          <a:xfrm xmlns:a="http://schemas.openxmlformats.org/drawingml/2006/main">
            <a:off x="514823" y="323850"/>
            <a:ext cx="361005" cy="361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BFC65-4E56-4D68-8EA9-9DFE5E6B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08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0821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5D26A-F1EA-454C-9478-5CF587A9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B2FB4-1B64-4007-AB1A-33F343F7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7C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1A12E-1A13-4D8E-81C8-6F307313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B1C4C-AD72-48A0-B3FA-1CE8EB39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61B3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61B31"/>
                </a:solidFill>
                <a:latin typeface="Arial"/>
                <a:ea typeface="Arial"/>
                <a:cs typeface="Arial"/>
              </a:rPr>
              <a:t>Evidence, limits and investor-ready completion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C856A-8748-4631-BC90-72D1ECF1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PUBLIC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26C55-FAB7-4843-BA3D-093FE6A7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BoG 2025 Fraud Report; CSA 2026 incident update; NCA June 2026 telecom statistics.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A8915-3FE3-4736-B36E-22B40786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432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PRODUCT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4EEC5-0778-49B3-8A12-74200410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Working web UI and API, explainable assessment flow, authenticated user and admin workflows.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67975-E1F6-4FA7-A455-FAAE0ED6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PLATFORM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88FE8-B541-4982-A348-541F1CF4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Official Android, Apple and Gmail documentation supports permissioned integrations—with different limits.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89CAD-7290-44CE-8ACF-6143F09D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47900"/>
            <a:ext cx="5476875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3082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0AF09-46C2-4A33-B082-250702E3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14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3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C34D"/>
                </a:solidFill>
                <a:latin typeface="Arial"/>
                <a:ea typeface="Arial"/>
                <a:cs typeface="Arial"/>
              </a:rPr>
              <a:t>COMPLETE BEFORE EXTERNAL CIRCULATION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11BDB-F5CE-4716-904F-25C6AD1C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4322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D2750"/>
          </a:solidFill>
          <a:ln xmlns:a="http://schemas.openxmlformats.org/drawingml/2006/main" w="9525">
            <a:solidFill>
              <a:srgbClr val="72538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5ECCE7-5D50-450C-A154-4242F079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Founder roles, bios and contact details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3E74A-95EA-4936-85F8-FCC494BA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099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D2750"/>
          </a:solidFill>
          <a:ln xmlns:a="http://schemas.openxmlformats.org/drawingml/2006/main" w="9525">
            <a:solidFill>
              <a:srgbClr val="72538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02C60-1896-48FB-8A49-29ECDAF7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909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Fundraising amount, runway and use of funds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5FCA0-1EBC-49E8-B641-2D1D1014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766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D2750"/>
          </a:solidFill>
          <a:ln xmlns:a="http://schemas.openxmlformats.org/drawingml/2006/main" w="9525">
            <a:solidFill>
              <a:srgbClr val="72538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9C0F4-177F-485B-85FF-08E72B0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576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metrics: users, accuracy, false alerts and retention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DC6D9E-AF1D-4CA7-8884-8003F375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D2750"/>
          </a:solidFill>
          <a:ln xmlns:a="http://schemas.openxmlformats.org/drawingml/2006/main" w="9525">
            <a:solidFill>
              <a:srgbClr val="72538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71BE7A-5596-42A9-9B76-656B5C63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243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Named competitor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581F6-F15B-4B1B-87BD-34E48AA8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012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D2750"/>
          </a:solidFill>
          <a:ln xmlns:a="http://schemas.openxmlformats.org/drawingml/2006/main" w="9525">
            <a:solidFill>
              <a:srgbClr val="72538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5BF9A-06C6-459D-BD1E-55A6C49D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910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Bottom-up TAM / SAM / SOM and pricing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251D1C-C13D-4978-8097-6DB8C4C3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A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6A7D"/>
                </a:solidFill>
                <a:latin typeface="Arial"/>
                <a:ea typeface="Arial"/>
                <a:cs typeface="Arial"/>
              </a:rPr>
              <a:t>This appendix is intended for diligence and can be hidden during a live pitch.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BAC62-25CE-425C-AC66-1A0DBEAC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D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7C8C78-A060-410E-8297-270D4266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A8DA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8DA3"/>
                </a:solidFill>
                <a:latin typeface="Arial"/>
                <a:ea typeface="Arial"/>
                <a:cs typeface="Arial"/>
              </a:rPr>
              <a:t>GUARD / BLOOMERS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85E484-79BB-4C1E-A554-3D0F2DBC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927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27C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44127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2026-10-10T22:03:47.6980000Z</dcterms:created>
  <dcterms:modified xsi:type="dcterms:W3CDTF">2026-10-10T22:03:47.6980000Z</dcterms:modified>
</coreProperties>
</file>