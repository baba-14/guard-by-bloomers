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523cb09a3849ca" /><Relationship Type="http://schemas.openxmlformats.org/officeDocument/2006/relationships/extended-properties" Target="/docProps/app.xml" Id="R66011d957bc84d55" /><Relationship Type="http://schemas.openxmlformats.org/officeDocument/2006/relationships/officeDocument" Target="/ppt/presentation.xml" Id="Red19eb6d96e4439f" /></Relationships>
</file>

<file path=ppt/presentation.xml><?xml version="1.0" encoding="utf-8"?>
<p:presentation xmlns:p="http://schemas.openxmlformats.org/presentationml/2006/main">
  <p:sldMasterIdLst>
    <p:sldMasterId xmlns:r="http://schemas.openxmlformats.org/officeDocument/2006/relationships" id="2147483648" r:id="R25b0707cefeb4c4e"/>
  </p:sldMasterIdLst>
  <p:notesMasterIdLst>
    <p:notesMasterId xmlns:r="http://schemas.openxmlformats.org/officeDocument/2006/relationships" r:id="R279c9ff933464694"/>
  </p:notesMasterIdLst>
  <p:sldIdLst>
    <p:sldId xmlns:r="http://schemas.openxmlformats.org/officeDocument/2006/relationships" id="256" r:id="R85804ec51a654340"/>
    <p:sldId xmlns:r="http://schemas.openxmlformats.org/officeDocument/2006/relationships" id="257" r:id="R3824487d539f4e38"/>
    <p:sldId xmlns:r="http://schemas.openxmlformats.org/officeDocument/2006/relationships" id="258" r:id="Ra806274d5a094090"/>
    <p:sldId xmlns:r="http://schemas.openxmlformats.org/officeDocument/2006/relationships" id="259" r:id="Radf230bae4394696"/>
    <p:sldId xmlns:r="http://schemas.openxmlformats.org/officeDocument/2006/relationships" id="260" r:id="Rc97aaa7b148b47bc"/>
    <p:sldId xmlns:r="http://schemas.openxmlformats.org/officeDocument/2006/relationships" id="261" r:id="R46f2cd8416fe46c2"/>
    <p:sldId xmlns:r="http://schemas.openxmlformats.org/officeDocument/2006/relationships" id="262" r:id="Rfada6b45a3ee4ced"/>
    <p:sldId xmlns:r="http://schemas.openxmlformats.org/officeDocument/2006/relationships" id="263" r:id="Rf6a8ad160d904a89"/>
    <p:sldId xmlns:r="http://schemas.openxmlformats.org/officeDocument/2006/relationships" id="264" r:id="Rb531148026064216"/>
    <p:sldId xmlns:r="http://schemas.openxmlformats.org/officeDocument/2006/relationships" id="265" r:id="R8a518e1b5cde467d"/>
    <p:sldId xmlns:r="http://schemas.openxmlformats.org/officeDocument/2006/relationships" id="266" r:id="Rd15f46e5b58c444e"/>
  </p:sldIdLst>
  <p:sldSz cx="10696575" cy="75628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9fa8bad4a74753" /><Relationship Type="http://schemas.openxmlformats.org/officeDocument/2006/relationships/slideMaster" Target="/ppt/slideMasters/slideMaster1.xml" Id="R25b0707cefeb4c4e" /><Relationship Type="http://schemas.openxmlformats.org/officeDocument/2006/relationships/notesMaster" Target="/ppt/notesMasters/notesMaster1.xml" Id="R279c9ff933464694" /><Relationship Type="http://schemas.openxmlformats.org/officeDocument/2006/relationships/presProps" Target="/ppt/presProps.xml" Id="Rfe35faacab90435d" /><Relationship Type="http://schemas.openxmlformats.org/officeDocument/2006/relationships/tableStyles" Target="/ppt/tableStyles.xml" Id="R3f63f08353024785" /><Relationship Type="http://schemas.openxmlformats.org/officeDocument/2006/relationships/slide" Target="/ppt/slides/slide1.xml" Id="R85804ec51a654340" /><Relationship Type="http://schemas.openxmlformats.org/officeDocument/2006/relationships/slide" Target="/ppt/slides/slide2.xml" Id="R3824487d539f4e38" /><Relationship Type="http://schemas.openxmlformats.org/officeDocument/2006/relationships/slide" Target="/ppt/slides/slide3.xml" Id="Ra806274d5a094090" /><Relationship Type="http://schemas.openxmlformats.org/officeDocument/2006/relationships/slide" Target="/ppt/slides/slide4.xml" Id="Radf230bae4394696" /><Relationship Type="http://schemas.openxmlformats.org/officeDocument/2006/relationships/slide" Target="/ppt/slides/slide5.xml" Id="Rc97aaa7b148b47bc" /><Relationship Type="http://schemas.openxmlformats.org/officeDocument/2006/relationships/slide" Target="/ppt/slides/slide6.xml" Id="R46f2cd8416fe46c2" /><Relationship Type="http://schemas.openxmlformats.org/officeDocument/2006/relationships/slide" Target="/ppt/slides/slide7.xml" Id="Rfada6b45a3ee4ced" /><Relationship Type="http://schemas.openxmlformats.org/officeDocument/2006/relationships/slide" Target="/ppt/slides/slide8.xml" Id="Rf6a8ad160d904a89" /><Relationship Type="http://schemas.openxmlformats.org/officeDocument/2006/relationships/slide" Target="/ppt/slides/slide9.xml" Id="Rb531148026064216" /><Relationship Type="http://schemas.openxmlformats.org/officeDocument/2006/relationships/slide" Target="/ppt/slides/slide10.xml" Id="R8a518e1b5cde467d" /><Relationship Type="http://schemas.openxmlformats.org/officeDocument/2006/relationships/slide" Target="/ppt/slides/slide11.xml" Id="Rd15f46e5b58c44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33f77bcaff4b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611fc364274f87" /><Relationship Type="http://schemas.openxmlformats.org/officeDocument/2006/relationships/notesMaster" Target="/ppt/notesMasters/notesMaster1.xml" Id="R227e81df2f4544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eb9aeb6ad040f3" /><Relationship Type="http://schemas.openxmlformats.org/officeDocument/2006/relationships/notesMaster" Target="/ppt/notesMasters/notesMaster1.xml" Id="R48b765a598ed46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f4669c48d54435" /><Relationship Type="http://schemas.openxmlformats.org/officeDocument/2006/relationships/notesMaster" Target="/ppt/notesMasters/notesMaster1.xml" Id="Re3c77a5a47ca4d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b059e744c043c2" /><Relationship Type="http://schemas.openxmlformats.org/officeDocument/2006/relationships/notesMaster" Target="/ppt/notesMasters/notesMaster1.xml" Id="Ra29597ac925f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d82f17db77481c" /><Relationship Type="http://schemas.openxmlformats.org/officeDocument/2006/relationships/notesMaster" Target="/ppt/notesMasters/notesMaster1.xml" Id="Rbf88891ce9a442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3ae09464b3443d" /><Relationship Type="http://schemas.openxmlformats.org/officeDocument/2006/relationships/notesMaster" Target="/ppt/notesMasters/notesMaster1.xml" Id="Rb3ee15a155a043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bb2d15e47b4613" /><Relationship Type="http://schemas.openxmlformats.org/officeDocument/2006/relationships/notesMaster" Target="/ppt/notesMasters/notesMaster1.xml" Id="R19dd7b3b4f1544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8135ea297e469f" /><Relationship Type="http://schemas.openxmlformats.org/officeDocument/2006/relationships/notesMaster" Target="/ppt/notesMasters/notesMaster1.xml" Id="Rcb70a0578ba144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e29c8d174e4787" /><Relationship Type="http://schemas.openxmlformats.org/officeDocument/2006/relationships/notesMaster" Target="/ppt/notesMasters/notesMaster1.xml" Id="R0f226a80758d49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dc00fbcf954d2e" /><Relationship Type="http://schemas.openxmlformats.org/officeDocument/2006/relationships/notesMaster" Target="/ppt/notesMasters/notesMaster1.xml" Id="Rab7dc0a3db5146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767784796e410f" /><Relationship Type="http://schemas.openxmlformats.org/officeDocument/2006/relationships/notesMaster" Target="/ppt/notesMasters/notesMaster1.xml" Id="R1274c1f632804c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slide 1 of the supplied Hydrogo Pitch Deck 2025. Guard product statement is based on the founder's stated vision. Image is an existing Guard brand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2. Ama Mensah is an illustrative persona, not a named customer. The persona captures Guard's intended everyday-user segment.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3. Source: Bank of Ghana Fraud Report 2025, 24,778 cases in 2025 versus 16,733 in 2024. https://www.bog.gov.gh/wp-content/uploads/2026/07/FRAUD-REPORT-2025.pdf. Fraud-channel description reflects Guard's product scope and does not claim every reported case used every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4. The web checker and API exist today. Background and in-channel protection represents the intended native product. Android, iOS, email and third-party app coverage depends on user permission, official APIs and platform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5. These are intended impact pathways, not measured outcomes. Guard does not yet claim a quantified reduction in fraud losses.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6. This is a category-level positioning comparison, not an audited claim about every product. 'Planned' distinguishes Guard's intended proactive native experience from the current manual web checker.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7. Source for TAM proxy: National Communications Authority, 30,515,711 mobile data subscriptions and 89.53% penetration in June 2026, https://nca.org.gh/. Subscriptions are not unique users and do not represent revenue. SAM and SOM remain intentionally unsized until Android share, reach, eligibility, conversion and pricing are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8. The revenue model is proposed. The supplied materials do not document validated prices, cost per assessment, gross margin, signed customers or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9. Progress percentages, database-table count and local API verification come from the October 2026 internal project update represented in the supplied Guard deck. They are not independently audited. Current workspace evidence supports the six check types, user/admin workflows and shared backend 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10. These are proposed milestones, subject to resources, user research, platform policy and technical validation. Android and Apple capabilities differ; third-party messaging coverage depends on supported integration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follows Hydrogo slide 11. Team names come from the supplied Guard investor deck. Roles, biographies, contact details and individual proof points were not provided and remain explicit completion items. The closing support request reflects the supplied Guard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02195416b54b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20f6b17d7f4304" /><Relationship Type="http://schemas.openxmlformats.org/officeDocument/2006/relationships/slideLayout" Target="/ppt/slideLayouts/slideLayout1.xml" Id="Rcd802d58123f4b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802d58123f4b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e4ef0f9eb04473" /><Relationship Type="http://schemas.openxmlformats.org/officeDocument/2006/relationships/image" Target="/ppt/media/image.png" Id="Rdd271bf2310f42fe" /><Relationship Type="http://schemas.openxmlformats.org/officeDocument/2006/relationships/image" Target="/ppt/media/image2.png" Id="R92d7b8eb49a2431f" /><Relationship Type="http://schemas.openxmlformats.org/officeDocument/2006/relationships/notesSlide" Target="/ppt/notesSlides/notesSlide1.xml" Id="R730f4c785b1c4d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1c07a8e6dd47b3" /><Relationship Type="http://schemas.openxmlformats.org/officeDocument/2006/relationships/image" Target="/ppt/media/image.jpeg" Id="R196bbb18a0c94d27" /><Relationship Type="http://schemas.openxmlformats.org/officeDocument/2006/relationships/image" Target="/ppt/media/image3.png" Id="Ra0eb57181fcd40dc" /><Relationship Type="http://schemas.openxmlformats.org/officeDocument/2006/relationships/notesSlide" Target="/ppt/notesSlides/notesSlide2.xml" Id="R5d0be0c93df34e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8736171b384fee" /><Relationship Type="http://schemas.openxmlformats.org/officeDocument/2006/relationships/image" Target="/ppt/media/image2.jpeg" Id="R029d253f0e734784" /><Relationship Type="http://schemas.openxmlformats.org/officeDocument/2006/relationships/image" Target="/ppt/media/image4.png" Id="R1b76346332d744a5" /><Relationship Type="http://schemas.openxmlformats.org/officeDocument/2006/relationships/notesSlide" Target="/ppt/notesSlides/notesSlide3.xml" Id="Re154916e887743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b1d6801c7c4c5e" /><Relationship Type="http://schemas.openxmlformats.org/officeDocument/2006/relationships/image" Target="/ppt/media/image5.png" Id="R8390df1750604908" /><Relationship Type="http://schemas.openxmlformats.org/officeDocument/2006/relationships/image" Target="/ppt/media/image6.png" Id="R9c96e5f4588844fe" /><Relationship Type="http://schemas.openxmlformats.org/officeDocument/2006/relationships/image" Target="/ppt/media/image7.png" Id="R910dda89f5964636" /><Relationship Type="http://schemas.openxmlformats.org/officeDocument/2006/relationships/notesSlide" Target="/ppt/notesSlides/notesSlide4.xml" Id="R52defe9b25fa40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e1fd8d8179446d" /><Relationship Type="http://schemas.openxmlformats.org/officeDocument/2006/relationships/image" Target="/ppt/media/image8.png" Id="Rd27a77d110fd4c6e" /><Relationship Type="http://schemas.openxmlformats.org/officeDocument/2006/relationships/notesSlide" Target="/ppt/notesSlides/notesSlide5.xml" Id="R590d22d7e58b40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b4e6bba4f9479b" /><Relationship Type="http://schemas.openxmlformats.org/officeDocument/2006/relationships/image" Target="/ppt/media/image9.png" Id="Rc5d63e18a68546aa" /><Relationship Type="http://schemas.openxmlformats.org/officeDocument/2006/relationships/notesSlide" Target="/ppt/notesSlides/notesSlide6.xml" Id="R016815da0fcf40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da6b4efc4a48a4" /><Relationship Type="http://schemas.openxmlformats.org/officeDocument/2006/relationships/image" Target="/ppt/media/image10.png" Id="Rcc5313bf8a6249d4" /><Relationship Type="http://schemas.openxmlformats.org/officeDocument/2006/relationships/notesSlide" Target="/ppt/notesSlides/notesSlide7.xml" Id="Rd298ec59aae94e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c4acf5f95742b8" /><Relationship Type="http://schemas.openxmlformats.org/officeDocument/2006/relationships/image" Target="/ppt/media/image3.jpeg" Id="R005a9826871044db" /><Relationship Type="http://schemas.openxmlformats.org/officeDocument/2006/relationships/image" Target="/ppt/media/image11.png" Id="R68011dbae266410b" /><Relationship Type="http://schemas.openxmlformats.org/officeDocument/2006/relationships/notesSlide" Target="/ppt/notesSlides/notesSlide8.xml" Id="Rddd0cd06567143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0f474898d94df0" /><Relationship Type="http://schemas.openxmlformats.org/officeDocument/2006/relationships/image" Target="/ppt/media/image12.png" Id="Rc5544d2aa73646e2" /><Relationship Type="http://schemas.openxmlformats.org/officeDocument/2006/relationships/notesSlide" Target="/ppt/notesSlides/notesSlide9.xml" Id="R336158563fd54e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b8d32f41ad44c0" /><Relationship Type="http://schemas.openxmlformats.org/officeDocument/2006/relationships/image" Target="/ppt/media/image13.png" Id="Ree6b40032734462b" /><Relationship Type="http://schemas.openxmlformats.org/officeDocument/2006/relationships/notesSlide" Target="/ppt/notesSlides/notesSlide10.xml" Id="R5ad876bf4c9743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0cd86c0215467c" /><Relationship Type="http://schemas.openxmlformats.org/officeDocument/2006/relationships/image" Target="/ppt/media/image14.png" Id="Rfe5a792bea774463" /><Relationship Type="http://schemas.openxmlformats.org/officeDocument/2006/relationships/notesSlide" Target="/ppt/notesSlides/notesSlide11.xml" Id="R4912b6f424aa4ab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d271bf2310f42fe"/>
          <a:srcRect xmlns:a="http://schemas.openxmlformats.org/drawingml/2006/main" l="1092" t="0" r="1092" b="0"/>
          <a:stretch xmlns:a="http://schemas.openxmlformats.org/drawingml/2006/main">
            <a:fillRect l="0" t="0" r="0" b="0"/>
          </a:stretch>
        </p:blipFill>
        <p:spPr>
          <a:xfrm xmlns:a="http://schemas.openxmlformats.org/drawingml/2006/main">
            <a:off x="514350" y="1066800"/>
            <a:ext cx="9667875" cy="55626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20DE4D-4929-4CAE-8D77-A92E8FF1C2E5}"/>
              </a:ext>
            </a:extLst>
          </p:cNvPr>
          <p:cNvSpPr>
            <a:spLocks xmlns:a="http://schemas.openxmlformats.org/drawingml/2006/main" noGrp="1"/>
          </p:cNvSpPr>
          <p:nvPr/>
        </p:nvSpPr>
        <p:spPr>
          <a:xfrm xmlns:a="http://schemas.openxmlformats.org/drawingml/2006/main">
            <a:off x="514350" y="1066800"/>
            <a:ext cx="4810125" cy="556260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85C4AC-6E38-44EC-8BE4-FE05406CDC78}"/>
              </a:ext>
            </a:extLst>
          </p:cNvPr>
          <p:cNvSpPr>
            <a:spLocks xmlns:a="http://schemas.openxmlformats.org/drawingml/2006/main" noGrp="1"/>
          </p:cNvSpPr>
          <p:nvPr/>
        </p:nvSpPr>
        <p:spPr>
          <a:xfrm xmlns:a="http://schemas.openxmlformats.org/drawingml/2006/main">
            <a:off x="514350" y="5886450"/>
            <a:ext cx="9667875" cy="7429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d7b8eb49a2431f"/>
          <a:stretch xmlns:a="http://schemas.openxmlformats.org/drawingml/2006/main"/>
        </p:blipFill>
        <p:spPr>
          <a:xfrm xmlns:a="http://schemas.openxmlformats.org/drawingml/2006/main">
            <a:off x="1257786" y="1504950"/>
            <a:ext cx="371455" cy="37242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FFCEE3E-96FA-4E07-A59D-4F8B694F8A8A}"/>
              </a:ext>
            </a:extLst>
          </p:cNvPr>
          <p:cNvSpPr>
            <a:spLocks xmlns:a="http://schemas.openxmlformats.org/drawingml/2006/main" noGrp="1"/>
          </p:cNvSpPr>
          <p:nvPr/>
        </p:nvSpPr>
        <p:spPr>
          <a:xfrm xmlns:a="http://schemas.openxmlformats.org/drawingml/2006/main">
            <a:off x="1728311" y="1526858"/>
            <a:ext cx="13144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52" b="1">
                <a:solidFill>
                  <a:srgbClr val="FFFFFF"/>
                </a:solidFill>
                <a:latin typeface="Arial"/>
                <a:ea typeface="Arial"/>
                <a:cs typeface="Arial"/>
              </a:defRPr>
            </a:pPr>
            <a:r>
              <a:rPr sz="1552" b="1">
                <a:solidFill>
                  <a:srgbClr val="FFFFFF"/>
                </a:solidFill>
                <a:latin typeface="Arial"/>
                <a:ea typeface="Arial"/>
                <a:cs typeface="Arial"/>
              </a:rPr>
              <a:t>GUARD</a:t>
            </a:r>
          </a:p>
        </p:txBody>
      </p:sp>
      <p:sp>
        <p:nvSpPr>
          <p:cNvPr id="6" name="">
            <a:extLst xmlns:a="http://schemas.openxmlformats.org/drawingml/2006/main">
              <a:ext uri="{FF2B5EF4-FFF2-40B4-BE49-F238E27FC236}">
                <a16:creationId xmlns:a16="http://schemas.microsoft.com/office/drawing/2014/main" id="{9880C935-3AA1-4008-A551-9485378540B4}"/>
              </a:ext>
            </a:extLst>
          </p:cNvPr>
          <p:cNvSpPr>
            <a:spLocks xmlns:a="http://schemas.openxmlformats.org/drawingml/2006/main" noGrp="1"/>
          </p:cNvSpPr>
          <p:nvPr/>
        </p:nvSpPr>
        <p:spPr>
          <a:xfrm xmlns:a="http://schemas.openxmlformats.org/drawingml/2006/main">
            <a:off x="1739265" y="1778794"/>
            <a:ext cx="1314450" cy="1423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86" b="1">
                <a:solidFill>
                  <a:srgbClr val="FFC447"/>
                </a:solidFill>
                <a:latin typeface="Arial"/>
                <a:ea typeface="Arial"/>
                <a:cs typeface="Arial"/>
              </a:defRPr>
            </a:pPr>
            <a:r>
              <a:rPr sz="586" b="1">
                <a:solidFill>
                  <a:srgbClr val="FFC447"/>
                </a:solidFill>
                <a:latin typeface="Arial"/>
                <a:ea typeface="Arial"/>
                <a:cs typeface="Arial"/>
              </a:rPr>
              <a:t>DIGITAL SAFETY</a:t>
            </a:r>
          </a:p>
        </p:txBody>
      </p:sp>
      <p:sp>
        <p:nvSpPr>
          <p:cNvPr id="7" name="">
            <a:extLst xmlns:a="http://schemas.openxmlformats.org/drawingml/2006/main">
              <a:ext uri="{FF2B5EF4-FFF2-40B4-BE49-F238E27FC236}">
                <a16:creationId xmlns:a16="http://schemas.microsoft.com/office/drawing/2014/main" id="{37734992-0522-46B3-A388-32A2CC45BBD9}"/>
              </a:ext>
            </a:extLst>
          </p:cNvPr>
          <p:cNvSpPr>
            <a:spLocks xmlns:a="http://schemas.openxmlformats.org/drawingml/2006/main" noGrp="1"/>
          </p:cNvSpPr>
          <p:nvPr/>
        </p:nvSpPr>
        <p:spPr>
          <a:xfrm xmlns:a="http://schemas.openxmlformats.org/drawingml/2006/main">
            <a:off x="1257300" y="3000375"/>
            <a:ext cx="476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725" b="1">
                <a:solidFill>
                  <a:srgbClr val="FFFFFF"/>
                </a:solidFill>
                <a:latin typeface="Arial"/>
                <a:ea typeface="Arial"/>
                <a:cs typeface="Arial"/>
              </a:defRPr>
            </a:pPr>
            <a:r>
              <a:rPr sz="4725" b="1">
                <a:solidFill>
                  <a:srgbClr val="FFFFFF"/>
                </a:solidFill>
                <a:latin typeface="Arial"/>
                <a:ea typeface="Arial"/>
                <a:cs typeface="Arial"/>
              </a:rPr>
              <a:t>GUARD</a:t>
            </a:r>
          </a:p>
        </p:txBody>
      </p:sp>
      <p:sp>
        <p:nvSpPr>
          <p:cNvPr id="8" name="">
            <a:extLst xmlns:a="http://schemas.openxmlformats.org/drawingml/2006/main">
              <a:ext uri="{FF2B5EF4-FFF2-40B4-BE49-F238E27FC236}">
                <a16:creationId xmlns:a16="http://schemas.microsoft.com/office/drawing/2014/main" id="{D21D6761-89E6-4EAE-B4A8-9B58F2B5EDE1}"/>
              </a:ext>
            </a:extLst>
          </p:cNvPr>
          <p:cNvSpPr>
            <a:spLocks xmlns:a="http://schemas.openxmlformats.org/drawingml/2006/main" noGrp="1"/>
          </p:cNvSpPr>
          <p:nvPr/>
        </p:nvSpPr>
        <p:spPr>
          <a:xfrm xmlns:a="http://schemas.openxmlformats.org/drawingml/2006/main">
            <a:off x="1276350" y="3781425"/>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FFC447"/>
                </a:solidFill>
                <a:latin typeface="Arial"/>
                <a:ea typeface="Arial"/>
                <a:cs typeface="Arial"/>
              </a:defRPr>
            </a:pPr>
            <a:r>
              <a:rPr sz="2025" b="0">
                <a:solidFill>
                  <a:srgbClr val="FFC447"/>
                </a:solidFill>
                <a:latin typeface="Arial"/>
                <a:ea typeface="Arial"/>
                <a:cs typeface="Arial"/>
              </a:rPr>
              <a:t>Digital safety for everyday life</a:t>
            </a:r>
          </a:p>
        </p:txBody>
      </p:sp>
      <p:sp>
        <p:nvSpPr>
          <p:cNvPr id="9" name="">
            <a:extLst xmlns:a="http://schemas.openxmlformats.org/drawingml/2006/main">
              <a:ext uri="{FF2B5EF4-FFF2-40B4-BE49-F238E27FC236}">
                <a16:creationId xmlns:a16="http://schemas.microsoft.com/office/drawing/2014/main" id="{A2BAD9E0-E0CF-4B32-9492-830FEF33D252}"/>
              </a:ext>
            </a:extLst>
          </p:cNvPr>
          <p:cNvSpPr>
            <a:spLocks xmlns:a="http://schemas.openxmlformats.org/drawingml/2006/main" noGrp="1"/>
          </p:cNvSpPr>
          <p:nvPr/>
        </p:nvSpPr>
        <p:spPr>
          <a:xfrm xmlns:a="http://schemas.openxmlformats.org/drawingml/2006/main">
            <a:off x="1276350" y="46196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Protection before the click, reply or payment</a:t>
            </a:r>
          </a:p>
        </p:txBody>
      </p:sp>
      <p:sp>
        <p:nvSpPr>
          <p:cNvPr id="10" name="">
            <a:extLst xmlns:a="http://schemas.openxmlformats.org/drawingml/2006/main">
              <a:ext uri="{FF2B5EF4-FFF2-40B4-BE49-F238E27FC236}">
                <a16:creationId xmlns:a16="http://schemas.microsoft.com/office/drawing/2014/main" id="{D0BEB463-646B-44C7-8C55-75FBB5DAB66B}"/>
              </a:ext>
            </a:extLst>
          </p:cNvPr>
          <p:cNvSpPr>
            <a:spLocks xmlns:a="http://schemas.openxmlformats.org/drawingml/2006/main" noGrp="1"/>
          </p:cNvSpPr>
          <p:nvPr/>
        </p:nvSpPr>
        <p:spPr>
          <a:xfrm xmlns:a="http://schemas.openxmlformats.org/drawingml/2006/main">
            <a:off x="7553325" y="6096000"/>
            <a:ext cx="1952625" cy="40005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2BDA8F-F991-4690-85AE-00150D4A3A9E}"/>
              </a:ext>
            </a:extLst>
          </p:cNvPr>
          <p:cNvSpPr>
            <a:spLocks xmlns:a="http://schemas.openxmlformats.org/drawingml/2006/main" noGrp="1"/>
          </p:cNvSpPr>
          <p:nvPr/>
        </p:nvSpPr>
        <p:spPr>
          <a:xfrm xmlns:a="http://schemas.openxmlformats.org/drawingml/2006/main">
            <a:off x="7553325" y="621982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190A2C"/>
                </a:solidFill>
                <a:latin typeface="Arial"/>
                <a:ea typeface="Arial"/>
                <a:cs typeface="Arial"/>
              </a:defRPr>
            </a:pPr>
            <a:r>
              <a:rPr sz="900" b="1">
                <a:solidFill>
                  <a:srgbClr val="190A2C"/>
                </a:solidFill>
                <a:latin typeface="Arial"/>
                <a:ea typeface="Arial"/>
                <a:cs typeface="Arial"/>
              </a:rPr>
              <a:t>GUARD v1.0</a:t>
            </a:r>
          </a:p>
        </p:txBody>
      </p:sp>
    </p:spTree>
    <p:extLst>
      <p:ext uri="{BB962C8B-B14F-4D97-AF65-F5344CB8AC3E}">
        <p14:creationId xmlns:p14="http://schemas.microsoft.com/office/powerpoint/2010/main" val="14256669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999899-1095-4D0A-8059-A69F2E11E060}"/>
              </a:ext>
            </a:extLst>
          </p:cNvPr>
          <p:cNvSpPr>
            <a:spLocks xmlns:a="http://schemas.openxmlformats.org/drawingml/2006/main" noGrp="1"/>
          </p:cNvSpPr>
          <p:nvPr/>
        </p:nvSpPr>
        <p:spPr>
          <a:xfrm xmlns:a="http://schemas.openxmlformats.org/drawingml/2006/main">
            <a:off x="1238250" y="1162050"/>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a:solidFill>
                  <a:srgbClr val="7B27C9"/>
                </a:solidFill>
                <a:latin typeface="Arial"/>
                <a:ea typeface="Arial"/>
                <a:cs typeface="Arial"/>
              </a:defRPr>
            </a:pPr>
            <a:r>
              <a:rPr sz="2925" b="1">
                <a:solidFill>
                  <a:srgbClr val="7B27C9"/>
                </a:solidFill>
                <a:latin typeface="Arial"/>
                <a:ea typeface="Arial"/>
                <a:cs typeface="Arial"/>
              </a:rPr>
              <a:t>TARGET USER</a:t>
            </a:r>
          </a:p>
        </p:txBody>
      </p:sp>
      <p:sp>
        <p:nvSpPr>
          <p:cNvPr id="2" name="">
            <a:extLst xmlns:a="http://schemas.openxmlformats.org/drawingml/2006/main">
              <a:ext uri="{FF2B5EF4-FFF2-40B4-BE49-F238E27FC236}">
                <a16:creationId xmlns:a16="http://schemas.microsoft.com/office/drawing/2014/main" id="{54CDAC03-A9E4-40AB-8969-1A47F9A23824}"/>
              </a:ext>
            </a:extLst>
          </p:cNvPr>
          <p:cNvSpPr>
            <a:spLocks xmlns:a="http://schemas.openxmlformats.org/drawingml/2006/main" noGrp="1"/>
          </p:cNvSpPr>
          <p:nvPr/>
        </p:nvSpPr>
        <p:spPr>
          <a:xfrm xmlns:a="http://schemas.openxmlformats.org/drawingml/2006/main">
            <a:off x="1238250" y="21145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90A2C"/>
                </a:solidFill>
                <a:latin typeface="Arial"/>
                <a:ea typeface="Arial"/>
                <a:cs typeface="Arial"/>
              </a:defRPr>
            </a:pPr>
            <a:r>
              <a:rPr sz="1275" b="1">
                <a:solidFill>
                  <a:srgbClr val="190A2C"/>
                </a:solidFill>
                <a:latin typeface="Arial"/>
                <a:ea typeface="Arial"/>
                <a:cs typeface="Arial"/>
              </a:rPr>
              <a:t>Name:</a:t>
            </a:r>
          </a:p>
        </p:txBody>
      </p:sp>
      <p:sp>
        <p:nvSpPr>
          <p:cNvPr id="3" name="">
            <a:extLst xmlns:a="http://schemas.openxmlformats.org/drawingml/2006/main">
              <a:ext uri="{FF2B5EF4-FFF2-40B4-BE49-F238E27FC236}">
                <a16:creationId xmlns:a16="http://schemas.microsoft.com/office/drawing/2014/main" id="{5A2B91D2-DA5F-4623-9CBB-F327D8F77761}"/>
              </a:ext>
            </a:extLst>
          </p:cNvPr>
          <p:cNvSpPr>
            <a:spLocks xmlns:a="http://schemas.openxmlformats.org/drawingml/2006/main" noGrp="1"/>
          </p:cNvSpPr>
          <p:nvPr/>
        </p:nvSpPr>
        <p:spPr>
          <a:xfrm xmlns:a="http://schemas.openxmlformats.org/drawingml/2006/main">
            <a:off x="2066925" y="21145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Ama Mensah</a:t>
            </a:r>
          </a:p>
        </p:txBody>
      </p:sp>
      <p:sp>
        <p:nvSpPr>
          <p:cNvPr id="4" name="">
            <a:extLst xmlns:a="http://schemas.openxmlformats.org/drawingml/2006/main">
              <a:ext uri="{FF2B5EF4-FFF2-40B4-BE49-F238E27FC236}">
                <a16:creationId xmlns:a16="http://schemas.microsoft.com/office/drawing/2014/main" id="{136733D1-3458-4F6D-9636-A59E4B9D940C}"/>
              </a:ext>
            </a:extLst>
          </p:cNvPr>
          <p:cNvSpPr>
            <a:spLocks xmlns:a="http://schemas.openxmlformats.org/drawingml/2006/main" noGrp="1"/>
          </p:cNvSpPr>
          <p:nvPr/>
        </p:nvSpPr>
        <p:spPr>
          <a:xfrm xmlns:a="http://schemas.openxmlformats.org/drawingml/2006/main">
            <a:off x="1238250" y="2390775"/>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90A2C"/>
                </a:solidFill>
                <a:latin typeface="Arial"/>
                <a:ea typeface="Arial"/>
                <a:cs typeface="Arial"/>
              </a:defRPr>
            </a:pPr>
            <a:r>
              <a:rPr sz="1275" b="1">
                <a:solidFill>
                  <a:srgbClr val="190A2C"/>
                </a:solidFill>
                <a:latin typeface="Arial"/>
                <a:ea typeface="Arial"/>
                <a:cs typeface="Arial"/>
              </a:rPr>
              <a:t>Occupation:</a:t>
            </a:r>
          </a:p>
        </p:txBody>
      </p:sp>
      <p:sp>
        <p:nvSpPr>
          <p:cNvPr id="5" name="">
            <a:extLst xmlns:a="http://schemas.openxmlformats.org/drawingml/2006/main">
              <a:ext uri="{FF2B5EF4-FFF2-40B4-BE49-F238E27FC236}">
                <a16:creationId xmlns:a16="http://schemas.microsoft.com/office/drawing/2014/main" id="{F3FA726B-E2AA-4BA5-9C85-0C21A6E71E40}"/>
              </a:ext>
            </a:extLst>
          </p:cNvPr>
          <p:cNvSpPr>
            <a:spLocks xmlns:a="http://schemas.openxmlformats.org/drawingml/2006/main" noGrp="1"/>
          </p:cNvSpPr>
          <p:nvPr/>
        </p:nvSpPr>
        <p:spPr>
          <a:xfrm xmlns:a="http://schemas.openxmlformats.org/drawingml/2006/main">
            <a:off x="2266950" y="239077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Small business owner</a:t>
            </a:r>
          </a:p>
        </p:txBody>
      </p:sp>
      <p:sp>
        <p:nvSpPr>
          <p:cNvPr id="6" name="">
            <a:extLst xmlns:a="http://schemas.openxmlformats.org/drawingml/2006/main">
              <a:ext uri="{FF2B5EF4-FFF2-40B4-BE49-F238E27FC236}">
                <a16:creationId xmlns:a16="http://schemas.microsoft.com/office/drawing/2014/main" id="{2B1D9DE7-E67F-4C74-B95A-F9188B87E9BB}"/>
              </a:ext>
            </a:extLst>
          </p:cNvPr>
          <p:cNvSpPr>
            <a:spLocks xmlns:a="http://schemas.openxmlformats.org/drawingml/2006/main" noGrp="1"/>
          </p:cNvSpPr>
          <p:nvPr/>
        </p:nvSpPr>
        <p:spPr>
          <a:xfrm xmlns:a="http://schemas.openxmlformats.org/drawingml/2006/main">
            <a:off x="1238250" y="266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90A2C"/>
                </a:solidFill>
                <a:latin typeface="Arial"/>
                <a:ea typeface="Arial"/>
                <a:cs typeface="Arial"/>
              </a:defRPr>
            </a:pPr>
            <a:r>
              <a:rPr sz="1275" b="1">
                <a:solidFill>
                  <a:srgbClr val="190A2C"/>
                </a:solidFill>
                <a:latin typeface="Arial"/>
                <a:ea typeface="Arial"/>
                <a:cs typeface="Arial"/>
              </a:rPr>
              <a:t>Location:</a:t>
            </a:r>
          </a:p>
        </p:txBody>
      </p:sp>
      <p:sp>
        <p:nvSpPr>
          <p:cNvPr id="7" name="">
            <a:extLst xmlns:a="http://schemas.openxmlformats.org/drawingml/2006/main">
              <a:ext uri="{FF2B5EF4-FFF2-40B4-BE49-F238E27FC236}">
                <a16:creationId xmlns:a16="http://schemas.microsoft.com/office/drawing/2014/main" id="{98166331-26C8-4338-B684-539CC4AA5313}"/>
              </a:ext>
            </a:extLst>
          </p:cNvPr>
          <p:cNvSpPr>
            <a:spLocks xmlns:a="http://schemas.openxmlformats.org/drawingml/2006/main" noGrp="1"/>
          </p:cNvSpPr>
          <p:nvPr/>
        </p:nvSpPr>
        <p:spPr>
          <a:xfrm xmlns:a="http://schemas.openxmlformats.org/drawingml/2006/main">
            <a:off x="2085975" y="26670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Accra, Ghana</a:t>
            </a:r>
          </a:p>
        </p:txBody>
      </p:sp>
      <p:sp>
        <p:nvSpPr>
          <p:cNvPr id="8" name="">
            <a:extLst xmlns:a="http://schemas.openxmlformats.org/drawingml/2006/main">
              <a:ext uri="{FF2B5EF4-FFF2-40B4-BE49-F238E27FC236}">
                <a16:creationId xmlns:a16="http://schemas.microsoft.com/office/drawing/2014/main" id="{A9524730-C47D-4970-BAF7-4A28DA49A273}"/>
              </a:ext>
            </a:extLst>
          </p:cNvPr>
          <p:cNvSpPr>
            <a:spLocks xmlns:a="http://schemas.openxmlformats.org/drawingml/2006/main" noGrp="1"/>
          </p:cNvSpPr>
          <p:nvPr/>
        </p:nvSpPr>
        <p:spPr>
          <a:xfrm xmlns:a="http://schemas.openxmlformats.org/drawingml/2006/main">
            <a:off x="1238250" y="29432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90A2C"/>
                </a:solidFill>
                <a:latin typeface="Arial"/>
                <a:ea typeface="Arial"/>
                <a:cs typeface="Arial"/>
              </a:defRPr>
            </a:pPr>
            <a:r>
              <a:rPr sz="1275" b="1">
                <a:solidFill>
                  <a:srgbClr val="190A2C"/>
                </a:solidFill>
                <a:latin typeface="Arial"/>
                <a:ea typeface="Arial"/>
                <a:cs typeface="Arial"/>
              </a:rPr>
              <a:t>Main device:</a:t>
            </a:r>
          </a:p>
        </p:txBody>
      </p:sp>
      <p:sp>
        <p:nvSpPr>
          <p:cNvPr id="9" name="">
            <a:extLst xmlns:a="http://schemas.openxmlformats.org/drawingml/2006/main">
              <a:ext uri="{FF2B5EF4-FFF2-40B4-BE49-F238E27FC236}">
                <a16:creationId xmlns:a16="http://schemas.microsoft.com/office/drawing/2014/main" id="{FB24F0D4-C91D-4F2F-B8F8-4BC65B3D2076}"/>
              </a:ext>
            </a:extLst>
          </p:cNvPr>
          <p:cNvSpPr>
            <a:spLocks xmlns:a="http://schemas.openxmlformats.org/drawingml/2006/main" noGrp="1"/>
          </p:cNvSpPr>
          <p:nvPr/>
        </p:nvSpPr>
        <p:spPr>
          <a:xfrm xmlns:a="http://schemas.openxmlformats.org/drawingml/2006/main">
            <a:off x="2324100" y="29432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Android smartphone</a:t>
            </a:r>
          </a:p>
        </p:txBody>
      </p:sp>
      <p:sp>
        <p:nvSpPr>
          <p:cNvPr id="10" name="">
            <a:extLst xmlns:a="http://schemas.openxmlformats.org/drawingml/2006/main">
              <a:ext uri="{FF2B5EF4-FFF2-40B4-BE49-F238E27FC236}">
                <a16:creationId xmlns:a16="http://schemas.microsoft.com/office/drawing/2014/main" id="{F04F6ABF-1824-4CEB-9590-95EE98628583}"/>
              </a:ext>
            </a:extLst>
          </p:cNvPr>
          <p:cNvSpPr>
            <a:spLocks xmlns:a="http://schemas.openxmlformats.org/drawingml/2006/main" noGrp="1"/>
          </p:cNvSpPr>
          <p:nvPr/>
        </p:nvSpPr>
        <p:spPr>
          <a:xfrm xmlns:a="http://schemas.openxmlformats.org/drawingml/2006/main">
            <a:off x="1238250" y="39528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7B27C9"/>
                </a:solidFill>
                <a:latin typeface="Arial"/>
                <a:ea typeface="Arial"/>
                <a:cs typeface="Arial"/>
              </a:defRPr>
            </a:pPr>
            <a:r>
              <a:rPr sz="1275" b="1">
                <a:solidFill>
                  <a:srgbClr val="7B27C9"/>
                </a:solidFill>
                <a:latin typeface="Arial"/>
                <a:ea typeface="Arial"/>
                <a:cs typeface="Arial"/>
              </a:rPr>
              <a:t>Pain Points</a:t>
            </a:r>
          </a:p>
        </p:txBody>
      </p:sp>
      <p:sp>
        <p:nvSpPr>
          <p:cNvPr id="11" name="">
            <a:extLst xmlns:a="http://schemas.openxmlformats.org/drawingml/2006/main">
              <a:ext uri="{FF2B5EF4-FFF2-40B4-BE49-F238E27FC236}">
                <a16:creationId xmlns:a16="http://schemas.microsoft.com/office/drawing/2014/main" id="{FBF92FCD-BD7C-4DE3-8FFE-CF37DEFB9491}"/>
              </a:ext>
            </a:extLst>
          </p:cNvPr>
          <p:cNvSpPr>
            <a:spLocks xmlns:a="http://schemas.openxmlformats.org/drawingml/2006/main" noGrp="1"/>
          </p:cNvSpPr>
          <p:nvPr/>
        </p:nvSpPr>
        <p:spPr>
          <a:xfrm xmlns:a="http://schemas.openxmlformats.org/drawingml/2006/main">
            <a:off x="1238250" y="42862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 Suspicious calls and messages</a:t>
            </a:r>
          </a:p>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 No quick way to verify them</a:t>
            </a:r>
          </a:p>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 Fear of losing money or data</a:t>
            </a:r>
          </a:p>
        </p:txBody>
      </p:sp>
      <p:sp>
        <p:nvSpPr>
          <p:cNvPr id="12" name="">
            <a:extLst xmlns:a="http://schemas.openxmlformats.org/drawingml/2006/main">
              <a:ext uri="{FF2B5EF4-FFF2-40B4-BE49-F238E27FC236}">
                <a16:creationId xmlns:a16="http://schemas.microsoft.com/office/drawing/2014/main" id="{D22AF025-5E75-4DA3-9477-173896580E1D}"/>
              </a:ext>
            </a:extLst>
          </p:cNvPr>
          <p:cNvSpPr>
            <a:spLocks xmlns:a="http://schemas.openxmlformats.org/drawingml/2006/main" noGrp="1"/>
          </p:cNvSpPr>
          <p:nvPr/>
        </p:nvSpPr>
        <p:spPr>
          <a:xfrm xmlns:a="http://schemas.openxmlformats.org/drawingml/2006/main">
            <a:off x="3590925" y="395287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7B27C9"/>
                </a:solidFill>
                <a:latin typeface="Arial"/>
                <a:ea typeface="Arial"/>
                <a:cs typeface="Arial"/>
              </a:defRPr>
            </a:pPr>
            <a:r>
              <a:rPr sz="1275" b="1">
                <a:solidFill>
                  <a:srgbClr val="7B27C9"/>
                </a:solidFill>
                <a:latin typeface="Arial"/>
                <a:ea typeface="Arial"/>
                <a:cs typeface="Arial"/>
              </a:rPr>
              <a:t>Goals</a:t>
            </a:r>
          </a:p>
        </p:txBody>
      </p:sp>
      <p:sp>
        <p:nvSpPr>
          <p:cNvPr id="13" name="">
            <a:extLst xmlns:a="http://schemas.openxmlformats.org/drawingml/2006/main">
              <a:ext uri="{FF2B5EF4-FFF2-40B4-BE49-F238E27FC236}">
                <a16:creationId xmlns:a16="http://schemas.microsoft.com/office/drawing/2014/main" id="{A2CFD0F2-35E9-4E86-8B6B-0C0F7F2E4F36}"/>
              </a:ext>
            </a:extLst>
          </p:cNvPr>
          <p:cNvSpPr>
            <a:spLocks xmlns:a="http://schemas.openxmlformats.org/drawingml/2006/main" noGrp="1"/>
          </p:cNvSpPr>
          <p:nvPr/>
        </p:nvSpPr>
        <p:spPr>
          <a:xfrm xmlns:a="http://schemas.openxmlformats.org/drawingml/2006/main">
            <a:off x="3590925" y="4286250"/>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 Know what to trust</a:t>
            </a:r>
          </a:p>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 Stop fraud before acting</a:t>
            </a:r>
          </a:p>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 Protect family and business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96bbb18a0c94d27"/>
          <a:srcRect xmlns:a="http://schemas.openxmlformats.org/drawingml/2006/main" l="26478" t="0" r="26478" b="0"/>
          <a:stretch xmlns:a="http://schemas.openxmlformats.org/drawingml/2006/main">
            <a:fillRect l="0" t="0" r="0" b="0"/>
          </a:stretch>
        </p:blipFill>
        <p:spPr>
          <a:xfrm xmlns:a="http://schemas.openxmlformats.org/drawingml/2006/main">
            <a:off x="6238875" y="1314450"/>
            <a:ext cx="3333750" cy="47244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CD1A0E9-691B-49E8-9CCF-89166DA993E7}"/>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37E26A7-7E16-45C7-BD14-F42F3CA9D59F}"/>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0eb57181fcd40dc"/>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5D9CDA5-6310-477A-A4EF-C1664D7DA402}"/>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19" name="">
            <a:extLst xmlns:a="http://schemas.openxmlformats.org/drawingml/2006/main">
              <a:ext uri="{FF2B5EF4-FFF2-40B4-BE49-F238E27FC236}">
                <a16:creationId xmlns:a16="http://schemas.microsoft.com/office/drawing/2014/main" id="{989BE26E-0174-42E5-AD70-E616C4B0562E}"/>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20" name="">
            <a:extLst xmlns:a="http://schemas.openxmlformats.org/drawingml/2006/main">
              <a:ext uri="{FF2B5EF4-FFF2-40B4-BE49-F238E27FC236}">
                <a16:creationId xmlns:a16="http://schemas.microsoft.com/office/drawing/2014/main" id="{0E9AB028-AE7C-4584-A212-5375DA165004}"/>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02</a:t>
            </a:r>
          </a:p>
        </p:txBody>
      </p:sp>
    </p:spTree>
    <p:extLst>
      <p:ext uri="{BB962C8B-B14F-4D97-AF65-F5344CB8AC3E}">
        <p14:creationId xmlns:p14="http://schemas.microsoft.com/office/powerpoint/2010/main" val="10111645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4C04E97-AB3B-49D8-A5A5-8BA7A8252437}"/>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47450A-99E2-4EFB-B1CA-DD902E77F561}"/>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46FC1C-552E-45DC-A4F1-EBDE1CD7E3BF}"/>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7B27C9"/>
                </a:solidFill>
                <a:latin typeface="Arial"/>
                <a:ea typeface="Arial"/>
                <a:cs typeface="Arial"/>
              </a:defRPr>
            </a:pPr>
            <a:r>
              <a:rPr sz="2775" b="1">
                <a:solidFill>
                  <a:srgbClr val="7B27C9"/>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A22E9BD9-AE84-4D3C-9515-D56F31C5AA73}"/>
              </a:ext>
            </a:extLst>
          </p:cNvPr>
          <p:cNvSpPr>
            <a:spLocks xmlns:a="http://schemas.openxmlformats.org/drawingml/2006/main" noGrp="1"/>
          </p:cNvSpPr>
          <p:nvPr/>
        </p:nvSpPr>
        <p:spPr>
          <a:xfrm xmlns:a="http://schemas.openxmlformats.org/drawingml/2006/main">
            <a:off x="1162050" y="2695575"/>
            <a:ext cx="2905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7B27C9"/>
                </a:solidFill>
                <a:latin typeface="Arial"/>
                <a:ea typeface="Arial"/>
                <a:cs typeface="Arial"/>
              </a:defRPr>
            </a:pPr>
            <a:r>
              <a:rPr sz="4050" b="1">
                <a:solidFill>
                  <a:srgbClr val="7B27C9"/>
                </a:solidFill>
                <a:latin typeface="Arial"/>
                <a:ea typeface="Arial"/>
                <a:cs typeface="Arial"/>
              </a:rPr>
              <a:t>24,778</a:t>
            </a:r>
          </a:p>
        </p:txBody>
      </p:sp>
      <p:sp>
        <p:nvSpPr>
          <p:cNvPr id="5" name="">
            <a:extLst xmlns:a="http://schemas.openxmlformats.org/drawingml/2006/main">
              <a:ext uri="{FF2B5EF4-FFF2-40B4-BE49-F238E27FC236}">
                <a16:creationId xmlns:a16="http://schemas.microsoft.com/office/drawing/2014/main" id="{91F8B3F5-65D0-46E6-9917-901E81655684}"/>
              </a:ext>
            </a:extLst>
          </p:cNvPr>
          <p:cNvSpPr>
            <a:spLocks xmlns:a="http://schemas.openxmlformats.org/drawingml/2006/main" noGrp="1"/>
          </p:cNvSpPr>
          <p:nvPr/>
        </p:nvSpPr>
        <p:spPr>
          <a:xfrm xmlns:a="http://schemas.openxmlformats.org/drawingml/2006/main">
            <a:off x="1162050" y="3390900"/>
            <a:ext cx="4048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4172E"/>
                </a:solidFill>
                <a:latin typeface="Arial"/>
                <a:ea typeface="Arial"/>
                <a:cs typeface="Arial"/>
              </a:defRPr>
            </a:pPr>
            <a:r>
              <a:rPr sz="2025" b="1">
                <a:solidFill>
                  <a:srgbClr val="24172E"/>
                </a:solidFill>
                <a:latin typeface="Arial"/>
                <a:ea typeface="Arial"/>
                <a:cs typeface="Arial"/>
              </a:rPr>
              <a:t>reported financial-sector fraud cases in Ghana in 2025, up 48% from 2024.</a:t>
            </a:r>
          </a:p>
        </p:txBody>
      </p:sp>
      <p:sp>
        <p:nvSpPr>
          <p:cNvPr id="6" name="">
            <a:extLst xmlns:a="http://schemas.openxmlformats.org/drawingml/2006/main">
              <a:ext uri="{FF2B5EF4-FFF2-40B4-BE49-F238E27FC236}">
                <a16:creationId xmlns:a16="http://schemas.microsoft.com/office/drawing/2014/main" id="{FA1FCF29-41A2-4D64-9F17-FADCDC01C89A}"/>
              </a:ext>
            </a:extLst>
          </p:cNvPr>
          <p:cNvSpPr>
            <a:spLocks xmlns:a="http://schemas.openxmlformats.org/drawingml/2006/main" noGrp="1"/>
          </p:cNvSpPr>
          <p:nvPr/>
        </p:nvSpPr>
        <p:spPr>
          <a:xfrm xmlns:a="http://schemas.openxmlformats.org/drawingml/2006/main">
            <a:off x="1162050" y="45910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6F6676"/>
                </a:solidFill>
                <a:latin typeface="Arial"/>
                <a:ea typeface="Arial"/>
                <a:cs typeface="Arial"/>
              </a:defRPr>
            </a:pPr>
            <a:r>
              <a:rPr sz="1425" b="0">
                <a:solidFill>
                  <a:srgbClr val="6F6676"/>
                </a:solidFill>
                <a:latin typeface="Arial"/>
                <a:ea typeface="Arial"/>
                <a:cs typeface="Arial"/>
              </a:rPr>
              <a:t>Fraud reaches users through calls, SMS, email, links and chat before money changes hands.</a:t>
            </a:r>
          </a:p>
        </p:txBody>
      </p:sp>
      <p:sp>
        <p:nvSpPr>
          <p:cNvPr id="7" name="">
            <a:extLst xmlns:a="http://schemas.openxmlformats.org/drawingml/2006/main">
              <a:ext uri="{FF2B5EF4-FFF2-40B4-BE49-F238E27FC236}">
                <a16:creationId xmlns:a16="http://schemas.microsoft.com/office/drawing/2014/main" id="{80FB50AA-4881-4989-878D-14FE51A72D66}"/>
              </a:ext>
            </a:extLst>
          </p:cNvPr>
          <p:cNvSpPr>
            <a:spLocks xmlns:a="http://schemas.openxmlformats.org/drawingml/2006/main" noGrp="1"/>
          </p:cNvSpPr>
          <p:nvPr/>
        </p:nvSpPr>
        <p:spPr>
          <a:xfrm xmlns:a="http://schemas.openxmlformats.org/drawingml/2006/main">
            <a:off x="1162050" y="55816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7B27C9"/>
                </a:solidFill>
                <a:latin typeface="Arial"/>
                <a:ea typeface="Arial"/>
                <a:cs typeface="Arial"/>
              </a:defRPr>
            </a:pPr>
            <a:r>
              <a:rPr sz="900" b="0">
                <a:solidFill>
                  <a:srgbClr val="7B27C9"/>
                </a:solidFill>
                <a:latin typeface="Arial"/>
                <a:ea typeface="Arial"/>
                <a:cs typeface="Arial"/>
              </a:rPr>
              <a:t>Bank of Ghana Fraud Report 2025</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29d253f0e734784"/>
          <a:srcRect xmlns:a="http://schemas.openxmlformats.org/drawingml/2006/main" l="3740" t="0" r="3740" b="0"/>
          <a:stretch xmlns:a="http://schemas.openxmlformats.org/drawingml/2006/main">
            <a:fillRect l="0" t="0" r="0" b="0"/>
          </a:stretch>
        </p:blipFill>
        <p:spPr>
          <a:xfrm xmlns:a="http://schemas.openxmlformats.org/drawingml/2006/main">
            <a:off x="6134100" y="1066800"/>
            <a:ext cx="4048125" cy="5467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E156076-ECDB-4E8F-8560-BF222F7BF5FF}"/>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56BF744-D562-4ABE-971F-9F2B2745B3E7}"/>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b76346332d744a5"/>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00E48BA-E7E5-4C03-8765-EB3D6067CDBE}"/>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13" name="">
            <a:extLst xmlns:a="http://schemas.openxmlformats.org/drawingml/2006/main">
              <a:ext uri="{FF2B5EF4-FFF2-40B4-BE49-F238E27FC236}">
                <a16:creationId xmlns:a16="http://schemas.microsoft.com/office/drawing/2014/main" id="{4E2E1D2C-9B33-4D36-9197-FC4C7E626128}"/>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14" name="">
            <a:extLst xmlns:a="http://schemas.openxmlformats.org/drawingml/2006/main">
              <a:ext uri="{FF2B5EF4-FFF2-40B4-BE49-F238E27FC236}">
                <a16:creationId xmlns:a16="http://schemas.microsoft.com/office/drawing/2014/main" id="{980C0227-2E80-4DA5-8E15-D2D9E0632170}"/>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03</a:t>
            </a:r>
          </a:p>
        </p:txBody>
      </p:sp>
    </p:spTree>
    <p:extLst>
      <p:ext uri="{BB962C8B-B14F-4D97-AF65-F5344CB8AC3E}">
        <p14:creationId xmlns:p14="http://schemas.microsoft.com/office/powerpoint/2010/main" val="13700399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6DA1F42-6D3F-4B67-84D7-F3F2E210A554}"/>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59C5B1-781E-428F-ADBC-F5E72047EB16}"/>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30EDB3-7CBA-4E68-990E-DAD69B312FE0}"/>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7B27C9"/>
                </a:solidFill>
                <a:latin typeface="Arial"/>
                <a:ea typeface="Arial"/>
                <a:cs typeface="Arial"/>
              </a:defRPr>
            </a:pPr>
            <a:r>
              <a:rPr sz="2775" b="1">
                <a:solidFill>
                  <a:srgbClr val="7B27C9"/>
                </a:solidFill>
                <a:latin typeface="Arial"/>
                <a:ea typeface="Arial"/>
                <a:cs typeface="Arial"/>
              </a:rPr>
              <a:t>SOLUTION</a:t>
            </a:r>
          </a:p>
        </p:txBody>
      </p:sp>
      <p:sp>
        <p:nvSpPr>
          <p:cNvPr id="4" name="">
            <a:extLst xmlns:a="http://schemas.openxmlformats.org/drawingml/2006/main">
              <a:ext uri="{FF2B5EF4-FFF2-40B4-BE49-F238E27FC236}">
                <a16:creationId xmlns:a16="http://schemas.microsoft.com/office/drawing/2014/main" id="{41F79868-1A0B-4A00-82A8-631B2736803E}"/>
              </a:ext>
            </a:extLst>
          </p:cNvPr>
          <p:cNvSpPr>
            <a:spLocks xmlns:a="http://schemas.openxmlformats.org/drawingml/2006/main" noGrp="1"/>
          </p:cNvSpPr>
          <p:nvPr/>
        </p:nvSpPr>
        <p:spPr>
          <a:xfrm xmlns:a="http://schemas.openxmlformats.org/drawingml/2006/main">
            <a:off x="1181100" y="2714625"/>
            <a:ext cx="4810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24172E"/>
                </a:solidFill>
                <a:latin typeface="Arial"/>
                <a:ea typeface="Arial"/>
                <a:cs typeface="Arial"/>
              </a:defRPr>
            </a:pPr>
            <a:r>
              <a:rPr sz="1800" b="1">
                <a:solidFill>
                  <a:srgbClr val="24172E"/>
                </a:solidFill>
                <a:latin typeface="Arial"/>
                <a:ea typeface="Arial"/>
                <a:cs typeface="Arial"/>
              </a:rPr>
              <a:t>Guard is a permission-based digital safety companion that assesses suspicious calls, SMS, email, links and supported app notifications.</a:t>
            </a:r>
          </a:p>
        </p:txBody>
      </p:sp>
      <p:sp>
        <p:nvSpPr>
          <p:cNvPr id="5" name="">
            <a:extLst xmlns:a="http://schemas.openxmlformats.org/drawingml/2006/main">
              <a:ext uri="{FF2B5EF4-FFF2-40B4-BE49-F238E27FC236}">
                <a16:creationId xmlns:a16="http://schemas.microsoft.com/office/drawing/2014/main" id="{01C8343A-EAE7-4B9D-AA10-285755954003}"/>
              </a:ext>
            </a:extLst>
          </p:cNvPr>
          <p:cNvSpPr>
            <a:spLocks xmlns:a="http://schemas.openxmlformats.org/drawingml/2006/main" noGrp="1"/>
          </p:cNvSpPr>
          <p:nvPr/>
        </p:nvSpPr>
        <p:spPr>
          <a:xfrm xmlns:a="http://schemas.openxmlformats.org/drawingml/2006/main">
            <a:off x="1181100" y="40005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F6676"/>
                </a:solidFill>
                <a:latin typeface="Arial"/>
                <a:ea typeface="Arial"/>
                <a:cs typeface="Arial"/>
              </a:defRPr>
            </a:pPr>
            <a:r>
              <a:rPr sz="1500" b="0">
                <a:solidFill>
                  <a:srgbClr val="6F6676"/>
                </a:solidFill>
                <a:latin typeface="Arial"/>
                <a:ea typeface="Arial"/>
                <a:cs typeface="Arial"/>
              </a:rPr>
              <a:t>When risk appears, Guard explains the warning and gives the user a safer next action before they click, reply, share a code or send money.</a:t>
            </a:r>
          </a:p>
        </p:txBody>
      </p:sp>
      <p:sp>
        <p:nvSpPr>
          <p:cNvPr id="6" name="">
            <a:extLst xmlns:a="http://schemas.openxmlformats.org/drawingml/2006/main">
              <a:ext uri="{FF2B5EF4-FFF2-40B4-BE49-F238E27FC236}">
                <a16:creationId xmlns:a16="http://schemas.microsoft.com/office/drawing/2014/main" id="{749A9F94-0E44-4975-B2D9-2E143A5E1F24}"/>
              </a:ext>
            </a:extLst>
          </p:cNvPr>
          <p:cNvSpPr>
            <a:spLocks xmlns:a="http://schemas.openxmlformats.org/drawingml/2006/main" noGrp="1"/>
          </p:cNvSpPr>
          <p:nvPr/>
        </p:nvSpPr>
        <p:spPr>
          <a:xfrm xmlns:a="http://schemas.openxmlformats.org/drawingml/2006/main">
            <a:off x="1181100" y="526732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7B27C9"/>
                </a:solidFill>
                <a:latin typeface="Arial"/>
                <a:ea typeface="Arial"/>
                <a:cs typeface="Arial"/>
              </a:defRPr>
            </a:pPr>
            <a:r>
              <a:rPr sz="975" b="1">
                <a:solidFill>
                  <a:srgbClr val="7B27C9"/>
                </a:solidFill>
                <a:latin typeface="Arial"/>
                <a:ea typeface="Arial"/>
                <a:cs typeface="Arial"/>
              </a:rPr>
              <a:t>Current product: working web checker and shared analysis API</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390df1750604908"/>
          <a:stretch xmlns:a="http://schemas.openxmlformats.org/drawingml/2006/main"/>
        </p:blipFill>
        <p:spPr>
          <a:xfrm xmlns:a="http://schemas.openxmlformats.org/drawingml/2006/main">
            <a:off x="6858000" y="2035969"/>
            <a:ext cx="2238375" cy="3357563"/>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c96e5f4588844fe"/>
          <a:stretch xmlns:a="http://schemas.openxmlformats.org/drawingml/2006/main"/>
        </p:blipFill>
        <p:spPr>
          <a:xfrm xmlns:a="http://schemas.openxmlformats.org/drawingml/2006/main">
            <a:off x="7486998" y="2419350"/>
            <a:ext cx="266004" cy="2667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E05DBC1-8660-4DE3-B5CC-FA53503F2E8D}"/>
              </a:ext>
            </a:extLst>
          </p:cNvPr>
          <p:cNvSpPr>
            <a:spLocks xmlns:a="http://schemas.openxmlformats.org/drawingml/2006/main" noGrp="1"/>
          </p:cNvSpPr>
          <p:nvPr/>
        </p:nvSpPr>
        <p:spPr>
          <a:xfrm xmlns:a="http://schemas.openxmlformats.org/drawingml/2006/main">
            <a:off x="7810500" y="2476500"/>
            <a:ext cx="66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a:solidFill>
                  <a:srgbClr val="190A2C"/>
                </a:solidFill>
                <a:latin typeface="Arial"/>
                <a:ea typeface="Arial"/>
                <a:cs typeface="Arial"/>
              </a:defRPr>
            </a:pPr>
            <a:r>
              <a:rPr sz="750" b="1">
                <a:solidFill>
                  <a:srgbClr val="190A2C"/>
                </a:solidFill>
                <a:latin typeface="Arial"/>
                <a:ea typeface="Arial"/>
                <a:cs typeface="Arial"/>
              </a:rPr>
              <a:t>GUARD</a:t>
            </a:r>
          </a:p>
        </p:txBody>
      </p:sp>
      <p:sp>
        <p:nvSpPr>
          <p:cNvPr id="10" name="">
            <a:extLst xmlns:a="http://schemas.openxmlformats.org/drawingml/2006/main">
              <a:ext uri="{FF2B5EF4-FFF2-40B4-BE49-F238E27FC236}">
                <a16:creationId xmlns:a16="http://schemas.microsoft.com/office/drawing/2014/main" id="{C37A2B1B-C1B7-4B9C-8517-118CA127487D}"/>
              </a:ext>
            </a:extLst>
          </p:cNvPr>
          <p:cNvSpPr>
            <a:spLocks xmlns:a="http://schemas.openxmlformats.org/drawingml/2006/main" noGrp="1"/>
          </p:cNvSpPr>
          <p:nvPr/>
        </p:nvSpPr>
        <p:spPr>
          <a:xfrm xmlns:a="http://schemas.openxmlformats.org/drawingml/2006/main">
            <a:off x="7362825" y="3019425"/>
            <a:ext cx="1200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7B27C9"/>
                </a:solidFill>
                <a:latin typeface="Arial"/>
                <a:ea typeface="Arial"/>
                <a:cs typeface="Arial"/>
              </a:defRPr>
            </a:pPr>
            <a:r>
              <a:rPr sz="900" b="1">
                <a:solidFill>
                  <a:srgbClr val="7B27C9"/>
                </a:solidFill>
                <a:latin typeface="Arial"/>
                <a:ea typeface="Arial"/>
                <a:cs typeface="Arial"/>
              </a:rPr>
              <a:t>SMS alert</a:t>
            </a:r>
          </a:p>
        </p:txBody>
      </p:sp>
      <p:sp>
        <p:nvSpPr>
          <p:cNvPr id="11" name="">
            <a:extLst xmlns:a="http://schemas.openxmlformats.org/drawingml/2006/main">
              <a:ext uri="{FF2B5EF4-FFF2-40B4-BE49-F238E27FC236}">
                <a16:creationId xmlns:a16="http://schemas.microsoft.com/office/drawing/2014/main" id="{18CE7E66-0CB5-453D-8DF3-95320B6A52B6}"/>
              </a:ext>
            </a:extLst>
          </p:cNvPr>
          <p:cNvSpPr>
            <a:spLocks xmlns:a="http://schemas.openxmlformats.org/drawingml/2006/main" noGrp="1"/>
          </p:cNvSpPr>
          <p:nvPr/>
        </p:nvSpPr>
        <p:spPr>
          <a:xfrm xmlns:a="http://schemas.openxmlformats.org/drawingml/2006/main">
            <a:off x="7334250" y="3305175"/>
            <a:ext cx="1257300" cy="695325"/>
          </a:xfrm>
          <a:prstGeom xmlns:a="http://schemas.openxmlformats.org/drawingml/2006/main" prst="roundRect">
            <a:avLst>
              <a:gd name="adj" fmla="val 10959"/>
            </a:avLst>
          </a:prstGeom>
          <a:solidFill xmlns:a="http://schemas.openxmlformats.org/drawingml/2006/main">
            <a:srgbClr val="F4EA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87274E-F225-4626-B2DF-A80912707EC4}"/>
              </a:ext>
            </a:extLst>
          </p:cNvPr>
          <p:cNvSpPr>
            <a:spLocks xmlns:a="http://schemas.openxmlformats.org/drawingml/2006/main" noGrp="1"/>
          </p:cNvSpPr>
          <p:nvPr/>
        </p:nvSpPr>
        <p:spPr>
          <a:xfrm xmlns:a="http://schemas.openxmlformats.org/drawingml/2006/main">
            <a:off x="7448550" y="3457575"/>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0">
                <a:solidFill>
                  <a:srgbClr val="24172E"/>
                </a:solidFill>
                <a:latin typeface="Arial"/>
                <a:ea typeface="Arial"/>
                <a:cs typeface="Arial"/>
              </a:defRPr>
            </a:pPr>
            <a:r>
              <a:rPr sz="825" b="0">
                <a:solidFill>
                  <a:srgbClr val="24172E"/>
                </a:solidFill>
                <a:latin typeface="Arial"/>
                <a:ea typeface="Arial"/>
                <a:cs typeface="Arial"/>
              </a:rPr>
              <a:t>Your account is blocked.</a:t>
            </a:r>
          </a:p>
          <a:p xmlns:a="http://schemas.openxmlformats.org/drawingml/2006/main">
            <a:pPr algn="ctr">
              <a:defRPr sz="825" b="0">
                <a:solidFill>
                  <a:srgbClr val="24172E"/>
                </a:solidFill>
                <a:latin typeface="Arial"/>
                <a:ea typeface="Arial"/>
                <a:cs typeface="Arial"/>
              </a:defRPr>
            </a:pPr>
            <a:r>
              <a:rPr sz="825" b="0">
                <a:solidFill>
                  <a:srgbClr val="24172E"/>
                </a:solidFill>
                <a:latin typeface="Arial"/>
                <a:ea typeface="Arial"/>
                <a:cs typeface="Arial"/>
              </a:rPr>
              <a:t>Send the OTP now.</a:t>
            </a:r>
          </a:p>
        </p:txBody>
      </p:sp>
      <p:sp>
        <p:nvSpPr>
          <p:cNvPr id="13" name="">
            <a:extLst xmlns:a="http://schemas.openxmlformats.org/drawingml/2006/main">
              <a:ext uri="{FF2B5EF4-FFF2-40B4-BE49-F238E27FC236}">
                <a16:creationId xmlns:a16="http://schemas.microsoft.com/office/drawing/2014/main" id="{9976C92A-57B5-416B-9891-D16592AD0908}"/>
              </a:ext>
            </a:extLst>
          </p:cNvPr>
          <p:cNvSpPr>
            <a:spLocks xmlns:a="http://schemas.openxmlformats.org/drawingml/2006/main" noGrp="1"/>
          </p:cNvSpPr>
          <p:nvPr/>
        </p:nvSpPr>
        <p:spPr>
          <a:xfrm xmlns:a="http://schemas.openxmlformats.org/drawingml/2006/main">
            <a:off x="7277100" y="4181475"/>
            <a:ext cx="1371600" cy="742950"/>
          </a:xfrm>
          <a:prstGeom xmlns:a="http://schemas.openxmlformats.org/drawingml/2006/main" prst="roundRect">
            <a:avLst>
              <a:gd name="adj" fmla="val 10256"/>
            </a:avLst>
          </a:prstGeom>
          <a:solidFill xmlns:a="http://schemas.openxmlformats.org/drawingml/2006/main">
            <a:srgbClr val="FFE7D0"/>
          </a:solidFill>
          <a:ln xmlns:a="http://schemas.openxmlformats.org/drawingml/2006/main" w="9525">
            <a:solidFill>
              <a:srgbClr val="FF7A18"/>
            </a:solidFill>
          </a:ln>
        </p:spPr>
      </p:sp>
      <p:sp>
        <p:nvSpPr>
          <p:cNvPr id="14" name="">
            <a:extLst xmlns:a="http://schemas.openxmlformats.org/drawingml/2006/main">
              <a:ext uri="{FF2B5EF4-FFF2-40B4-BE49-F238E27FC236}">
                <a16:creationId xmlns:a16="http://schemas.microsoft.com/office/drawing/2014/main" id="{72195B73-9E8E-4E18-AA78-ACDFD17F3A63}"/>
              </a:ext>
            </a:extLst>
          </p:cNvPr>
          <p:cNvSpPr>
            <a:spLocks xmlns:a="http://schemas.openxmlformats.org/drawingml/2006/main" noGrp="1"/>
          </p:cNvSpPr>
          <p:nvPr/>
        </p:nvSpPr>
        <p:spPr>
          <a:xfrm xmlns:a="http://schemas.openxmlformats.org/drawingml/2006/main">
            <a:off x="7381875" y="4295775"/>
            <a:ext cx="11620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600" b="1">
                <a:solidFill>
                  <a:srgbClr val="FF7A18"/>
                </a:solidFill>
                <a:latin typeface="Arial"/>
                <a:ea typeface="Arial"/>
                <a:cs typeface="Arial"/>
              </a:defRPr>
            </a:pPr>
            <a:r>
              <a:rPr sz="600" b="1">
                <a:solidFill>
                  <a:srgbClr val="FF7A18"/>
                </a:solidFill>
                <a:latin typeface="Arial"/>
                <a:ea typeface="Arial"/>
                <a:cs typeface="Arial"/>
              </a:rPr>
              <a:t>HIGH RISK</a:t>
            </a:r>
          </a:p>
        </p:txBody>
      </p:sp>
      <p:sp>
        <p:nvSpPr>
          <p:cNvPr id="15" name="">
            <a:extLst xmlns:a="http://schemas.openxmlformats.org/drawingml/2006/main">
              <a:ext uri="{FF2B5EF4-FFF2-40B4-BE49-F238E27FC236}">
                <a16:creationId xmlns:a16="http://schemas.microsoft.com/office/drawing/2014/main" id="{164EC5B5-68A8-41C5-8291-6811F4FF6555}"/>
              </a:ext>
            </a:extLst>
          </p:cNvPr>
          <p:cNvSpPr>
            <a:spLocks xmlns:a="http://schemas.openxmlformats.org/drawingml/2006/main" noGrp="1"/>
          </p:cNvSpPr>
          <p:nvPr/>
        </p:nvSpPr>
        <p:spPr>
          <a:xfrm xmlns:a="http://schemas.openxmlformats.org/drawingml/2006/main">
            <a:off x="7391400" y="4533900"/>
            <a:ext cx="1143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750" b="1">
                <a:solidFill>
                  <a:srgbClr val="190A2C"/>
                </a:solidFill>
                <a:latin typeface="Arial"/>
                <a:ea typeface="Arial"/>
                <a:cs typeface="Arial"/>
              </a:defRPr>
            </a:pPr>
            <a:r>
              <a:rPr sz="750" b="1">
                <a:solidFill>
                  <a:srgbClr val="190A2C"/>
                </a:solidFill>
                <a:latin typeface="Arial"/>
                <a:ea typeface="Arial"/>
                <a:cs typeface="Arial"/>
              </a:rPr>
              <a:t>Do not share the code.</a:t>
            </a:r>
          </a:p>
          <a:p xmlns:a="http://schemas.openxmlformats.org/drawingml/2006/main">
            <a:pPr algn="ctr">
              <a:defRPr sz="750" b="1">
                <a:solidFill>
                  <a:srgbClr val="190A2C"/>
                </a:solidFill>
                <a:latin typeface="Arial"/>
                <a:ea typeface="Arial"/>
                <a:cs typeface="Arial"/>
              </a:defRPr>
            </a:pPr>
            <a:r>
              <a:rPr sz="750" b="1">
                <a:solidFill>
                  <a:srgbClr val="190A2C"/>
                </a:solidFill>
                <a:latin typeface="Arial"/>
                <a:ea typeface="Arial"/>
                <a:cs typeface="Arial"/>
              </a:rPr>
              <a:t>Verify independently.</a:t>
            </a:r>
          </a:p>
        </p:txBody>
      </p:sp>
      <p:sp>
        <p:nvSpPr>
          <p:cNvPr id="16" name="">
            <a:extLst xmlns:a="http://schemas.openxmlformats.org/drawingml/2006/main">
              <a:ext uri="{FF2B5EF4-FFF2-40B4-BE49-F238E27FC236}">
                <a16:creationId xmlns:a16="http://schemas.microsoft.com/office/drawing/2014/main" id="{B36CDC02-B278-4A3D-A1F8-B41E9447BB8D}"/>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163337-2CBB-4F31-92A1-457D82ED3B25}"/>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10dda89f5964636"/>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501B673A-77E3-4874-8BAC-678AEDE3BCAD}"/>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20" name="">
            <a:extLst xmlns:a="http://schemas.openxmlformats.org/drawingml/2006/main">
              <a:ext uri="{FF2B5EF4-FFF2-40B4-BE49-F238E27FC236}">
                <a16:creationId xmlns:a16="http://schemas.microsoft.com/office/drawing/2014/main" id="{68349871-D5B8-402D-B017-1783B12AA793}"/>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21" name="">
            <a:extLst xmlns:a="http://schemas.openxmlformats.org/drawingml/2006/main">
              <a:ext uri="{FF2B5EF4-FFF2-40B4-BE49-F238E27FC236}">
                <a16:creationId xmlns:a16="http://schemas.microsoft.com/office/drawing/2014/main" id="{2D074D90-F9C0-4656-96F3-815DE2DA0C3A}"/>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04</a:t>
            </a:r>
          </a:p>
        </p:txBody>
      </p:sp>
    </p:spTree>
    <p:extLst>
      <p:ext uri="{BB962C8B-B14F-4D97-AF65-F5344CB8AC3E}">
        <p14:creationId xmlns:p14="http://schemas.microsoft.com/office/powerpoint/2010/main" val="139389131"/>
      </p:ext>
    </p:extLst>
  </p:cSld>
</p:sld>
</file>

<file path=ppt/slides/slide5.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2F18040-A802-4B90-8893-78C040F2F829}"/>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405D1D-EA6F-4988-A0AA-583C4FF57B64}"/>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DF35E9-59A9-4E9D-B1BB-77ED1BB4CA46}"/>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7B27C9"/>
                </a:solidFill>
                <a:latin typeface="Arial"/>
                <a:ea typeface="Arial"/>
                <a:cs typeface="Arial"/>
              </a:defRPr>
            </a:pPr>
            <a:r>
              <a:rPr sz="2775" b="1">
                <a:solidFill>
                  <a:srgbClr val="7B27C9"/>
                </a:solidFill>
                <a:latin typeface="Arial"/>
                <a:ea typeface="Arial"/>
                <a:cs typeface="Arial"/>
              </a:rPr>
              <a:t>IMPACT</a:t>
            </a:r>
          </a:p>
        </p:txBody>
      </p:sp>
      <p:sp>
        <p:nvSpPr>
          <p:cNvPr id="4" name="">
            <a:extLst xmlns:a="http://schemas.openxmlformats.org/drawingml/2006/main">
              <a:ext uri="{FF2B5EF4-FFF2-40B4-BE49-F238E27FC236}">
                <a16:creationId xmlns:a16="http://schemas.microsoft.com/office/drawing/2014/main" id="{7CC0D2E3-B6B3-4060-AC3C-82A3D145E01A}"/>
              </a:ext>
            </a:extLst>
          </p:cNvPr>
          <p:cNvSpPr>
            <a:spLocks xmlns:a="http://schemas.openxmlformats.org/drawingml/2006/main" noGrp="1"/>
          </p:cNvSpPr>
          <p:nvPr/>
        </p:nvSpPr>
        <p:spPr>
          <a:xfrm xmlns:a="http://schemas.openxmlformats.org/drawingml/2006/main">
            <a:off x="1162050" y="2324100"/>
            <a:ext cx="1905000" cy="466725"/>
          </a:xfrm>
          <a:prstGeom xmlns:a="http://schemas.openxmlformats.org/drawingml/2006/main" prst="roundRect">
            <a:avLst>
              <a:gd name="adj" fmla="val 16327"/>
            </a:avLst>
          </a:prstGeom>
          <a:solidFill xmlns:a="http://schemas.openxmlformats.org/drawingml/2006/main">
            <a:srgbClr val="7B27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5FDC6D-A993-4379-A923-22C5B1681E09}"/>
              </a:ext>
            </a:extLst>
          </p:cNvPr>
          <p:cNvSpPr>
            <a:spLocks xmlns:a="http://schemas.openxmlformats.org/drawingml/2006/main" noGrp="1"/>
          </p:cNvSpPr>
          <p:nvPr/>
        </p:nvSpPr>
        <p:spPr>
          <a:xfrm xmlns:a="http://schemas.openxmlformats.org/drawingml/2006/main">
            <a:off x="1257300" y="2466975"/>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Financial Safety</a:t>
            </a:r>
          </a:p>
        </p:txBody>
      </p:sp>
      <p:sp>
        <p:nvSpPr>
          <p:cNvPr id="6" name="">
            <a:extLst xmlns:a="http://schemas.openxmlformats.org/drawingml/2006/main">
              <a:ext uri="{FF2B5EF4-FFF2-40B4-BE49-F238E27FC236}">
                <a16:creationId xmlns:a16="http://schemas.microsoft.com/office/drawing/2014/main" id="{7DC60278-F378-45E1-AE10-4E9882C6D2BC}"/>
              </a:ext>
            </a:extLst>
          </p:cNvPr>
          <p:cNvSpPr>
            <a:spLocks xmlns:a="http://schemas.openxmlformats.org/drawingml/2006/main" noGrp="1"/>
          </p:cNvSpPr>
          <p:nvPr/>
        </p:nvSpPr>
        <p:spPr>
          <a:xfrm xmlns:a="http://schemas.openxmlformats.org/drawingml/2006/main">
            <a:off x="1162050" y="2876550"/>
            <a:ext cx="1905000" cy="2076450"/>
          </a:xfrm>
          <a:prstGeom xmlns:a="http://schemas.openxmlformats.org/drawingml/2006/main" prst="roundRect">
            <a:avLst>
              <a:gd name="adj" fmla="val 4000"/>
            </a:avLst>
          </a:prstGeom>
          <a:solidFill xmlns:a="http://schemas.openxmlformats.org/drawingml/2006/main">
            <a:srgbClr val="F4E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9F51F8-EDAC-4BA1-9DB2-34D4B86A01D7}"/>
              </a:ext>
            </a:extLst>
          </p:cNvPr>
          <p:cNvSpPr>
            <a:spLocks xmlns:a="http://schemas.openxmlformats.org/drawingml/2006/main" noGrp="1"/>
          </p:cNvSpPr>
          <p:nvPr/>
        </p:nvSpPr>
        <p:spPr>
          <a:xfrm xmlns:a="http://schemas.openxmlformats.org/drawingml/2006/main">
            <a:off x="1314450" y="3352800"/>
            <a:ext cx="160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Warn users before a fraudulent interaction becomes a financial loss.</a:t>
            </a:r>
          </a:p>
        </p:txBody>
      </p:sp>
      <p:sp>
        <p:nvSpPr>
          <p:cNvPr id="8" name="">
            <a:extLst xmlns:a="http://schemas.openxmlformats.org/drawingml/2006/main">
              <a:ext uri="{FF2B5EF4-FFF2-40B4-BE49-F238E27FC236}">
                <a16:creationId xmlns:a16="http://schemas.microsoft.com/office/drawing/2014/main" id="{33C01BDC-3C80-4FA6-8D9A-641B1D50E4D0}"/>
              </a:ext>
            </a:extLst>
          </p:cNvPr>
          <p:cNvSpPr>
            <a:spLocks xmlns:a="http://schemas.openxmlformats.org/drawingml/2006/main" noGrp="1"/>
          </p:cNvSpPr>
          <p:nvPr/>
        </p:nvSpPr>
        <p:spPr>
          <a:xfrm xmlns:a="http://schemas.openxmlformats.org/drawingml/2006/main">
            <a:off x="3267075" y="2324100"/>
            <a:ext cx="1905000" cy="466725"/>
          </a:xfrm>
          <a:prstGeom xmlns:a="http://schemas.openxmlformats.org/drawingml/2006/main" prst="roundRect">
            <a:avLst>
              <a:gd name="adj" fmla="val 16327"/>
            </a:avLst>
          </a:prstGeom>
          <a:solidFill xmlns:a="http://schemas.openxmlformats.org/drawingml/2006/main">
            <a:srgbClr val="7B27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D7FCE1-EA10-451A-8A6F-167CA8B3429C}"/>
              </a:ext>
            </a:extLst>
          </p:cNvPr>
          <p:cNvSpPr>
            <a:spLocks xmlns:a="http://schemas.openxmlformats.org/drawingml/2006/main" noGrp="1"/>
          </p:cNvSpPr>
          <p:nvPr/>
        </p:nvSpPr>
        <p:spPr>
          <a:xfrm xmlns:a="http://schemas.openxmlformats.org/drawingml/2006/main">
            <a:off x="3362325" y="2466975"/>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Digital Trust</a:t>
            </a:r>
          </a:p>
        </p:txBody>
      </p:sp>
      <p:sp>
        <p:nvSpPr>
          <p:cNvPr id="10" name="">
            <a:extLst xmlns:a="http://schemas.openxmlformats.org/drawingml/2006/main">
              <a:ext uri="{FF2B5EF4-FFF2-40B4-BE49-F238E27FC236}">
                <a16:creationId xmlns:a16="http://schemas.microsoft.com/office/drawing/2014/main" id="{393102A8-356A-499A-868A-B26813164059}"/>
              </a:ext>
            </a:extLst>
          </p:cNvPr>
          <p:cNvSpPr>
            <a:spLocks xmlns:a="http://schemas.openxmlformats.org/drawingml/2006/main" noGrp="1"/>
          </p:cNvSpPr>
          <p:nvPr/>
        </p:nvSpPr>
        <p:spPr>
          <a:xfrm xmlns:a="http://schemas.openxmlformats.org/drawingml/2006/main">
            <a:off x="3267075" y="2876550"/>
            <a:ext cx="1905000" cy="2076450"/>
          </a:xfrm>
          <a:prstGeom xmlns:a="http://schemas.openxmlformats.org/drawingml/2006/main" prst="roundRect">
            <a:avLst>
              <a:gd name="adj" fmla="val 4000"/>
            </a:avLst>
          </a:prstGeom>
          <a:solidFill xmlns:a="http://schemas.openxmlformats.org/drawingml/2006/main">
            <a:srgbClr val="FFE7D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4CB09E-D7CE-4828-8E1D-46A046B905D7}"/>
              </a:ext>
            </a:extLst>
          </p:cNvPr>
          <p:cNvSpPr>
            <a:spLocks xmlns:a="http://schemas.openxmlformats.org/drawingml/2006/main" noGrp="1"/>
          </p:cNvSpPr>
          <p:nvPr/>
        </p:nvSpPr>
        <p:spPr>
          <a:xfrm xmlns:a="http://schemas.openxmlformats.org/drawingml/2006/main">
            <a:off x="3419475" y="3352800"/>
            <a:ext cx="160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Explain the signals so people can decide with more confidence.</a:t>
            </a:r>
          </a:p>
        </p:txBody>
      </p:sp>
      <p:sp>
        <p:nvSpPr>
          <p:cNvPr id="12" name="">
            <a:extLst xmlns:a="http://schemas.openxmlformats.org/drawingml/2006/main">
              <a:ext uri="{FF2B5EF4-FFF2-40B4-BE49-F238E27FC236}">
                <a16:creationId xmlns:a16="http://schemas.microsoft.com/office/drawing/2014/main" id="{B735505A-381F-4EC4-A03C-8AAACE43CC0E}"/>
              </a:ext>
            </a:extLst>
          </p:cNvPr>
          <p:cNvSpPr>
            <a:spLocks xmlns:a="http://schemas.openxmlformats.org/drawingml/2006/main" noGrp="1"/>
          </p:cNvSpPr>
          <p:nvPr/>
        </p:nvSpPr>
        <p:spPr>
          <a:xfrm xmlns:a="http://schemas.openxmlformats.org/drawingml/2006/main">
            <a:off x="5372100" y="2324100"/>
            <a:ext cx="1905000" cy="466725"/>
          </a:xfrm>
          <a:prstGeom xmlns:a="http://schemas.openxmlformats.org/drawingml/2006/main" prst="roundRect">
            <a:avLst>
              <a:gd name="adj" fmla="val 16327"/>
            </a:avLst>
          </a:prstGeom>
          <a:solidFill xmlns:a="http://schemas.openxmlformats.org/drawingml/2006/main">
            <a:srgbClr val="7B27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F482F3D-C49A-4870-9E8F-A3FA604D191C}"/>
              </a:ext>
            </a:extLst>
          </p:cNvPr>
          <p:cNvSpPr>
            <a:spLocks xmlns:a="http://schemas.openxmlformats.org/drawingml/2006/main" noGrp="1"/>
          </p:cNvSpPr>
          <p:nvPr/>
        </p:nvSpPr>
        <p:spPr>
          <a:xfrm xmlns:a="http://schemas.openxmlformats.org/drawingml/2006/main">
            <a:off x="5467350" y="2466975"/>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Inclusion</a:t>
            </a:r>
          </a:p>
        </p:txBody>
      </p:sp>
      <p:sp>
        <p:nvSpPr>
          <p:cNvPr id="14" name="">
            <a:extLst xmlns:a="http://schemas.openxmlformats.org/drawingml/2006/main">
              <a:ext uri="{FF2B5EF4-FFF2-40B4-BE49-F238E27FC236}">
                <a16:creationId xmlns:a16="http://schemas.microsoft.com/office/drawing/2014/main" id="{449F675A-C65C-425D-B8B1-A4C12A86D87F}"/>
              </a:ext>
            </a:extLst>
          </p:cNvPr>
          <p:cNvSpPr>
            <a:spLocks xmlns:a="http://schemas.openxmlformats.org/drawingml/2006/main" noGrp="1"/>
          </p:cNvSpPr>
          <p:nvPr/>
        </p:nvSpPr>
        <p:spPr>
          <a:xfrm xmlns:a="http://schemas.openxmlformats.org/drawingml/2006/main">
            <a:off x="5372100" y="2876550"/>
            <a:ext cx="1905000" cy="2076450"/>
          </a:xfrm>
          <a:prstGeom xmlns:a="http://schemas.openxmlformats.org/drawingml/2006/main" prst="roundRect">
            <a:avLst>
              <a:gd name="adj" fmla="val 4000"/>
            </a:avLst>
          </a:prstGeom>
          <a:solidFill xmlns:a="http://schemas.openxmlformats.org/drawingml/2006/main">
            <a:srgbClr val="F4EA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039E63-6B6D-4D1D-A0B6-B18A5DE9448B}"/>
              </a:ext>
            </a:extLst>
          </p:cNvPr>
          <p:cNvSpPr>
            <a:spLocks xmlns:a="http://schemas.openxmlformats.org/drawingml/2006/main" noGrp="1"/>
          </p:cNvSpPr>
          <p:nvPr/>
        </p:nvSpPr>
        <p:spPr>
          <a:xfrm xmlns:a="http://schemas.openxmlformats.org/drawingml/2006/main">
            <a:off x="5524500" y="3352800"/>
            <a:ext cx="160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Make fraud guidance clear for everyday users, families and small businesses.</a:t>
            </a:r>
          </a:p>
        </p:txBody>
      </p:sp>
      <p:sp>
        <p:nvSpPr>
          <p:cNvPr id="16" name="">
            <a:extLst xmlns:a="http://schemas.openxmlformats.org/drawingml/2006/main">
              <a:ext uri="{FF2B5EF4-FFF2-40B4-BE49-F238E27FC236}">
                <a16:creationId xmlns:a16="http://schemas.microsoft.com/office/drawing/2014/main" id="{525FB404-D444-4A98-AE6F-809DC7D4C20E}"/>
              </a:ext>
            </a:extLst>
          </p:cNvPr>
          <p:cNvSpPr>
            <a:spLocks xmlns:a="http://schemas.openxmlformats.org/drawingml/2006/main" noGrp="1"/>
          </p:cNvSpPr>
          <p:nvPr/>
        </p:nvSpPr>
        <p:spPr>
          <a:xfrm xmlns:a="http://schemas.openxmlformats.org/drawingml/2006/main">
            <a:off x="7477125" y="2324100"/>
            <a:ext cx="1905000" cy="466725"/>
          </a:xfrm>
          <a:prstGeom xmlns:a="http://schemas.openxmlformats.org/drawingml/2006/main" prst="roundRect">
            <a:avLst>
              <a:gd name="adj" fmla="val 16327"/>
            </a:avLst>
          </a:prstGeom>
          <a:solidFill xmlns:a="http://schemas.openxmlformats.org/drawingml/2006/main">
            <a:srgbClr val="7B27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C37AECB-ED91-4F7C-ABAE-D571CD05B87B}"/>
              </a:ext>
            </a:extLst>
          </p:cNvPr>
          <p:cNvSpPr>
            <a:spLocks xmlns:a="http://schemas.openxmlformats.org/drawingml/2006/main" noGrp="1"/>
          </p:cNvSpPr>
          <p:nvPr/>
        </p:nvSpPr>
        <p:spPr>
          <a:xfrm xmlns:a="http://schemas.openxmlformats.org/drawingml/2006/main">
            <a:off x="7572375" y="2466975"/>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Local Intelligence</a:t>
            </a:r>
          </a:p>
        </p:txBody>
      </p:sp>
      <p:sp>
        <p:nvSpPr>
          <p:cNvPr id="18" name="">
            <a:extLst xmlns:a="http://schemas.openxmlformats.org/drawingml/2006/main">
              <a:ext uri="{FF2B5EF4-FFF2-40B4-BE49-F238E27FC236}">
                <a16:creationId xmlns:a16="http://schemas.microsoft.com/office/drawing/2014/main" id="{5C99038D-C0C8-4AE0-95A0-2352BB2F339C}"/>
              </a:ext>
            </a:extLst>
          </p:cNvPr>
          <p:cNvSpPr>
            <a:spLocks xmlns:a="http://schemas.openxmlformats.org/drawingml/2006/main" noGrp="1"/>
          </p:cNvSpPr>
          <p:nvPr/>
        </p:nvSpPr>
        <p:spPr>
          <a:xfrm xmlns:a="http://schemas.openxmlformats.org/drawingml/2006/main">
            <a:off x="7477125" y="2876550"/>
            <a:ext cx="1905000" cy="2076450"/>
          </a:xfrm>
          <a:prstGeom xmlns:a="http://schemas.openxmlformats.org/drawingml/2006/main" prst="roundRect">
            <a:avLst>
              <a:gd name="adj" fmla="val 4000"/>
            </a:avLst>
          </a:prstGeom>
          <a:solidFill xmlns:a="http://schemas.openxmlformats.org/drawingml/2006/main">
            <a:srgbClr val="FFE7D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F000B0-F78B-4FBD-A6D4-53B3F8D1BCF3}"/>
              </a:ext>
            </a:extLst>
          </p:cNvPr>
          <p:cNvSpPr>
            <a:spLocks xmlns:a="http://schemas.openxmlformats.org/drawingml/2006/main" noGrp="1"/>
          </p:cNvSpPr>
          <p:nvPr/>
        </p:nvSpPr>
        <p:spPr>
          <a:xfrm xmlns:a="http://schemas.openxmlformats.org/drawingml/2006/main">
            <a:off x="7629525" y="3352800"/>
            <a:ext cx="160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172E"/>
                </a:solidFill>
                <a:latin typeface="Arial"/>
                <a:ea typeface="Arial"/>
                <a:cs typeface="Arial"/>
              </a:defRPr>
            </a:pPr>
            <a:r>
              <a:rPr sz="1275" b="0">
                <a:solidFill>
                  <a:srgbClr val="24172E"/>
                </a:solidFill>
                <a:latin typeface="Arial"/>
                <a:ea typeface="Arial"/>
                <a:cs typeface="Arial"/>
              </a:rPr>
              <a:t>Use consented reports to improve detection of Ghana-specific fraud patterns.</a:t>
            </a:r>
          </a:p>
        </p:txBody>
      </p:sp>
      <p:sp>
        <p:nvSpPr>
          <p:cNvPr id="20" name="">
            <a:extLst xmlns:a="http://schemas.openxmlformats.org/drawingml/2006/main">
              <a:ext uri="{FF2B5EF4-FFF2-40B4-BE49-F238E27FC236}">
                <a16:creationId xmlns:a16="http://schemas.microsoft.com/office/drawing/2014/main" id="{BC337A47-E81E-4FA6-905D-889D732E8D46}"/>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9295F51-BC1C-4B69-8BA5-5EB8497DC1FD}"/>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27a77d110fd4c6e"/>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769F14C2-2D4A-4002-A036-74C7E325913F}"/>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24" name="">
            <a:extLst xmlns:a="http://schemas.openxmlformats.org/drawingml/2006/main">
              <a:ext uri="{FF2B5EF4-FFF2-40B4-BE49-F238E27FC236}">
                <a16:creationId xmlns:a16="http://schemas.microsoft.com/office/drawing/2014/main" id="{76886F60-1CEF-432E-B438-289C1D6EE755}"/>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25" name="">
            <a:extLst xmlns:a="http://schemas.openxmlformats.org/drawingml/2006/main">
              <a:ext uri="{FF2B5EF4-FFF2-40B4-BE49-F238E27FC236}">
                <a16:creationId xmlns:a16="http://schemas.microsoft.com/office/drawing/2014/main" id="{95090427-C739-4BA0-8AA0-B9271064F29F}"/>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05</a:t>
            </a:r>
          </a:p>
        </p:txBody>
      </p:sp>
    </p:spTree>
    <p:extLst>
      <p:ext uri="{BB962C8B-B14F-4D97-AF65-F5344CB8AC3E}">
        <p14:creationId xmlns:p14="http://schemas.microsoft.com/office/powerpoint/2010/main" val="19310562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D5DC2E-F8D1-4050-B2E1-D6790D14DFD6}"/>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00D1E7-2BE3-4879-8939-DE4197FC7A5C}"/>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B10D94-275C-4B24-A9F9-A79C860F6290}"/>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a:solidFill>
                  <a:srgbClr val="7B27C9"/>
                </a:solidFill>
                <a:latin typeface="Arial"/>
                <a:ea typeface="Arial"/>
                <a:cs typeface="Arial"/>
              </a:defRPr>
            </a:pPr>
            <a:r>
              <a:rPr sz="2625" b="1">
                <a:solidFill>
                  <a:srgbClr val="7B27C9"/>
                </a:solidFill>
                <a:latin typeface="Arial"/>
                <a:ea typeface="Arial"/>
                <a:cs typeface="Arial"/>
              </a:rPr>
              <a:t>COMPETITOR ANALYSIS</a:t>
            </a:r>
          </a:p>
        </p:txBody>
      </p:sp>
      <p:graphicFrame>
        <p:nvGraphicFramePr>
          <p:cNvPr id="15" name=""/>
          <p:cNvGraphicFramePr/>
          <p:nvPr/>
        </p:nvGraphicFramePr>
        <p:xfrm>
          <a:off xmlns:a="http://schemas.openxmlformats.org/drawingml/2006/main" x="876300" y="2428875"/>
          <a:ext xmlns:a="http://schemas.openxmlformats.org/drawingml/2006/main" cx="8934450" cy="2571750"/>
        </p:xfrm>
        <a:graphic xmlns:a="http://schemas.openxmlformats.org/drawingml/2006/main">
          <a:graphicData uri="http://schemas.openxmlformats.org/drawingml/2006/table">
            <a:tbl>
              <a:tblPr/>
              <a:tblGrid>
                <a:gridCol w="1952625"/>
                <a:gridCol w="1381125"/>
                <a:gridCol w="1524000"/>
                <a:gridCol w="1333500"/>
                <a:gridCol w="1333500"/>
                <a:gridCol w="1409700"/>
              </a:tblGrid>
              <a:tr h="514350">
                <a:tc>
                  <a:txBody>
                    <a:bodyPr/>
                    <a:lstStyle/>
                    <a:p>
                      <a:pPr algn="l"/>
                      <a:r>
                        <a:rPr sz="975" b="1">
                          <a:solidFill>
                            <a:srgbClr val="FFFFFF"/>
                          </a:solidFill>
                          <a:latin typeface="Arial"/>
                          <a:ea typeface="Arial"/>
                          <a:cs typeface="Arial"/>
                        </a:rPr>
                        <a:t>Category</a:t>
                      </a:r>
                    </a:p>
                  </a:txBody>
                  <a:tcPr marL="91440" marR="91440" marT="45720" marB="45720" anchor="ctr">
                    <a:solidFill>
                      <a:srgbClr val="7B27C9"/>
                    </a:solidFill>
                  </a:tcPr>
                </a:tc>
                <a:tc>
                  <a:txBody>
                    <a:bodyPr/>
                    <a:lstStyle/>
                    <a:p>
                      <a:pPr algn="ctr"/>
                      <a:r>
                        <a:rPr sz="975" b="1">
                          <a:solidFill>
                            <a:srgbClr val="FFFFFF"/>
                          </a:solidFill>
                          <a:latin typeface="Arial"/>
                          <a:ea typeface="Arial"/>
                          <a:cs typeface="Arial"/>
                        </a:rPr>
                        <a:t>Cross-channel</a:t>
                      </a:r>
                    </a:p>
                  </a:txBody>
                  <a:tcPr marL="91440" marR="91440" marT="45720" marB="45720" anchor="ctr">
                    <a:solidFill>
                      <a:srgbClr val="7B27C9"/>
                    </a:solidFill>
                  </a:tcPr>
                </a:tc>
                <a:tc>
                  <a:txBody>
                    <a:bodyPr/>
                    <a:lstStyle/>
                    <a:p>
                      <a:pPr algn="ctr"/>
                      <a:r>
                        <a:rPr sz="975" b="1">
                          <a:solidFill>
                            <a:srgbClr val="FFFFFF"/>
                          </a:solidFill>
                          <a:latin typeface="Arial"/>
                          <a:ea typeface="Arial"/>
                          <a:cs typeface="Arial"/>
                        </a:rPr>
                        <a:t>Proactive warning</a:t>
                      </a:r>
                    </a:p>
                  </a:txBody>
                  <a:tcPr marL="91440" marR="91440" marT="45720" marB="45720" anchor="ctr">
                    <a:solidFill>
                      <a:srgbClr val="7B27C9"/>
                    </a:solidFill>
                  </a:tcPr>
                </a:tc>
                <a:tc>
                  <a:txBody>
                    <a:bodyPr/>
                    <a:lstStyle/>
                    <a:p>
                      <a:pPr algn="ctr"/>
                      <a:r>
                        <a:rPr sz="975" b="1">
                          <a:solidFill>
                            <a:srgbClr val="FFFFFF"/>
                          </a:solidFill>
                          <a:latin typeface="Arial"/>
                          <a:ea typeface="Arial"/>
                          <a:cs typeface="Arial"/>
                        </a:rPr>
                        <a:t>Local context</a:t>
                      </a:r>
                    </a:p>
                  </a:txBody>
                  <a:tcPr marL="91440" marR="91440" marT="45720" marB="45720" anchor="ctr">
                    <a:solidFill>
                      <a:srgbClr val="7B27C9"/>
                    </a:solidFill>
                  </a:tcPr>
                </a:tc>
                <a:tc>
                  <a:txBody>
                    <a:bodyPr/>
                    <a:lstStyle/>
                    <a:p>
                      <a:pPr algn="ctr"/>
                      <a:r>
                        <a:rPr sz="975" b="1">
                          <a:solidFill>
                            <a:srgbClr val="FFFFFF"/>
                          </a:solidFill>
                          <a:latin typeface="Arial"/>
                          <a:ea typeface="Arial"/>
                          <a:cs typeface="Arial"/>
                        </a:rPr>
                        <a:t>Explains risk</a:t>
                      </a:r>
                    </a:p>
                  </a:txBody>
                  <a:tcPr marL="91440" marR="91440" marT="45720" marB="45720" anchor="ctr">
                    <a:solidFill>
                      <a:srgbClr val="7B27C9"/>
                    </a:solidFill>
                  </a:tcPr>
                </a:tc>
                <a:tc>
                  <a:txBody>
                    <a:bodyPr/>
                    <a:lstStyle/>
                    <a:p>
                      <a:pPr algn="ctr"/>
                      <a:r>
                        <a:rPr sz="975" b="1">
                          <a:solidFill>
                            <a:srgbClr val="FFFFFF"/>
                          </a:solidFill>
                          <a:latin typeface="Arial"/>
                          <a:ea typeface="Arial"/>
                          <a:cs typeface="Arial"/>
                        </a:rPr>
                        <a:t>User cost</a:t>
                      </a:r>
                    </a:p>
                  </a:txBody>
                  <a:tcPr marL="91440" marR="91440" marT="45720" marB="45720" anchor="ctr">
                    <a:solidFill>
                      <a:srgbClr val="7B27C9"/>
                    </a:solidFill>
                  </a:tcPr>
                </a:tc>
              </a:tr>
              <a:tr h="514350">
                <a:tc>
                  <a:txBody>
                    <a:bodyPr/>
                    <a:lstStyle/>
                    <a:p>
                      <a:pPr algn="l"/>
                      <a:r>
                        <a:rPr sz="1050" b="1">
                          <a:solidFill>
                            <a:srgbClr val="24172E"/>
                          </a:solidFill>
                          <a:latin typeface="Arial"/>
                          <a:ea typeface="Arial"/>
                          <a:cs typeface="Arial"/>
                        </a:rPr>
                        <a:t>Guard</a:t>
                      </a:r>
                    </a:p>
                  </a:txBody>
                  <a:tcPr marL="91440" marR="91440" marT="45720" marB="45720" anchor="ctr">
                    <a:solidFill>
                      <a:srgbClr val="F4EAFB"/>
                    </a:solidFill>
                  </a:tcPr>
                </a:tc>
                <a:tc>
                  <a:txBody>
                    <a:bodyPr/>
                    <a:lstStyle/>
                    <a:p>
                      <a:pPr algn="ctr"/>
                      <a:r>
                        <a:rPr sz="1050" b="1">
                          <a:solidFill>
                            <a:srgbClr val="7B27C9"/>
                          </a:solidFill>
                          <a:latin typeface="Arial"/>
                          <a:ea typeface="Arial"/>
                          <a:cs typeface="Arial"/>
                        </a:rPr>
                        <a:t>Yes</a:t>
                      </a:r>
                    </a:p>
                  </a:txBody>
                  <a:tcPr marL="91440" marR="91440" marT="45720" marB="45720" anchor="ctr">
                    <a:solidFill>
                      <a:srgbClr val="F4EAFB"/>
                    </a:solidFill>
                  </a:tcPr>
                </a:tc>
                <a:tc>
                  <a:txBody>
                    <a:bodyPr/>
                    <a:lstStyle/>
                    <a:p>
                      <a:pPr algn="ctr"/>
                      <a:r>
                        <a:rPr sz="1050" b="1">
                          <a:solidFill>
                            <a:srgbClr val="7B27C9"/>
                          </a:solidFill>
                          <a:latin typeface="Arial"/>
                          <a:ea typeface="Arial"/>
                          <a:cs typeface="Arial"/>
                        </a:rPr>
                        <a:t>Planned</a:t>
                      </a:r>
                    </a:p>
                  </a:txBody>
                  <a:tcPr marL="91440" marR="91440" marT="45720" marB="45720" anchor="ctr">
                    <a:solidFill>
                      <a:srgbClr val="F4EAFB"/>
                    </a:solidFill>
                  </a:tcPr>
                </a:tc>
                <a:tc>
                  <a:txBody>
                    <a:bodyPr/>
                    <a:lstStyle/>
                    <a:p>
                      <a:pPr algn="ctr"/>
                      <a:r>
                        <a:rPr sz="1050" b="1">
                          <a:solidFill>
                            <a:srgbClr val="7B27C9"/>
                          </a:solidFill>
                          <a:latin typeface="Arial"/>
                          <a:ea typeface="Arial"/>
                          <a:cs typeface="Arial"/>
                        </a:rPr>
                        <a:t>Yes</a:t>
                      </a:r>
                    </a:p>
                  </a:txBody>
                  <a:tcPr marL="91440" marR="91440" marT="45720" marB="45720" anchor="ctr">
                    <a:solidFill>
                      <a:srgbClr val="F4EAFB"/>
                    </a:solidFill>
                  </a:tcPr>
                </a:tc>
                <a:tc>
                  <a:txBody>
                    <a:bodyPr/>
                    <a:lstStyle/>
                    <a:p>
                      <a:pPr algn="ctr"/>
                      <a:r>
                        <a:rPr sz="1050" b="1">
                          <a:solidFill>
                            <a:srgbClr val="7B27C9"/>
                          </a:solidFill>
                          <a:latin typeface="Arial"/>
                          <a:ea typeface="Arial"/>
                          <a:cs typeface="Arial"/>
                        </a:rPr>
                        <a:t>Yes</a:t>
                      </a:r>
                    </a:p>
                  </a:txBody>
                  <a:tcPr marL="91440" marR="91440" marT="45720" marB="45720" anchor="ctr">
                    <a:solidFill>
                      <a:srgbClr val="F4EAFB"/>
                    </a:solidFill>
                  </a:tcPr>
                </a:tc>
                <a:tc>
                  <a:txBody>
                    <a:bodyPr/>
                    <a:lstStyle/>
                    <a:p>
                      <a:pPr algn="ctr"/>
                      <a:r>
                        <a:rPr sz="1050" b="1">
                          <a:solidFill>
                            <a:srgbClr val="7B27C9"/>
                          </a:solidFill>
                          <a:latin typeface="Arial"/>
                          <a:ea typeface="Arial"/>
                          <a:cs typeface="Arial"/>
                        </a:rPr>
                        <a:t>Free + paid</a:t>
                      </a:r>
                    </a:p>
                  </a:txBody>
                  <a:tcPr marL="91440" marR="91440" marT="45720" marB="45720" anchor="ctr">
                    <a:solidFill>
                      <a:srgbClr val="F4EAFB"/>
                    </a:solidFill>
                  </a:tcPr>
                </a:tc>
              </a:tr>
              <a:tr h="514350">
                <a:tc>
                  <a:txBody>
                    <a:bodyPr/>
                    <a:lstStyle/>
                    <a:p>
                      <a:pPr algn="l"/>
                      <a:r>
                        <a:rPr sz="1050" b="1">
                          <a:solidFill>
                            <a:srgbClr val="24172E"/>
                          </a:solidFill>
                          <a:latin typeface="Arial"/>
                          <a:ea typeface="Arial"/>
                          <a:cs typeface="Arial"/>
                        </a:rPr>
                        <a:t>Caller-ID tools</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Limited</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Calls</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Limited</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Limited</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Free + paid</a:t>
                      </a:r>
                    </a:p>
                  </a:txBody>
                  <a:tcPr marL="91440" marR="91440" marT="45720" marB="45720" anchor="ctr">
                    <a:solidFill>
                      <a:srgbClr val="FFFFFF"/>
                    </a:solidFill>
                  </a:tcPr>
                </a:tc>
              </a:tr>
              <a:tr h="514350">
                <a:tc>
                  <a:txBody>
                    <a:bodyPr/>
                    <a:lstStyle/>
                    <a:p>
                      <a:pPr algn="l"/>
                      <a:r>
                        <a:rPr sz="1050" b="1">
                          <a:solidFill>
                            <a:srgbClr val="24172E"/>
                          </a:solidFill>
                          <a:latin typeface="Arial"/>
                          <a:ea typeface="Arial"/>
                          <a:cs typeface="Arial"/>
                        </a:rPr>
                        <a:t>Email spam filters</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No</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Email</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Limited</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Limited</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Bundled</a:t>
                      </a:r>
                    </a:p>
                  </a:txBody>
                  <a:tcPr marL="91440" marR="91440" marT="45720" marB="45720" anchor="ctr">
                    <a:solidFill>
                      <a:srgbClr val="FFFFFF"/>
                    </a:solidFill>
                  </a:tcPr>
                </a:tc>
              </a:tr>
              <a:tr h="514350">
                <a:tc>
                  <a:txBody>
                    <a:bodyPr/>
                    <a:lstStyle/>
                    <a:p>
                      <a:pPr algn="l"/>
                      <a:r>
                        <a:rPr sz="1050" b="1">
                          <a:solidFill>
                            <a:srgbClr val="24172E"/>
                          </a:solidFill>
                          <a:latin typeface="Arial"/>
                          <a:ea typeface="Arial"/>
                          <a:cs typeface="Arial"/>
                        </a:rPr>
                        <a:t>URL checkers</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No</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Manual</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Limited</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Partial</a:t>
                      </a:r>
                    </a:p>
                  </a:txBody>
                  <a:tcPr marL="91440" marR="91440" marT="45720" marB="45720" anchor="ctr">
                    <a:solidFill>
                      <a:srgbClr val="FFFFFF"/>
                    </a:solidFill>
                  </a:tcPr>
                </a:tc>
                <a:tc>
                  <a:txBody>
                    <a:bodyPr/>
                    <a:lstStyle/>
                    <a:p>
                      <a:pPr algn="ctr"/>
                      <a:r>
                        <a:rPr sz="1050" b="0">
                          <a:solidFill>
                            <a:srgbClr val="24172E"/>
                          </a:solidFill>
                          <a:latin typeface="Arial"/>
                          <a:ea typeface="Arial"/>
                          <a:cs typeface="Arial"/>
                        </a:rPr>
                        <a:t>Often free</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6D9150A-AAC3-48BF-9C28-4F4F03D16BBF}"/>
              </a:ext>
            </a:extLst>
          </p:cNvPr>
          <p:cNvSpPr>
            <a:spLocks xmlns:a="http://schemas.openxmlformats.org/drawingml/2006/main" noGrp="1"/>
          </p:cNvSpPr>
          <p:nvPr/>
        </p:nvSpPr>
        <p:spPr>
          <a:xfrm xmlns:a="http://schemas.openxmlformats.org/drawingml/2006/main">
            <a:off x="876300" y="53149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F6676"/>
                </a:solidFill>
                <a:latin typeface="Arial"/>
                <a:ea typeface="Arial"/>
                <a:cs typeface="Arial"/>
              </a:defRPr>
            </a:pPr>
            <a:r>
              <a:rPr sz="900" b="0">
                <a:solidFill>
                  <a:srgbClr val="6F6676"/>
                </a:solidFill>
                <a:latin typeface="Arial"/>
                <a:ea typeface="Arial"/>
                <a:cs typeface="Arial"/>
              </a:rPr>
              <a:t>Category-level comparison. Named competitor validation remains part of customer and market research.</a:t>
            </a:r>
          </a:p>
        </p:txBody>
      </p:sp>
      <p:sp>
        <p:nvSpPr>
          <p:cNvPr id="6" name="">
            <a:extLst xmlns:a="http://schemas.openxmlformats.org/drawingml/2006/main">
              <a:ext uri="{FF2B5EF4-FFF2-40B4-BE49-F238E27FC236}">
                <a16:creationId xmlns:a16="http://schemas.microsoft.com/office/drawing/2014/main" id="{866DECDD-EC51-4A0E-91C4-B59782964FC5}"/>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79F708-9524-46F5-93D6-C1A0072BC9B9}"/>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5d63e18a68546aa"/>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6FFB32C-CC9F-47ED-B167-493E4A10E70C}"/>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10" name="">
            <a:extLst xmlns:a="http://schemas.openxmlformats.org/drawingml/2006/main">
              <a:ext uri="{FF2B5EF4-FFF2-40B4-BE49-F238E27FC236}">
                <a16:creationId xmlns:a16="http://schemas.microsoft.com/office/drawing/2014/main" id="{22E5C906-F869-4806-BBEC-773E8375EEEF}"/>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11" name="">
            <a:extLst xmlns:a="http://schemas.openxmlformats.org/drawingml/2006/main">
              <a:ext uri="{FF2B5EF4-FFF2-40B4-BE49-F238E27FC236}">
                <a16:creationId xmlns:a16="http://schemas.microsoft.com/office/drawing/2014/main" id="{4DE032CC-AEA8-4B47-97C1-FF93FB08D5C5}"/>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06</a:t>
            </a:r>
          </a:p>
        </p:txBody>
      </p:sp>
    </p:spTree>
    <p:extLst>
      <p:ext uri="{BB962C8B-B14F-4D97-AF65-F5344CB8AC3E}">
        <p14:creationId xmlns:p14="http://schemas.microsoft.com/office/powerpoint/2010/main" val="19587446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CA7E90-80DF-4626-8289-075A6BF96AA8}"/>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1AF9F4-E990-4AC5-8389-6FE52EE66061}"/>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34FCF9-F45E-4BFE-B365-511E2D0051DE}"/>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7B27C9"/>
                </a:solidFill>
                <a:latin typeface="Arial"/>
                <a:ea typeface="Arial"/>
                <a:cs typeface="Arial"/>
              </a:defRPr>
            </a:pPr>
            <a:r>
              <a:rPr sz="2775" b="1">
                <a:solidFill>
                  <a:srgbClr val="7B27C9"/>
                </a:solidFill>
                <a:latin typeface="Arial"/>
                <a:ea typeface="Arial"/>
                <a:cs typeface="Arial"/>
              </a:rPr>
              <a:t>MARKET SIZE</a:t>
            </a:r>
          </a:p>
        </p:txBody>
      </p:sp>
      <p:sp>
        <p:nvSpPr>
          <p:cNvPr id="4" name="">
            <a:extLst xmlns:a="http://schemas.openxmlformats.org/drawingml/2006/main">
              <a:ext uri="{FF2B5EF4-FFF2-40B4-BE49-F238E27FC236}">
                <a16:creationId xmlns:a16="http://schemas.microsoft.com/office/drawing/2014/main" id="{4F01F2D0-5CCC-4C75-83D9-816A53A12B98}"/>
              </a:ext>
            </a:extLst>
          </p:cNvPr>
          <p:cNvSpPr>
            <a:spLocks xmlns:a="http://schemas.openxmlformats.org/drawingml/2006/main" noGrp="1"/>
          </p:cNvSpPr>
          <p:nvPr/>
        </p:nvSpPr>
        <p:spPr>
          <a:xfrm xmlns:a="http://schemas.openxmlformats.org/drawingml/2006/main">
            <a:off x="1028700" y="307657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4172E"/>
                </a:solidFill>
                <a:latin typeface="Arial"/>
                <a:ea typeface="Arial"/>
                <a:cs typeface="Arial"/>
              </a:defRPr>
            </a:pPr>
            <a:r>
              <a:rPr sz="1350" b="1">
                <a:solidFill>
                  <a:srgbClr val="24172E"/>
                </a:solidFill>
                <a:latin typeface="Arial"/>
                <a:ea typeface="Arial"/>
                <a:cs typeface="Arial"/>
              </a:rPr>
              <a:t>TAM  Ghana connected market</a:t>
            </a:r>
          </a:p>
        </p:txBody>
      </p:sp>
      <p:sp>
        <p:nvSpPr>
          <p:cNvPr id="5" name="">
            <a:extLst xmlns:a="http://schemas.openxmlformats.org/drawingml/2006/main">
              <a:ext uri="{FF2B5EF4-FFF2-40B4-BE49-F238E27FC236}">
                <a16:creationId xmlns:a16="http://schemas.microsoft.com/office/drawing/2014/main" id="{499CEB58-4B7F-453D-B7A7-E3A1D649CAE5}"/>
              </a:ext>
            </a:extLst>
          </p:cNvPr>
          <p:cNvSpPr>
            <a:spLocks xmlns:a="http://schemas.openxmlformats.org/drawingml/2006/main" noGrp="1"/>
          </p:cNvSpPr>
          <p:nvPr/>
        </p:nvSpPr>
        <p:spPr>
          <a:xfrm xmlns:a="http://schemas.openxmlformats.org/drawingml/2006/main">
            <a:off x="1028700" y="337185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7B27C9"/>
                </a:solidFill>
                <a:latin typeface="Arial"/>
                <a:ea typeface="Arial"/>
                <a:cs typeface="Arial"/>
              </a:defRPr>
            </a:pPr>
            <a:r>
              <a:rPr sz="1275" b="0">
                <a:solidFill>
                  <a:srgbClr val="7B27C9"/>
                </a:solidFill>
                <a:latin typeface="Arial"/>
                <a:ea typeface="Arial"/>
                <a:cs typeface="Arial"/>
              </a:rPr>
              <a:t>30.5 million mobile data subscriptions</a:t>
            </a:r>
          </a:p>
        </p:txBody>
      </p:sp>
      <p:sp>
        <p:nvSpPr>
          <p:cNvPr id="6" name="">
            <a:extLst xmlns:a="http://schemas.openxmlformats.org/drawingml/2006/main">
              <a:ext uri="{FF2B5EF4-FFF2-40B4-BE49-F238E27FC236}">
                <a16:creationId xmlns:a16="http://schemas.microsoft.com/office/drawing/2014/main" id="{0044BD1B-0ECB-406C-A0AF-1C4AF8220D17}"/>
              </a:ext>
            </a:extLst>
          </p:cNvPr>
          <p:cNvSpPr>
            <a:spLocks xmlns:a="http://schemas.openxmlformats.org/drawingml/2006/main" noGrp="1"/>
          </p:cNvSpPr>
          <p:nvPr/>
        </p:nvSpPr>
        <p:spPr>
          <a:xfrm xmlns:a="http://schemas.openxmlformats.org/drawingml/2006/main">
            <a:off x="1028700" y="39338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4172E"/>
                </a:solidFill>
                <a:latin typeface="Arial"/>
                <a:ea typeface="Arial"/>
                <a:cs typeface="Arial"/>
              </a:defRPr>
            </a:pPr>
            <a:r>
              <a:rPr sz="1350" b="1">
                <a:solidFill>
                  <a:srgbClr val="24172E"/>
                </a:solidFill>
                <a:latin typeface="Arial"/>
                <a:ea typeface="Arial"/>
                <a:cs typeface="Arial"/>
              </a:rPr>
              <a:t>SAM  Reachable Android users</a:t>
            </a:r>
          </a:p>
        </p:txBody>
      </p:sp>
      <p:sp>
        <p:nvSpPr>
          <p:cNvPr id="7" name="">
            <a:extLst xmlns:a="http://schemas.openxmlformats.org/drawingml/2006/main">
              <a:ext uri="{FF2B5EF4-FFF2-40B4-BE49-F238E27FC236}">
                <a16:creationId xmlns:a16="http://schemas.microsoft.com/office/drawing/2014/main" id="{E3533504-C51E-416C-893E-2A008D06096E}"/>
              </a:ext>
            </a:extLst>
          </p:cNvPr>
          <p:cNvSpPr>
            <a:spLocks xmlns:a="http://schemas.openxmlformats.org/drawingml/2006/main" noGrp="1"/>
          </p:cNvSpPr>
          <p:nvPr/>
        </p:nvSpPr>
        <p:spPr>
          <a:xfrm xmlns:a="http://schemas.openxmlformats.org/drawingml/2006/main">
            <a:off x="1028700" y="4229100"/>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B27C9"/>
                </a:solidFill>
                <a:latin typeface="Arial"/>
                <a:ea typeface="Arial"/>
                <a:cs typeface="Arial"/>
              </a:defRPr>
            </a:pPr>
            <a:r>
              <a:rPr sz="1200" b="0">
                <a:solidFill>
                  <a:srgbClr val="7B27C9"/>
                </a:solidFill>
                <a:latin typeface="Arial"/>
                <a:ea typeface="Arial"/>
                <a:cs typeface="Arial"/>
              </a:rPr>
              <a:t>To size from device share and permission eligibility</a:t>
            </a:r>
          </a:p>
        </p:txBody>
      </p:sp>
      <p:sp>
        <p:nvSpPr>
          <p:cNvPr id="8" name="">
            <a:extLst xmlns:a="http://schemas.openxmlformats.org/drawingml/2006/main">
              <a:ext uri="{FF2B5EF4-FFF2-40B4-BE49-F238E27FC236}">
                <a16:creationId xmlns:a16="http://schemas.microsoft.com/office/drawing/2014/main" id="{078B9343-3CBA-4708-A6CE-3BC4C7CB724C}"/>
              </a:ext>
            </a:extLst>
          </p:cNvPr>
          <p:cNvSpPr>
            <a:spLocks xmlns:a="http://schemas.openxmlformats.org/drawingml/2006/main" noGrp="1"/>
          </p:cNvSpPr>
          <p:nvPr/>
        </p:nvSpPr>
        <p:spPr>
          <a:xfrm xmlns:a="http://schemas.openxmlformats.org/drawingml/2006/main">
            <a:off x="1028700" y="49530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4172E"/>
                </a:solidFill>
                <a:latin typeface="Arial"/>
                <a:ea typeface="Arial"/>
                <a:cs typeface="Arial"/>
              </a:defRPr>
            </a:pPr>
            <a:r>
              <a:rPr sz="1350" b="1">
                <a:solidFill>
                  <a:srgbClr val="24172E"/>
                </a:solidFill>
                <a:latin typeface="Arial"/>
                <a:ea typeface="Arial"/>
                <a:cs typeface="Arial"/>
              </a:rPr>
              <a:t>SOM  Initial pilot and partner reach</a:t>
            </a:r>
          </a:p>
        </p:txBody>
      </p:sp>
      <p:sp>
        <p:nvSpPr>
          <p:cNvPr id="9" name="">
            <a:extLst xmlns:a="http://schemas.openxmlformats.org/drawingml/2006/main">
              <a:ext uri="{FF2B5EF4-FFF2-40B4-BE49-F238E27FC236}">
                <a16:creationId xmlns:a16="http://schemas.microsoft.com/office/drawing/2014/main" id="{8D784A65-2274-468A-9797-B42C03DC1217}"/>
              </a:ext>
            </a:extLst>
          </p:cNvPr>
          <p:cNvSpPr>
            <a:spLocks xmlns:a="http://schemas.openxmlformats.org/drawingml/2006/main" noGrp="1"/>
          </p:cNvSpPr>
          <p:nvPr/>
        </p:nvSpPr>
        <p:spPr>
          <a:xfrm xmlns:a="http://schemas.openxmlformats.org/drawingml/2006/main">
            <a:off x="1028700" y="5248275"/>
            <a:ext cx="328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7B27C9"/>
                </a:solidFill>
                <a:latin typeface="Arial"/>
                <a:ea typeface="Arial"/>
                <a:cs typeface="Arial"/>
              </a:defRPr>
            </a:pPr>
            <a:r>
              <a:rPr sz="1200" b="0">
                <a:solidFill>
                  <a:srgbClr val="7B27C9"/>
                </a:solidFill>
                <a:latin typeface="Arial"/>
                <a:ea typeface="Arial"/>
                <a:cs typeface="Arial"/>
              </a:rPr>
              <a:t>To validate through pilots and conversion</a:t>
            </a:r>
          </a:p>
        </p:txBody>
      </p:sp>
      <p:sp>
        <p:nvSpPr>
          <p:cNvPr id="10" name="">
            <a:extLst xmlns:a="http://schemas.openxmlformats.org/drawingml/2006/main">
              <a:ext uri="{FF2B5EF4-FFF2-40B4-BE49-F238E27FC236}">
                <a16:creationId xmlns:a16="http://schemas.microsoft.com/office/drawing/2014/main" id="{134F574B-E51D-44EA-A3AD-479C20DCC9DA}"/>
              </a:ext>
            </a:extLst>
          </p:cNvPr>
          <p:cNvSpPr>
            <a:spLocks xmlns:a="http://schemas.openxmlformats.org/drawingml/2006/main" noGrp="1"/>
          </p:cNvSpPr>
          <p:nvPr/>
        </p:nvSpPr>
        <p:spPr>
          <a:xfrm xmlns:a="http://schemas.openxmlformats.org/drawingml/2006/main">
            <a:off x="4810125" y="2571750"/>
            <a:ext cx="1714500" cy="3962400"/>
          </a:xfrm>
          <a:prstGeom xmlns:a="http://schemas.openxmlformats.org/drawingml/2006/main" prst="roundRect">
            <a:avLst>
              <a:gd name="adj" fmla="val 4444"/>
            </a:avLst>
          </a:prstGeom>
          <a:solidFill xmlns:a="http://schemas.openxmlformats.org/drawingml/2006/main">
            <a:srgbClr val="190A2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334681-7358-4B3B-AF98-258BA2C993B2}"/>
              </a:ext>
            </a:extLst>
          </p:cNvPr>
          <p:cNvSpPr>
            <a:spLocks xmlns:a="http://schemas.openxmlformats.org/drawingml/2006/main" noGrp="1"/>
          </p:cNvSpPr>
          <p:nvPr/>
        </p:nvSpPr>
        <p:spPr>
          <a:xfrm xmlns:a="http://schemas.openxmlformats.org/drawingml/2006/main">
            <a:off x="4905375" y="2038350"/>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25" b="1">
                <a:solidFill>
                  <a:srgbClr val="190A2C"/>
                </a:solidFill>
                <a:latin typeface="Arial"/>
                <a:ea typeface="Arial"/>
                <a:cs typeface="Arial"/>
              </a:defRPr>
            </a:pPr>
            <a:r>
              <a:rPr sz="2625" b="1">
                <a:solidFill>
                  <a:srgbClr val="190A2C"/>
                </a:solidFill>
                <a:latin typeface="Arial"/>
                <a:ea typeface="Arial"/>
                <a:cs typeface="Arial"/>
              </a:rPr>
              <a:t>30.5M</a:t>
            </a:r>
          </a:p>
        </p:txBody>
      </p:sp>
      <p:sp>
        <p:nvSpPr>
          <p:cNvPr id="12" name="">
            <a:extLst xmlns:a="http://schemas.openxmlformats.org/drawingml/2006/main">
              <a:ext uri="{FF2B5EF4-FFF2-40B4-BE49-F238E27FC236}">
                <a16:creationId xmlns:a16="http://schemas.microsoft.com/office/drawing/2014/main" id="{28BFFED7-2E56-4D23-9922-07B9AB8C6010}"/>
              </a:ext>
            </a:extLst>
          </p:cNvPr>
          <p:cNvSpPr>
            <a:spLocks xmlns:a="http://schemas.openxmlformats.org/drawingml/2006/main" noGrp="1"/>
          </p:cNvSpPr>
          <p:nvPr/>
        </p:nvSpPr>
        <p:spPr>
          <a:xfrm xmlns:a="http://schemas.openxmlformats.org/drawingml/2006/main">
            <a:off x="5000625" y="3209925"/>
            <a:ext cx="133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Total Addressable</a:t>
            </a:r>
          </a:p>
          <a:p xmlns:a="http://schemas.openxmlformats.org/drawingml/2006/main">
            <a:pPr algn="ctr">
              <a:defRPr sz="1200" b="0">
                <a:solidFill>
                  <a:srgbClr val="FFFFFF"/>
                </a:solidFill>
                <a:latin typeface="Arial"/>
                <a:ea typeface="Arial"/>
                <a:cs typeface="Arial"/>
              </a:defRPr>
            </a:pPr>
            <a:r>
              <a:rPr sz="1200" b="0">
                <a:solidFill>
                  <a:srgbClr val="FFFFFF"/>
                </a:solidFill>
                <a:latin typeface="Arial"/>
                <a:ea typeface="Arial"/>
                <a:cs typeface="Arial"/>
              </a:rPr>
              <a:t>Market</a:t>
            </a:r>
          </a:p>
        </p:txBody>
      </p:sp>
      <p:sp>
        <p:nvSpPr>
          <p:cNvPr id="13" name="">
            <a:extLst xmlns:a="http://schemas.openxmlformats.org/drawingml/2006/main">
              <a:ext uri="{FF2B5EF4-FFF2-40B4-BE49-F238E27FC236}">
                <a16:creationId xmlns:a16="http://schemas.microsoft.com/office/drawing/2014/main" id="{7FA8C034-DF38-46C3-970A-83386687D887}"/>
              </a:ext>
            </a:extLst>
          </p:cNvPr>
          <p:cNvSpPr>
            <a:spLocks xmlns:a="http://schemas.openxmlformats.org/drawingml/2006/main" noGrp="1"/>
          </p:cNvSpPr>
          <p:nvPr/>
        </p:nvSpPr>
        <p:spPr>
          <a:xfrm xmlns:a="http://schemas.openxmlformats.org/drawingml/2006/main">
            <a:off x="6715125" y="3829050"/>
            <a:ext cx="1714500" cy="2705100"/>
          </a:xfrm>
          <a:prstGeom xmlns:a="http://schemas.openxmlformats.org/drawingml/2006/main" prst="roundRect">
            <a:avLst>
              <a:gd name="adj" fmla="val 4444"/>
            </a:avLst>
          </a:prstGeom>
          <a:solidFill xmlns:a="http://schemas.openxmlformats.org/drawingml/2006/main">
            <a:srgbClr val="7B27C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5A894E-BF08-4A05-8F16-E7A680A4D602}"/>
              </a:ext>
            </a:extLst>
          </p:cNvPr>
          <p:cNvSpPr>
            <a:spLocks xmlns:a="http://schemas.openxmlformats.org/drawingml/2006/main" noGrp="1"/>
          </p:cNvSpPr>
          <p:nvPr/>
        </p:nvSpPr>
        <p:spPr>
          <a:xfrm xmlns:a="http://schemas.openxmlformats.org/drawingml/2006/main">
            <a:off x="6810375" y="3276600"/>
            <a:ext cx="152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a:solidFill>
                  <a:srgbClr val="7B27C9"/>
                </a:solidFill>
                <a:latin typeface="Arial"/>
                <a:ea typeface="Arial"/>
                <a:cs typeface="Arial"/>
              </a:defRPr>
            </a:pPr>
            <a:r>
              <a:rPr sz="2025" b="1">
                <a:solidFill>
                  <a:srgbClr val="7B27C9"/>
                </a:solidFill>
                <a:latin typeface="Arial"/>
                <a:ea typeface="Arial"/>
                <a:cs typeface="Arial"/>
              </a:rPr>
              <a:t>TO SIZE</a:t>
            </a:r>
          </a:p>
        </p:txBody>
      </p:sp>
      <p:sp>
        <p:nvSpPr>
          <p:cNvPr id="15" name="">
            <a:extLst xmlns:a="http://schemas.openxmlformats.org/drawingml/2006/main">
              <a:ext uri="{FF2B5EF4-FFF2-40B4-BE49-F238E27FC236}">
                <a16:creationId xmlns:a16="http://schemas.microsoft.com/office/drawing/2014/main" id="{3AAFFF5A-BC60-4942-A362-B27BB4020456}"/>
              </a:ext>
            </a:extLst>
          </p:cNvPr>
          <p:cNvSpPr>
            <a:spLocks xmlns:a="http://schemas.openxmlformats.org/drawingml/2006/main" noGrp="1"/>
          </p:cNvSpPr>
          <p:nvPr/>
        </p:nvSpPr>
        <p:spPr>
          <a:xfrm xmlns:a="http://schemas.openxmlformats.org/drawingml/2006/main">
            <a:off x="6905625" y="4457700"/>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Serviceable</a:t>
            </a:r>
          </a:p>
          <a:p xmlns:a="http://schemas.openxmlformats.org/drawingml/2006/main">
            <a:pPr algn="ctr">
              <a:defRPr sz="1125" b="0">
                <a:solidFill>
                  <a:srgbClr val="FFFFFF"/>
                </a:solidFill>
                <a:latin typeface="Arial"/>
                <a:ea typeface="Arial"/>
                <a:cs typeface="Arial"/>
              </a:defRPr>
            </a:pPr>
            <a:r>
              <a:rPr sz="1125" b="0">
                <a:solidFill>
                  <a:srgbClr val="FFFFFF"/>
                </a:solidFill>
                <a:latin typeface="Arial"/>
                <a:ea typeface="Arial"/>
                <a:cs typeface="Arial"/>
              </a:rPr>
              <a:t>Addressable Market</a:t>
            </a:r>
          </a:p>
        </p:txBody>
      </p:sp>
      <p:sp>
        <p:nvSpPr>
          <p:cNvPr id="16" name="">
            <a:extLst xmlns:a="http://schemas.openxmlformats.org/drawingml/2006/main">
              <a:ext uri="{FF2B5EF4-FFF2-40B4-BE49-F238E27FC236}">
                <a16:creationId xmlns:a16="http://schemas.microsoft.com/office/drawing/2014/main" id="{7D5B1517-FC77-4E3C-AB2C-C687DBA3637C}"/>
              </a:ext>
            </a:extLst>
          </p:cNvPr>
          <p:cNvSpPr>
            <a:spLocks xmlns:a="http://schemas.openxmlformats.org/drawingml/2006/main" noGrp="1"/>
          </p:cNvSpPr>
          <p:nvPr/>
        </p:nvSpPr>
        <p:spPr>
          <a:xfrm xmlns:a="http://schemas.openxmlformats.org/drawingml/2006/main">
            <a:off x="8620125" y="4914900"/>
            <a:ext cx="1562100" cy="1619250"/>
          </a:xfrm>
          <a:prstGeom xmlns:a="http://schemas.openxmlformats.org/drawingml/2006/main" prst="roundRect">
            <a:avLst>
              <a:gd name="adj" fmla="val 4878"/>
            </a:avLst>
          </a:prstGeom>
          <a:solidFill xmlns:a="http://schemas.openxmlformats.org/drawingml/2006/main">
            <a:srgbClr val="FF7A1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5D73478-5789-43EC-B037-4FF1D1C7FC73}"/>
              </a:ext>
            </a:extLst>
          </p:cNvPr>
          <p:cNvSpPr>
            <a:spLocks xmlns:a="http://schemas.openxmlformats.org/drawingml/2006/main" noGrp="1"/>
          </p:cNvSpPr>
          <p:nvPr/>
        </p:nvSpPr>
        <p:spPr>
          <a:xfrm xmlns:a="http://schemas.openxmlformats.org/drawingml/2006/main">
            <a:off x="8667750" y="4400550"/>
            <a:ext cx="146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7A18"/>
                </a:solidFill>
                <a:latin typeface="Arial"/>
                <a:ea typeface="Arial"/>
                <a:cs typeface="Arial"/>
              </a:defRPr>
            </a:pPr>
            <a:r>
              <a:rPr sz="1500" b="1">
                <a:solidFill>
                  <a:srgbClr val="FF7A18"/>
                </a:solidFill>
                <a:latin typeface="Arial"/>
                <a:ea typeface="Arial"/>
                <a:cs typeface="Arial"/>
              </a:rPr>
              <a:t>TO VALIDATE</a:t>
            </a:r>
          </a:p>
        </p:txBody>
      </p:sp>
      <p:sp>
        <p:nvSpPr>
          <p:cNvPr id="18" name="">
            <a:extLst xmlns:a="http://schemas.openxmlformats.org/drawingml/2006/main">
              <a:ext uri="{FF2B5EF4-FFF2-40B4-BE49-F238E27FC236}">
                <a16:creationId xmlns:a16="http://schemas.microsoft.com/office/drawing/2014/main" id="{4060006F-46B4-428A-9D83-F8AAB4056F8F}"/>
              </a:ext>
            </a:extLst>
          </p:cNvPr>
          <p:cNvSpPr>
            <a:spLocks xmlns:a="http://schemas.openxmlformats.org/drawingml/2006/main" noGrp="1"/>
          </p:cNvSpPr>
          <p:nvPr/>
        </p:nvSpPr>
        <p:spPr>
          <a:xfrm xmlns:a="http://schemas.openxmlformats.org/drawingml/2006/main">
            <a:off x="8763000" y="5362575"/>
            <a:ext cx="127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190A2C"/>
                </a:solidFill>
                <a:latin typeface="Arial"/>
                <a:ea typeface="Arial"/>
                <a:cs typeface="Arial"/>
              </a:defRPr>
            </a:pPr>
            <a:r>
              <a:rPr sz="1050" b="1">
                <a:solidFill>
                  <a:srgbClr val="190A2C"/>
                </a:solidFill>
                <a:latin typeface="Arial"/>
                <a:ea typeface="Arial"/>
                <a:cs typeface="Arial"/>
              </a:rPr>
              <a:t>Serviceable</a:t>
            </a:r>
          </a:p>
          <a:p xmlns:a="http://schemas.openxmlformats.org/drawingml/2006/main">
            <a:pPr algn="ctr">
              <a:defRPr sz="1050" b="1">
                <a:solidFill>
                  <a:srgbClr val="190A2C"/>
                </a:solidFill>
                <a:latin typeface="Arial"/>
                <a:ea typeface="Arial"/>
                <a:cs typeface="Arial"/>
              </a:defRPr>
            </a:pPr>
            <a:r>
              <a:rPr sz="1050" b="1">
                <a:solidFill>
                  <a:srgbClr val="190A2C"/>
                </a:solidFill>
                <a:latin typeface="Arial"/>
                <a:ea typeface="Arial"/>
                <a:cs typeface="Arial"/>
              </a:rPr>
              <a:t>Obtainable Market</a:t>
            </a:r>
          </a:p>
        </p:txBody>
      </p:sp>
      <p:sp>
        <p:nvSpPr>
          <p:cNvPr id="19" name="">
            <a:extLst xmlns:a="http://schemas.openxmlformats.org/drawingml/2006/main">
              <a:ext uri="{FF2B5EF4-FFF2-40B4-BE49-F238E27FC236}">
                <a16:creationId xmlns:a16="http://schemas.microsoft.com/office/drawing/2014/main" id="{1E347148-D046-49B8-817A-55CFBF7BE113}"/>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AF70D76-C140-4483-A148-FCD6CD166F25}"/>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c5313bf8a6249d4"/>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3A30936D-81F7-4DD2-89C1-29891BFAF56D}"/>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23" name="">
            <a:extLst xmlns:a="http://schemas.openxmlformats.org/drawingml/2006/main">
              <a:ext uri="{FF2B5EF4-FFF2-40B4-BE49-F238E27FC236}">
                <a16:creationId xmlns:a16="http://schemas.microsoft.com/office/drawing/2014/main" id="{CE1F55A5-9D4E-4E8E-BCCC-6A6F64F2D925}"/>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24" name="">
            <a:extLst xmlns:a="http://schemas.openxmlformats.org/drawingml/2006/main">
              <a:ext uri="{FF2B5EF4-FFF2-40B4-BE49-F238E27FC236}">
                <a16:creationId xmlns:a16="http://schemas.microsoft.com/office/drawing/2014/main" id="{B542EDC4-10F8-4107-B3E0-245A6A3CFC2A}"/>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07</a:t>
            </a:r>
          </a:p>
        </p:txBody>
      </p:sp>
    </p:spTree>
    <p:extLst>
      <p:ext uri="{BB962C8B-B14F-4D97-AF65-F5344CB8AC3E}">
        <p14:creationId xmlns:p14="http://schemas.microsoft.com/office/powerpoint/2010/main" val="174713883"/>
      </p:ext>
    </p:extLst>
  </p:cSld>
</p:sld>
</file>

<file path=ppt/slides/slide8.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37DA4EE-039E-41F2-A6BC-92120C64CF7F}"/>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A3DA1A-B446-41ED-83C8-52C47BDCDA4F}"/>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115143-5D23-4B14-AF58-E24279F7C799}"/>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7B27C9"/>
                </a:solidFill>
                <a:latin typeface="Arial"/>
                <a:ea typeface="Arial"/>
                <a:cs typeface="Arial"/>
              </a:defRPr>
            </a:pPr>
            <a:r>
              <a:rPr sz="2775" b="1">
                <a:solidFill>
                  <a:srgbClr val="7B27C9"/>
                </a:solidFill>
                <a:latin typeface="Arial"/>
                <a:ea typeface="Arial"/>
                <a:cs typeface="Arial"/>
              </a:rPr>
              <a:t>REVENUE MODEL</a:t>
            </a:r>
          </a:p>
        </p:txBody>
      </p:sp>
      <p:sp>
        <p:nvSpPr>
          <p:cNvPr id="4" name="">
            <a:extLst xmlns:a="http://schemas.openxmlformats.org/drawingml/2006/main">
              <a:ext uri="{FF2B5EF4-FFF2-40B4-BE49-F238E27FC236}">
                <a16:creationId xmlns:a16="http://schemas.microsoft.com/office/drawing/2014/main" id="{25E6CEF5-96DE-426C-BDB5-86215FD677EB}"/>
              </a:ext>
            </a:extLst>
          </p:cNvPr>
          <p:cNvSpPr>
            <a:spLocks xmlns:a="http://schemas.openxmlformats.org/drawingml/2006/main" noGrp="1"/>
          </p:cNvSpPr>
          <p:nvPr/>
        </p:nvSpPr>
        <p:spPr>
          <a:xfrm xmlns:a="http://schemas.openxmlformats.org/drawingml/2006/main">
            <a:off x="1181100" y="2524125"/>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24172E"/>
                </a:solidFill>
                <a:latin typeface="Arial"/>
                <a:ea typeface="Arial"/>
                <a:cs typeface="Arial"/>
              </a:defRPr>
            </a:pPr>
            <a:r>
              <a:rPr sz="1500" b="1">
                <a:solidFill>
                  <a:srgbClr val="24172E"/>
                </a:solidFill>
                <a:latin typeface="Arial"/>
                <a:ea typeface="Arial"/>
                <a:cs typeface="Arial"/>
              </a:rPr>
              <a:t>Direct sale  B2C and B2B</a:t>
            </a:r>
          </a:p>
        </p:txBody>
      </p:sp>
      <p:sp>
        <p:nvSpPr>
          <p:cNvPr id="5" name="">
            <a:extLst xmlns:a="http://schemas.openxmlformats.org/drawingml/2006/main">
              <a:ext uri="{FF2B5EF4-FFF2-40B4-BE49-F238E27FC236}">
                <a16:creationId xmlns:a16="http://schemas.microsoft.com/office/drawing/2014/main" id="{49E94123-971A-4BFB-8255-B965B5512BFA}"/>
              </a:ext>
            </a:extLst>
          </p:cNvPr>
          <p:cNvSpPr>
            <a:spLocks xmlns:a="http://schemas.openxmlformats.org/drawingml/2006/main" noGrp="1"/>
          </p:cNvSpPr>
          <p:nvPr/>
        </p:nvSpPr>
        <p:spPr>
          <a:xfrm xmlns:a="http://schemas.openxmlformats.org/drawingml/2006/main">
            <a:off x="1181100" y="3009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7B27C9"/>
                </a:solidFill>
                <a:latin typeface="Arial"/>
                <a:ea typeface="Arial"/>
                <a:cs typeface="Arial"/>
              </a:defRPr>
            </a:pPr>
            <a:r>
              <a:rPr sz="1350" b="1">
                <a:solidFill>
                  <a:srgbClr val="7B27C9"/>
                </a:solidFill>
                <a:latin typeface="Arial"/>
                <a:ea typeface="Arial"/>
                <a:cs typeface="Arial"/>
              </a:rPr>
              <a:t>Free</a:t>
            </a:r>
          </a:p>
        </p:txBody>
      </p:sp>
      <p:sp>
        <p:nvSpPr>
          <p:cNvPr id="6" name="">
            <a:extLst xmlns:a="http://schemas.openxmlformats.org/drawingml/2006/main">
              <a:ext uri="{FF2B5EF4-FFF2-40B4-BE49-F238E27FC236}">
                <a16:creationId xmlns:a16="http://schemas.microsoft.com/office/drawing/2014/main" id="{09AEFCB5-45A0-4835-BE18-BA08D195D292}"/>
              </a:ext>
            </a:extLst>
          </p:cNvPr>
          <p:cNvSpPr>
            <a:spLocks xmlns:a="http://schemas.openxmlformats.org/drawingml/2006/main" noGrp="1"/>
          </p:cNvSpPr>
          <p:nvPr/>
        </p:nvSpPr>
        <p:spPr>
          <a:xfrm xmlns:a="http://schemas.openxmlformats.org/drawingml/2006/main">
            <a:off x="2143125" y="30099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172E"/>
                </a:solidFill>
                <a:latin typeface="Arial"/>
                <a:ea typeface="Arial"/>
                <a:cs typeface="Arial"/>
              </a:defRPr>
            </a:pPr>
            <a:r>
              <a:rPr sz="1350" b="0">
                <a:solidFill>
                  <a:srgbClr val="24172E"/>
                </a:solidFill>
                <a:latin typeface="Arial"/>
                <a:ea typeface="Arial"/>
                <a:cs typeface="Arial"/>
              </a:rPr>
              <a:t>Essential checks and supported warnings</a:t>
            </a:r>
          </a:p>
        </p:txBody>
      </p:sp>
      <p:sp>
        <p:nvSpPr>
          <p:cNvPr id="7" name="">
            <a:extLst xmlns:a="http://schemas.openxmlformats.org/drawingml/2006/main">
              <a:ext uri="{FF2B5EF4-FFF2-40B4-BE49-F238E27FC236}">
                <a16:creationId xmlns:a16="http://schemas.microsoft.com/office/drawing/2014/main" id="{BFF39B66-D1AD-4E01-A6F5-6615E0584041}"/>
              </a:ext>
            </a:extLst>
          </p:cNvPr>
          <p:cNvSpPr>
            <a:spLocks xmlns:a="http://schemas.openxmlformats.org/drawingml/2006/main" noGrp="1"/>
          </p:cNvSpPr>
          <p:nvPr/>
        </p:nvSpPr>
        <p:spPr>
          <a:xfrm xmlns:a="http://schemas.openxmlformats.org/drawingml/2006/main">
            <a:off x="1181100" y="34099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7B27C9"/>
                </a:solidFill>
                <a:latin typeface="Arial"/>
                <a:ea typeface="Arial"/>
                <a:cs typeface="Arial"/>
              </a:defRPr>
            </a:pPr>
            <a:r>
              <a:rPr sz="1350" b="1">
                <a:solidFill>
                  <a:srgbClr val="7B27C9"/>
                </a:solidFill>
                <a:latin typeface="Arial"/>
                <a:ea typeface="Arial"/>
                <a:cs typeface="Arial"/>
              </a:rPr>
              <a:t>Premium</a:t>
            </a:r>
          </a:p>
        </p:txBody>
      </p:sp>
      <p:sp>
        <p:nvSpPr>
          <p:cNvPr id="8" name="">
            <a:extLst xmlns:a="http://schemas.openxmlformats.org/drawingml/2006/main">
              <a:ext uri="{FF2B5EF4-FFF2-40B4-BE49-F238E27FC236}">
                <a16:creationId xmlns:a16="http://schemas.microsoft.com/office/drawing/2014/main" id="{1DB2D212-839B-4C81-808E-2EDA08EBEA4B}"/>
              </a:ext>
            </a:extLst>
          </p:cNvPr>
          <p:cNvSpPr>
            <a:spLocks xmlns:a="http://schemas.openxmlformats.org/drawingml/2006/main" noGrp="1"/>
          </p:cNvSpPr>
          <p:nvPr/>
        </p:nvSpPr>
        <p:spPr>
          <a:xfrm xmlns:a="http://schemas.openxmlformats.org/drawingml/2006/main">
            <a:off x="2143125" y="34099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172E"/>
                </a:solidFill>
                <a:latin typeface="Arial"/>
                <a:ea typeface="Arial"/>
                <a:cs typeface="Arial"/>
              </a:defRPr>
            </a:pPr>
            <a:r>
              <a:rPr sz="1350" b="0">
                <a:solidFill>
                  <a:srgbClr val="24172E"/>
                </a:solidFill>
                <a:latin typeface="Arial"/>
                <a:ea typeface="Arial"/>
                <a:cs typeface="Arial"/>
              </a:rPr>
              <a:t>Personal and family protection</a:t>
            </a:r>
          </a:p>
        </p:txBody>
      </p:sp>
      <p:sp>
        <p:nvSpPr>
          <p:cNvPr id="9" name="">
            <a:extLst xmlns:a="http://schemas.openxmlformats.org/drawingml/2006/main">
              <a:ext uri="{FF2B5EF4-FFF2-40B4-BE49-F238E27FC236}">
                <a16:creationId xmlns:a16="http://schemas.microsoft.com/office/drawing/2014/main" id="{B091A716-6222-4683-AF7E-A002016C9580}"/>
              </a:ext>
            </a:extLst>
          </p:cNvPr>
          <p:cNvSpPr>
            <a:spLocks xmlns:a="http://schemas.openxmlformats.org/drawingml/2006/main" noGrp="1"/>
          </p:cNvSpPr>
          <p:nvPr/>
        </p:nvSpPr>
        <p:spPr>
          <a:xfrm xmlns:a="http://schemas.openxmlformats.org/drawingml/2006/main">
            <a:off x="1181100" y="38100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7B27C9"/>
                </a:solidFill>
                <a:latin typeface="Arial"/>
                <a:ea typeface="Arial"/>
                <a:cs typeface="Arial"/>
              </a:defRPr>
            </a:pPr>
            <a:r>
              <a:rPr sz="1350" b="1">
                <a:solidFill>
                  <a:srgbClr val="7B27C9"/>
                </a:solidFill>
                <a:latin typeface="Arial"/>
                <a:ea typeface="Arial"/>
                <a:cs typeface="Arial"/>
              </a:rPr>
              <a:t>Business</a:t>
            </a:r>
          </a:p>
        </p:txBody>
      </p:sp>
      <p:sp>
        <p:nvSpPr>
          <p:cNvPr id="10" name="">
            <a:extLst xmlns:a="http://schemas.openxmlformats.org/drawingml/2006/main">
              <a:ext uri="{FF2B5EF4-FFF2-40B4-BE49-F238E27FC236}">
                <a16:creationId xmlns:a16="http://schemas.microsoft.com/office/drawing/2014/main" id="{D3B0A220-2F18-40B2-A88D-6807C9BA9394}"/>
              </a:ext>
            </a:extLst>
          </p:cNvPr>
          <p:cNvSpPr>
            <a:spLocks xmlns:a="http://schemas.openxmlformats.org/drawingml/2006/main" noGrp="1"/>
          </p:cNvSpPr>
          <p:nvPr/>
        </p:nvSpPr>
        <p:spPr>
          <a:xfrm xmlns:a="http://schemas.openxmlformats.org/drawingml/2006/main">
            <a:off x="2143125" y="38100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172E"/>
                </a:solidFill>
                <a:latin typeface="Arial"/>
                <a:ea typeface="Arial"/>
                <a:cs typeface="Arial"/>
              </a:defRPr>
            </a:pPr>
            <a:r>
              <a:rPr sz="1350" b="0">
                <a:solidFill>
                  <a:srgbClr val="24172E"/>
                </a:solidFill>
                <a:latin typeface="Arial"/>
                <a:ea typeface="Arial"/>
                <a:cs typeface="Arial"/>
              </a:rPr>
              <a:t>Seats, API usage and licensed integrations</a:t>
            </a:r>
          </a:p>
        </p:txBody>
      </p:sp>
      <p:sp>
        <p:nvSpPr>
          <p:cNvPr id="11" name="">
            <a:extLst xmlns:a="http://schemas.openxmlformats.org/drawingml/2006/main">
              <a:ext uri="{FF2B5EF4-FFF2-40B4-BE49-F238E27FC236}">
                <a16:creationId xmlns:a16="http://schemas.microsoft.com/office/drawing/2014/main" id="{783CBE66-89FA-4FF2-85BC-BA9544820517}"/>
              </a:ext>
            </a:extLst>
          </p:cNvPr>
          <p:cNvSpPr>
            <a:spLocks xmlns:a="http://schemas.openxmlformats.org/drawingml/2006/main" noGrp="1"/>
          </p:cNvSpPr>
          <p:nvPr/>
        </p:nvSpPr>
        <p:spPr>
          <a:xfrm xmlns:a="http://schemas.openxmlformats.org/drawingml/2006/main">
            <a:off x="1181100" y="4362450"/>
            <a:ext cx="4476750" cy="0"/>
          </a:xfrm>
          <a:prstGeom xmlns:a="http://schemas.openxmlformats.org/drawingml/2006/main" prst="line">
            <a:avLst/>
          </a:prstGeom>
          <a:noFill xmlns:a="http://schemas.openxmlformats.org/drawingml/2006/main"/>
          <a:ln xmlns:a="http://schemas.openxmlformats.org/drawingml/2006/main" w="19050">
            <a:solidFill>
              <a:srgbClr val="E7DFEB"/>
            </a:solidFill>
          </a:ln>
        </p:spPr>
      </p:sp>
      <p:sp>
        <p:nvSpPr>
          <p:cNvPr id="12" name="">
            <a:extLst xmlns:a="http://schemas.openxmlformats.org/drawingml/2006/main">
              <a:ext uri="{FF2B5EF4-FFF2-40B4-BE49-F238E27FC236}">
                <a16:creationId xmlns:a16="http://schemas.microsoft.com/office/drawing/2014/main" id="{6489BC9C-F487-4F82-B7D3-3A678463E342}"/>
              </a:ext>
            </a:extLst>
          </p:cNvPr>
          <p:cNvSpPr>
            <a:spLocks xmlns:a="http://schemas.openxmlformats.org/drawingml/2006/main" noGrp="1"/>
          </p:cNvSpPr>
          <p:nvPr/>
        </p:nvSpPr>
        <p:spPr>
          <a:xfrm xmlns:a="http://schemas.openxmlformats.org/drawingml/2006/main">
            <a:off x="1181100" y="46386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4172E"/>
                </a:solidFill>
                <a:latin typeface="Arial"/>
                <a:ea typeface="Arial"/>
                <a:cs typeface="Arial"/>
              </a:defRPr>
            </a:pPr>
            <a:r>
              <a:rPr sz="1275" b="1">
                <a:solidFill>
                  <a:srgbClr val="24172E"/>
                </a:solidFill>
                <a:latin typeface="Arial"/>
                <a:ea typeface="Arial"/>
                <a:cs typeface="Arial"/>
              </a:rPr>
              <a:t>Price</a:t>
            </a:r>
          </a:p>
        </p:txBody>
      </p:sp>
      <p:sp>
        <p:nvSpPr>
          <p:cNvPr id="13" name="">
            <a:extLst xmlns:a="http://schemas.openxmlformats.org/drawingml/2006/main">
              <a:ext uri="{FF2B5EF4-FFF2-40B4-BE49-F238E27FC236}">
                <a16:creationId xmlns:a16="http://schemas.microsoft.com/office/drawing/2014/main" id="{B62D5DBA-C76F-47B4-ADB2-E49AC5E9091A}"/>
              </a:ext>
            </a:extLst>
          </p:cNvPr>
          <p:cNvSpPr>
            <a:spLocks xmlns:a="http://schemas.openxmlformats.org/drawingml/2006/main" noGrp="1"/>
          </p:cNvSpPr>
          <p:nvPr/>
        </p:nvSpPr>
        <p:spPr>
          <a:xfrm xmlns:a="http://schemas.openxmlformats.org/drawingml/2006/main">
            <a:off x="2143125" y="463867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F6676"/>
                </a:solidFill>
                <a:latin typeface="Arial"/>
                <a:ea typeface="Arial"/>
                <a:cs typeface="Arial"/>
              </a:defRPr>
            </a:pPr>
            <a:r>
              <a:rPr sz="1275" b="0">
                <a:solidFill>
                  <a:srgbClr val="6F6676"/>
                </a:solidFill>
                <a:latin typeface="Arial"/>
                <a:ea typeface="Arial"/>
                <a:cs typeface="Arial"/>
              </a:rPr>
              <a:t>Validate in consumer and partner pilots</a:t>
            </a:r>
          </a:p>
        </p:txBody>
      </p:sp>
      <p:sp>
        <p:nvSpPr>
          <p:cNvPr id="14" name="">
            <a:extLst xmlns:a="http://schemas.openxmlformats.org/drawingml/2006/main">
              <a:ext uri="{FF2B5EF4-FFF2-40B4-BE49-F238E27FC236}">
                <a16:creationId xmlns:a16="http://schemas.microsoft.com/office/drawing/2014/main" id="{BFDFBC07-AC29-4D9C-A9DD-1C732D5AD902}"/>
              </a:ext>
            </a:extLst>
          </p:cNvPr>
          <p:cNvSpPr>
            <a:spLocks xmlns:a="http://schemas.openxmlformats.org/drawingml/2006/main" noGrp="1"/>
          </p:cNvSpPr>
          <p:nvPr/>
        </p:nvSpPr>
        <p:spPr>
          <a:xfrm xmlns:a="http://schemas.openxmlformats.org/drawingml/2006/main">
            <a:off x="1181100" y="50387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4172E"/>
                </a:solidFill>
                <a:latin typeface="Arial"/>
                <a:ea typeface="Arial"/>
                <a:cs typeface="Arial"/>
              </a:defRPr>
            </a:pPr>
            <a:r>
              <a:rPr sz="1275" b="1">
                <a:solidFill>
                  <a:srgbClr val="24172E"/>
                </a:solidFill>
                <a:latin typeface="Arial"/>
                <a:ea typeface="Arial"/>
                <a:cs typeface="Arial"/>
              </a:rPr>
              <a:t>Unit cost</a:t>
            </a:r>
          </a:p>
        </p:txBody>
      </p:sp>
      <p:sp>
        <p:nvSpPr>
          <p:cNvPr id="15" name="">
            <a:extLst xmlns:a="http://schemas.openxmlformats.org/drawingml/2006/main">
              <a:ext uri="{FF2B5EF4-FFF2-40B4-BE49-F238E27FC236}">
                <a16:creationId xmlns:a16="http://schemas.microsoft.com/office/drawing/2014/main" id="{D33D3317-D346-4616-879D-E9BCA79CA55E}"/>
              </a:ext>
            </a:extLst>
          </p:cNvPr>
          <p:cNvSpPr>
            <a:spLocks xmlns:a="http://schemas.openxmlformats.org/drawingml/2006/main" noGrp="1"/>
          </p:cNvSpPr>
          <p:nvPr/>
        </p:nvSpPr>
        <p:spPr>
          <a:xfrm xmlns:a="http://schemas.openxmlformats.org/drawingml/2006/main">
            <a:off x="2143125" y="5038725"/>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F6676"/>
                </a:solidFill>
                <a:latin typeface="Arial"/>
                <a:ea typeface="Arial"/>
                <a:cs typeface="Arial"/>
              </a:defRPr>
            </a:pPr>
            <a:r>
              <a:rPr sz="1275" b="0">
                <a:solidFill>
                  <a:srgbClr val="6F6676"/>
                </a:solidFill>
                <a:latin typeface="Arial"/>
                <a:ea typeface="Arial"/>
                <a:cs typeface="Arial"/>
              </a:rPr>
              <a:t>Measure cost per assessment and support</a:t>
            </a:r>
          </a:p>
        </p:txBody>
      </p:sp>
      <p:sp>
        <p:nvSpPr>
          <p:cNvPr id="16" name="">
            <a:extLst xmlns:a="http://schemas.openxmlformats.org/drawingml/2006/main">
              <a:ext uri="{FF2B5EF4-FFF2-40B4-BE49-F238E27FC236}">
                <a16:creationId xmlns:a16="http://schemas.microsoft.com/office/drawing/2014/main" id="{6974EA6E-0933-4275-ACA5-383A42E160B5}"/>
              </a:ext>
            </a:extLst>
          </p:cNvPr>
          <p:cNvSpPr>
            <a:spLocks xmlns:a="http://schemas.openxmlformats.org/drawingml/2006/main" noGrp="1"/>
          </p:cNvSpPr>
          <p:nvPr/>
        </p:nvSpPr>
        <p:spPr>
          <a:xfrm xmlns:a="http://schemas.openxmlformats.org/drawingml/2006/main">
            <a:off x="1181100" y="54387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4172E"/>
                </a:solidFill>
                <a:latin typeface="Arial"/>
                <a:ea typeface="Arial"/>
                <a:cs typeface="Arial"/>
              </a:defRPr>
            </a:pPr>
            <a:r>
              <a:rPr sz="1275" b="1">
                <a:solidFill>
                  <a:srgbClr val="24172E"/>
                </a:solidFill>
                <a:latin typeface="Arial"/>
                <a:ea typeface="Arial"/>
                <a:cs typeface="Arial"/>
              </a:rPr>
              <a:t>Margin</a:t>
            </a:r>
          </a:p>
        </p:txBody>
      </p:sp>
      <p:sp>
        <p:nvSpPr>
          <p:cNvPr id="17" name="">
            <a:extLst xmlns:a="http://schemas.openxmlformats.org/drawingml/2006/main">
              <a:ext uri="{FF2B5EF4-FFF2-40B4-BE49-F238E27FC236}">
                <a16:creationId xmlns:a16="http://schemas.microsoft.com/office/drawing/2014/main" id="{3544E39F-3430-4CCA-8CA7-F2EB5EFC9E7F}"/>
              </a:ext>
            </a:extLst>
          </p:cNvPr>
          <p:cNvSpPr>
            <a:spLocks xmlns:a="http://schemas.openxmlformats.org/drawingml/2006/main" noGrp="1"/>
          </p:cNvSpPr>
          <p:nvPr/>
        </p:nvSpPr>
        <p:spPr>
          <a:xfrm xmlns:a="http://schemas.openxmlformats.org/drawingml/2006/main">
            <a:off x="2143125" y="5438775"/>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7B27C9"/>
                </a:solidFill>
                <a:latin typeface="Arial"/>
                <a:ea typeface="Arial"/>
                <a:cs typeface="Arial"/>
              </a:defRPr>
            </a:pPr>
            <a:r>
              <a:rPr sz="1275" b="0">
                <a:solidFill>
                  <a:srgbClr val="7B27C9"/>
                </a:solidFill>
                <a:latin typeface="Arial"/>
                <a:ea typeface="Arial"/>
                <a:cs typeface="Arial"/>
              </a:rPr>
              <a:t>Set after usage and infrastructure tests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05a9826871044db"/>
          <a:srcRect xmlns:a="http://schemas.openxmlformats.org/drawingml/2006/main" l="10380" t="0" r="10380" b="0"/>
          <a:stretch xmlns:a="http://schemas.openxmlformats.org/drawingml/2006/main">
            <a:fillRect l="0" t="0" r="0" b="0"/>
          </a:stretch>
        </p:blipFill>
        <p:spPr>
          <a:xfrm xmlns:a="http://schemas.openxmlformats.org/drawingml/2006/main">
            <a:off x="7000875" y="1809750"/>
            <a:ext cx="2476500" cy="39052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B67B4CDF-2929-4980-B7D4-7CB07DFC6112}"/>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36972B5-0A68-47D8-9452-37581A069DA0}"/>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8011dbae266410b"/>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2BC4CD1D-E87B-443F-8B03-928EEA9588EA}"/>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23" name="">
            <a:extLst xmlns:a="http://schemas.openxmlformats.org/drawingml/2006/main">
              <a:ext uri="{FF2B5EF4-FFF2-40B4-BE49-F238E27FC236}">
                <a16:creationId xmlns:a16="http://schemas.microsoft.com/office/drawing/2014/main" id="{51F2441E-C59D-4D1F-85BD-BBE8DBCBA9BB}"/>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24" name="">
            <a:extLst xmlns:a="http://schemas.openxmlformats.org/drawingml/2006/main">
              <a:ext uri="{FF2B5EF4-FFF2-40B4-BE49-F238E27FC236}">
                <a16:creationId xmlns:a16="http://schemas.microsoft.com/office/drawing/2014/main" id="{21E31504-CCD8-4F43-85C9-9958AB5051B7}"/>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08</a:t>
            </a:r>
          </a:p>
        </p:txBody>
      </p:sp>
    </p:spTree>
    <p:extLst>
      <p:ext uri="{BB962C8B-B14F-4D97-AF65-F5344CB8AC3E}">
        <p14:creationId xmlns:p14="http://schemas.microsoft.com/office/powerpoint/2010/main" val="4662115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8F9A591-1A82-411A-9166-F04EE62937D5}"/>
              </a:ext>
            </a:extLst>
          </p:cNvPr>
          <p:cNvSpPr>
            <a:spLocks xmlns:a="http://schemas.openxmlformats.org/drawingml/2006/main" noGrp="1"/>
          </p:cNvSpPr>
          <p:nvPr/>
        </p:nvSpPr>
        <p:spPr>
          <a:xfrm xmlns:a="http://schemas.openxmlformats.org/drawingml/2006/main">
            <a:off x="1171575" y="6477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a:solidFill>
                  <a:srgbClr val="7B27C9"/>
                </a:solidFill>
                <a:latin typeface="Arial"/>
                <a:ea typeface="Arial"/>
                <a:cs typeface="Arial"/>
              </a:defRPr>
            </a:pPr>
            <a:r>
              <a:rPr sz="2925" b="1">
                <a:solidFill>
                  <a:srgbClr val="7B27C9"/>
                </a:solidFill>
                <a:latin typeface="Arial"/>
                <a:ea typeface="Arial"/>
                <a:cs typeface="Arial"/>
              </a:rPr>
              <a:t>TRACTION</a:t>
            </a:r>
          </a:p>
        </p:txBody>
      </p:sp>
      <p:sp>
        <p:nvSpPr>
          <p:cNvPr id="2" name="">
            <a:extLst xmlns:a="http://schemas.openxmlformats.org/drawingml/2006/main">
              <a:ext uri="{FF2B5EF4-FFF2-40B4-BE49-F238E27FC236}">
                <a16:creationId xmlns:a16="http://schemas.microsoft.com/office/drawing/2014/main" id="{CFA8C52C-4162-4158-AEB9-A736A2C41A15}"/>
              </a:ext>
            </a:extLst>
          </p:cNvPr>
          <p:cNvSpPr>
            <a:spLocks xmlns:a="http://schemas.openxmlformats.org/drawingml/2006/main" noGrp="1"/>
          </p:cNvSpPr>
          <p:nvPr/>
        </p:nvSpPr>
        <p:spPr>
          <a:xfrm xmlns:a="http://schemas.openxmlformats.org/drawingml/2006/main">
            <a:off x="762000" y="1466850"/>
            <a:ext cx="2057400" cy="1066800"/>
          </a:xfrm>
          <a:prstGeom xmlns:a="http://schemas.openxmlformats.org/drawingml/2006/main" prst="roundRect">
            <a:avLst>
              <a:gd name="adj" fmla="val 7143"/>
            </a:avLst>
          </a:prstGeom>
          <a:solidFill xmlns:a="http://schemas.openxmlformats.org/drawingml/2006/main">
            <a:srgbClr val="F4EAF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85C116-8B04-44F9-B983-DDBE9FABE0C0}"/>
              </a:ext>
            </a:extLst>
          </p:cNvPr>
          <p:cNvSpPr>
            <a:spLocks xmlns:a="http://schemas.openxmlformats.org/drawingml/2006/main" noGrp="1"/>
          </p:cNvSpPr>
          <p:nvPr/>
        </p:nvSpPr>
        <p:spPr>
          <a:xfrm xmlns:a="http://schemas.openxmlformats.org/drawingml/2006/main">
            <a:off x="876300" y="16954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7B27C9"/>
                </a:solidFill>
                <a:latin typeface="Arial"/>
                <a:ea typeface="Arial"/>
                <a:cs typeface="Arial"/>
              </a:defRPr>
            </a:pPr>
            <a:r>
              <a:rPr sz="2850" b="1">
                <a:solidFill>
                  <a:srgbClr val="7B27C9"/>
                </a:solidFill>
                <a:latin typeface="Arial"/>
                <a:ea typeface="Arial"/>
                <a:cs typeface="Arial"/>
              </a:rPr>
              <a:t>80%</a:t>
            </a:r>
          </a:p>
        </p:txBody>
      </p:sp>
      <p:sp>
        <p:nvSpPr>
          <p:cNvPr id="4" name="">
            <a:extLst xmlns:a="http://schemas.openxmlformats.org/drawingml/2006/main">
              <a:ext uri="{FF2B5EF4-FFF2-40B4-BE49-F238E27FC236}">
                <a16:creationId xmlns:a16="http://schemas.microsoft.com/office/drawing/2014/main" id="{0E40D253-575E-4FB2-AED8-C46E6FB3F2CC}"/>
              </a:ext>
            </a:extLst>
          </p:cNvPr>
          <p:cNvSpPr>
            <a:spLocks xmlns:a="http://schemas.openxmlformats.org/drawingml/2006/main" noGrp="1"/>
          </p:cNvSpPr>
          <p:nvPr/>
        </p:nvSpPr>
        <p:spPr>
          <a:xfrm xmlns:a="http://schemas.openxmlformats.org/drawingml/2006/main">
            <a:off x="762000" y="26670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User Research</a:t>
            </a:r>
          </a:p>
        </p:txBody>
      </p:sp>
      <p:sp>
        <p:nvSpPr>
          <p:cNvPr id="5" name="">
            <a:extLst xmlns:a="http://schemas.openxmlformats.org/drawingml/2006/main">
              <a:ext uri="{FF2B5EF4-FFF2-40B4-BE49-F238E27FC236}">
                <a16:creationId xmlns:a16="http://schemas.microsoft.com/office/drawing/2014/main" id="{C56F6F5C-7ECB-426E-8459-ABBB105E2E03}"/>
              </a:ext>
            </a:extLst>
          </p:cNvPr>
          <p:cNvSpPr>
            <a:spLocks xmlns:a="http://schemas.openxmlformats.org/drawingml/2006/main" noGrp="1"/>
          </p:cNvSpPr>
          <p:nvPr/>
        </p:nvSpPr>
        <p:spPr>
          <a:xfrm xmlns:a="http://schemas.openxmlformats.org/drawingml/2006/main">
            <a:off x="819150" y="29527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Internal progress estimate</a:t>
            </a:r>
          </a:p>
        </p:txBody>
      </p:sp>
      <p:sp>
        <p:nvSpPr>
          <p:cNvPr id="6" name="">
            <a:extLst xmlns:a="http://schemas.openxmlformats.org/drawingml/2006/main">
              <a:ext uri="{FF2B5EF4-FFF2-40B4-BE49-F238E27FC236}">
                <a16:creationId xmlns:a16="http://schemas.microsoft.com/office/drawing/2014/main" id="{CCE34B0E-637D-4B1D-98F7-C96902E01957}"/>
              </a:ext>
            </a:extLst>
          </p:cNvPr>
          <p:cNvSpPr>
            <a:spLocks xmlns:a="http://schemas.openxmlformats.org/drawingml/2006/main" noGrp="1"/>
          </p:cNvSpPr>
          <p:nvPr/>
        </p:nvSpPr>
        <p:spPr>
          <a:xfrm xmlns:a="http://schemas.openxmlformats.org/drawingml/2006/main">
            <a:off x="3238500" y="1466850"/>
            <a:ext cx="2057400" cy="1066800"/>
          </a:xfrm>
          <a:prstGeom xmlns:a="http://schemas.openxmlformats.org/drawingml/2006/main" prst="roundRect">
            <a:avLst>
              <a:gd name="adj" fmla="val 7143"/>
            </a:avLst>
          </a:prstGeom>
          <a:solidFill xmlns:a="http://schemas.openxmlformats.org/drawingml/2006/main">
            <a:srgbClr val="F4E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D3A4A6-DA48-4C82-8A43-2800D59B878E}"/>
              </a:ext>
            </a:extLst>
          </p:cNvPr>
          <p:cNvSpPr>
            <a:spLocks xmlns:a="http://schemas.openxmlformats.org/drawingml/2006/main" noGrp="1"/>
          </p:cNvSpPr>
          <p:nvPr/>
        </p:nvSpPr>
        <p:spPr>
          <a:xfrm xmlns:a="http://schemas.openxmlformats.org/drawingml/2006/main">
            <a:off x="3352800" y="16954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FF7A18"/>
                </a:solidFill>
                <a:latin typeface="Arial"/>
                <a:ea typeface="Arial"/>
                <a:cs typeface="Arial"/>
              </a:defRPr>
            </a:pPr>
            <a:r>
              <a:rPr sz="2850" b="1">
                <a:solidFill>
                  <a:srgbClr val="FF7A18"/>
                </a:solidFill>
                <a:latin typeface="Arial"/>
                <a:ea typeface="Arial"/>
                <a:cs typeface="Arial"/>
              </a:rPr>
              <a:t>60%</a:t>
            </a:r>
          </a:p>
        </p:txBody>
      </p:sp>
      <p:sp>
        <p:nvSpPr>
          <p:cNvPr id="8" name="">
            <a:extLst xmlns:a="http://schemas.openxmlformats.org/drawingml/2006/main">
              <a:ext uri="{FF2B5EF4-FFF2-40B4-BE49-F238E27FC236}">
                <a16:creationId xmlns:a16="http://schemas.microsoft.com/office/drawing/2014/main" id="{949B0410-DECE-4EEA-8850-598B4E1CF4A9}"/>
              </a:ext>
            </a:extLst>
          </p:cNvPr>
          <p:cNvSpPr>
            <a:spLocks xmlns:a="http://schemas.openxmlformats.org/drawingml/2006/main" noGrp="1"/>
          </p:cNvSpPr>
          <p:nvPr/>
        </p:nvSpPr>
        <p:spPr>
          <a:xfrm xmlns:a="http://schemas.openxmlformats.org/drawingml/2006/main">
            <a:off x="3238500" y="26670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Frontend and Screens</a:t>
            </a:r>
          </a:p>
        </p:txBody>
      </p:sp>
      <p:sp>
        <p:nvSpPr>
          <p:cNvPr id="9" name="">
            <a:extLst xmlns:a="http://schemas.openxmlformats.org/drawingml/2006/main">
              <a:ext uri="{FF2B5EF4-FFF2-40B4-BE49-F238E27FC236}">
                <a16:creationId xmlns:a16="http://schemas.microsoft.com/office/drawing/2014/main" id="{80BF8EA7-97A4-4EE0-BE6A-04AE1F821B52}"/>
              </a:ext>
            </a:extLst>
          </p:cNvPr>
          <p:cNvSpPr>
            <a:spLocks xmlns:a="http://schemas.openxmlformats.org/drawingml/2006/main" noGrp="1"/>
          </p:cNvSpPr>
          <p:nvPr/>
        </p:nvSpPr>
        <p:spPr>
          <a:xfrm xmlns:a="http://schemas.openxmlformats.org/drawingml/2006/main">
            <a:off x="3295650" y="29527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Core product flows built</a:t>
            </a:r>
          </a:p>
        </p:txBody>
      </p:sp>
      <p:sp>
        <p:nvSpPr>
          <p:cNvPr id="10" name="">
            <a:extLst xmlns:a="http://schemas.openxmlformats.org/drawingml/2006/main">
              <a:ext uri="{FF2B5EF4-FFF2-40B4-BE49-F238E27FC236}">
                <a16:creationId xmlns:a16="http://schemas.microsoft.com/office/drawing/2014/main" id="{81B082AC-F554-4764-92E3-4BD5B15C60A0}"/>
              </a:ext>
            </a:extLst>
          </p:cNvPr>
          <p:cNvSpPr>
            <a:spLocks xmlns:a="http://schemas.openxmlformats.org/drawingml/2006/main" noGrp="1"/>
          </p:cNvSpPr>
          <p:nvPr/>
        </p:nvSpPr>
        <p:spPr>
          <a:xfrm xmlns:a="http://schemas.openxmlformats.org/drawingml/2006/main">
            <a:off x="5715000" y="1466850"/>
            <a:ext cx="2057400" cy="1066800"/>
          </a:xfrm>
          <a:prstGeom xmlns:a="http://schemas.openxmlformats.org/drawingml/2006/main" prst="roundRect">
            <a:avLst>
              <a:gd name="adj" fmla="val 7143"/>
            </a:avLst>
          </a:prstGeom>
          <a:solidFill xmlns:a="http://schemas.openxmlformats.org/drawingml/2006/main">
            <a:srgbClr val="F4EA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137B05-F63A-4124-93BF-6004F0706786}"/>
              </a:ext>
            </a:extLst>
          </p:cNvPr>
          <p:cNvSpPr>
            <a:spLocks xmlns:a="http://schemas.openxmlformats.org/drawingml/2006/main" noGrp="1"/>
          </p:cNvSpPr>
          <p:nvPr/>
        </p:nvSpPr>
        <p:spPr>
          <a:xfrm xmlns:a="http://schemas.openxmlformats.org/drawingml/2006/main">
            <a:off x="5829300" y="16954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7B27C9"/>
                </a:solidFill>
                <a:latin typeface="Arial"/>
                <a:ea typeface="Arial"/>
                <a:cs typeface="Arial"/>
              </a:defRPr>
            </a:pPr>
            <a:r>
              <a:rPr sz="2850" b="1">
                <a:solidFill>
                  <a:srgbClr val="7B27C9"/>
                </a:solidFill>
                <a:latin typeface="Arial"/>
                <a:ea typeface="Arial"/>
                <a:cs typeface="Arial"/>
              </a:rPr>
              <a:t>50%</a:t>
            </a:r>
          </a:p>
        </p:txBody>
      </p:sp>
      <p:sp>
        <p:nvSpPr>
          <p:cNvPr id="12" name="">
            <a:extLst xmlns:a="http://schemas.openxmlformats.org/drawingml/2006/main">
              <a:ext uri="{FF2B5EF4-FFF2-40B4-BE49-F238E27FC236}">
                <a16:creationId xmlns:a16="http://schemas.microsoft.com/office/drawing/2014/main" id="{9B81512A-3C5E-434C-9913-B0DE106A5D05}"/>
              </a:ext>
            </a:extLst>
          </p:cNvPr>
          <p:cNvSpPr>
            <a:spLocks xmlns:a="http://schemas.openxmlformats.org/drawingml/2006/main" noGrp="1"/>
          </p:cNvSpPr>
          <p:nvPr/>
        </p:nvSpPr>
        <p:spPr>
          <a:xfrm xmlns:a="http://schemas.openxmlformats.org/drawingml/2006/main">
            <a:off x="5715000" y="26670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Data and Backend</a:t>
            </a:r>
          </a:p>
        </p:txBody>
      </p:sp>
      <p:sp>
        <p:nvSpPr>
          <p:cNvPr id="13" name="">
            <a:extLst xmlns:a="http://schemas.openxmlformats.org/drawingml/2006/main">
              <a:ext uri="{FF2B5EF4-FFF2-40B4-BE49-F238E27FC236}">
                <a16:creationId xmlns:a16="http://schemas.microsoft.com/office/drawing/2014/main" id="{34A11D02-7EE9-4D18-B514-EF991A868D24}"/>
              </a:ext>
            </a:extLst>
          </p:cNvPr>
          <p:cNvSpPr>
            <a:spLocks xmlns:a="http://schemas.openxmlformats.org/drawingml/2006/main" noGrp="1"/>
          </p:cNvSpPr>
          <p:nvPr/>
        </p:nvSpPr>
        <p:spPr>
          <a:xfrm xmlns:a="http://schemas.openxmlformats.org/drawingml/2006/main">
            <a:off x="5772150" y="29527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FastAPI and PostgreSQL foundation</a:t>
            </a:r>
          </a:p>
        </p:txBody>
      </p:sp>
      <p:sp>
        <p:nvSpPr>
          <p:cNvPr id="14" name="">
            <a:extLst xmlns:a="http://schemas.openxmlformats.org/drawingml/2006/main">
              <a:ext uri="{FF2B5EF4-FFF2-40B4-BE49-F238E27FC236}">
                <a16:creationId xmlns:a16="http://schemas.microsoft.com/office/drawing/2014/main" id="{60FF135F-A3E7-4D6C-B451-060213D9BACA}"/>
              </a:ext>
            </a:extLst>
          </p:cNvPr>
          <p:cNvSpPr>
            <a:spLocks xmlns:a="http://schemas.openxmlformats.org/drawingml/2006/main" noGrp="1"/>
          </p:cNvSpPr>
          <p:nvPr/>
        </p:nvSpPr>
        <p:spPr>
          <a:xfrm xmlns:a="http://schemas.openxmlformats.org/drawingml/2006/main">
            <a:off x="8191500" y="1466850"/>
            <a:ext cx="2057400" cy="1066800"/>
          </a:xfrm>
          <a:prstGeom xmlns:a="http://schemas.openxmlformats.org/drawingml/2006/main" prst="roundRect">
            <a:avLst>
              <a:gd name="adj" fmla="val 7143"/>
            </a:avLst>
          </a:prstGeom>
          <a:solidFill xmlns:a="http://schemas.openxmlformats.org/drawingml/2006/main">
            <a:srgbClr val="F4EA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B26DD9A-28CB-4435-9F20-2ED367CE7A6B}"/>
              </a:ext>
            </a:extLst>
          </p:cNvPr>
          <p:cNvSpPr>
            <a:spLocks xmlns:a="http://schemas.openxmlformats.org/drawingml/2006/main" noGrp="1"/>
          </p:cNvSpPr>
          <p:nvPr/>
        </p:nvSpPr>
        <p:spPr>
          <a:xfrm xmlns:a="http://schemas.openxmlformats.org/drawingml/2006/main">
            <a:off x="8305800" y="16954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FF7A18"/>
                </a:solidFill>
                <a:latin typeface="Arial"/>
                <a:ea typeface="Arial"/>
                <a:cs typeface="Arial"/>
              </a:defRPr>
            </a:pPr>
            <a:r>
              <a:rPr sz="2850" b="1">
                <a:solidFill>
                  <a:srgbClr val="FF7A18"/>
                </a:solidFill>
                <a:latin typeface="Arial"/>
                <a:ea typeface="Arial"/>
                <a:cs typeface="Arial"/>
              </a:rPr>
              <a:t>80%</a:t>
            </a:r>
          </a:p>
        </p:txBody>
      </p:sp>
      <p:sp>
        <p:nvSpPr>
          <p:cNvPr id="16" name="">
            <a:extLst xmlns:a="http://schemas.openxmlformats.org/drawingml/2006/main">
              <a:ext uri="{FF2B5EF4-FFF2-40B4-BE49-F238E27FC236}">
                <a16:creationId xmlns:a16="http://schemas.microsoft.com/office/drawing/2014/main" id="{14ABF5D4-0200-41A4-B608-E3490BC945B4}"/>
              </a:ext>
            </a:extLst>
          </p:cNvPr>
          <p:cNvSpPr>
            <a:spLocks xmlns:a="http://schemas.openxmlformats.org/drawingml/2006/main" noGrp="1"/>
          </p:cNvSpPr>
          <p:nvPr/>
        </p:nvSpPr>
        <p:spPr>
          <a:xfrm xmlns:a="http://schemas.openxmlformats.org/drawingml/2006/main">
            <a:off x="8191500" y="26670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Stakeholder Engagement</a:t>
            </a:r>
          </a:p>
        </p:txBody>
      </p:sp>
      <p:sp>
        <p:nvSpPr>
          <p:cNvPr id="17" name="">
            <a:extLst xmlns:a="http://schemas.openxmlformats.org/drawingml/2006/main">
              <a:ext uri="{FF2B5EF4-FFF2-40B4-BE49-F238E27FC236}">
                <a16:creationId xmlns:a16="http://schemas.microsoft.com/office/drawing/2014/main" id="{4D2B2974-C75E-4773-9223-12BF3459C466}"/>
              </a:ext>
            </a:extLst>
          </p:cNvPr>
          <p:cNvSpPr>
            <a:spLocks xmlns:a="http://schemas.openxmlformats.org/drawingml/2006/main" noGrp="1"/>
          </p:cNvSpPr>
          <p:nvPr/>
        </p:nvSpPr>
        <p:spPr>
          <a:xfrm xmlns:a="http://schemas.openxmlformats.org/drawingml/2006/main">
            <a:off x="8248650" y="29527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Internal progress estimate</a:t>
            </a:r>
          </a:p>
        </p:txBody>
      </p:sp>
      <p:sp>
        <p:nvSpPr>
          <p:cNvPr id="18" name="">
            <a:extLst xmlns:a="http://schemas.openxmlformats.org/drawingml/2006/main">
              <a:ext uri="{FF2B5EF4-FFF2-40B4-BE49-F238E27FC236}">
                <a16:creationId xmlns:a16="http://schemas.microsoft.com/office/drawing/2014/main" id="{635719E1-664F-4FB4-B9BB-B7677ED0E3D5}"/>
              </a:ext>
            </a:extLst>
          </p:cNvPr>
          <p:cNvSpPr>
            <a:spLocks xmlns:a="http://schemas.openxmlformats.org/drawingml/2006/main" noGrp="1"/>
          </p:cNvSpPr>
          <p:nvPr/>
        </p:nvSpPr>
        <p:spPr>
          <a:xfrm xmlns:a="http://schemas.openxmlformats.org/drawingml/2006/main">
            <a:off x="762000" y="3790950"/>
            <a:ext cx="2057400" cy="1066800"/>
          </a:xfrm>
          <a:prstGeom xmlns:a="http://schemas.openxmlformats.org/drawingml/2006/main" prst="roundRect">
            <a:avLst>
              <a:gd name="adj" fmla="val 7143"/>
            </a:avLst>
          </a:prstGeom>
          <a:solidFill xmlns:a="http://schemas.openxmlformats.org/drawingml/2006/main">
            <a:srgbClr val="FFE7D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74E11BF-3CE9-4D27-94B4-14469AD4DFBD}"/>
              </a:ext>
            </a:extLst>
          </p:cNvPr>
          <p:cNvSpPr>
            <a:spLocks xmlns:a="http://schemas.openxmlformats.org/drawingml/2006/main" noGrp="1"/>
          </p:cNvSpPr>
          <p:nvPr/>
        </p:nvSpPr>
        <p:spPr>
          <a:xfrm xmlns:a="http://schemas.openxmlformats.org/drawingml/2006/main">
            <a:off x="876300" y="40195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7B27C9"/>
                </a:solidFill>
                <a:latin typeface="Arial"/>
                <a:ea typeface="Arial"/>
                <a:cs typeface="Arial"/>
              </a:defRPr>
            </a:pPr>
            <a:r>
              <a:rPr sz="2850" b="1">
                <a:solidFill>
                  <a:srgbClr val="7B27C9"/>
                </a:solidFill>
                <a:latin typeface="Arial"/>
                <a:ea typeface="Arial"/>
                <a:cs typeface="Arial"/>
              </a:rPr>
              <a:t>6</a:t>
            </a:r>
          </a:p>
        </p:txBody>
      </p:sp>
      <p:sp>
        <p:nvSpPr>
          <p:cNvPr id="20" name="">
            <a:extLst xmlns:a="http://schemas.openxmlformats.org/drawingml/2006/main">
              <a:ext uri="{FF2B5EF4-FFF2-40B4-BE49-F238E27FC236}">
                <a16:creationId xmlns:a16="http://schemas.microsoft.com/office/drawing/2014/main" id="{BDFEE469-4082-4BA6-9128-41B647AD9F78}"/>
              </a:ext>
            </a:extLst>
          </p:cNvPr>
          <p:cNvSpPr>
            <a:spLocks xmlns:a="http://schemas.openxmlformats.org/drawingml/2006/main" noGrp="1"/>
          </p:cNvSpPr>
          <p:nvPr/>
        </p:nvSpPr>
        <p:spPr>
          <a:xfrm xmlns:a="http://schemas.openxmlformats.org/drawingml/2006/main">
            <a:off x="762000" y="49911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Check Types</a:t>
            </a:r>
          </a:p>
        </p:txBody>
      </p:sp>
      <p:sp>
        <p:nvSpPr>
          <p:cNvPr id="21" name="">
            <a:extLst xmlns:a="http://schemas.openxmlformats.org/drawingml/2006/main">
              <a:ext uri="{FF2B5EF4-FFF2-40B4-BE49-F238E27FC236}">
                <a16:creationId xmlns:a16="http://schemas.microsoft.com/office/drawing/2014/main" id="{54C53ED8-CB2F-44F6-AE58-4D87819737EC}"/>
              </a:ext>
            </a:extLst>
          </p:cNvPr>
          <p:cNvSpPr>
            <a:spLocks xmlns:a="http://schemas.openxmlformats.org/drawingml/2006/main" noGrp="1"/>
          </p:cNvSpPr>
          <p:nvPr/>
        </p:nvSpPr>
        <p:spPr>
          <a:xfrm xmlns:a="http://schemas.openxmlformats.org/drawingml/2006/main">
            <a:off x="819150" y="52768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Messages, screenshots, links, numbers, payments and calls</a:t>
            </a:r>
          </a:p>
        </p:txBody>
      </p:sp>
      <p:sp>
        <p:nvSpPr>
          <p:cNvPr id="22" name="">
            <a:extLst xmlns:a="http://schemas.openxmlformats.org/drawingml/2006/main">
              <a:ext uri="{FF2B5EF4-FFF2-40B4-BE49-F238E27FC236}">
                <a16:creationId xmlns:a16="http://schemas.microsoft.com/office/drawing/2014/main" id="{CA50E64D-14A5-4BB0-842D-0F80CAF1AC59}"/>
              </a:ext>
            </a:extLst>
          </p:cNvPr>
          <p:cNvSpPr>
            <a:spLocks xmlns:a="http://schemas.openxmlformats.org/drawingml/2006/main" noGrp="1"/>
          </p:cNvSpPr>
          <p:nvPr/>
        </p:nvSpPr>
        <p:spPr>
          <a:xfrm xmlns:a="http://schemas.openxmlformats.org/drawingml/2006/main">
            <a:off x="3238500" y="3790950"/>
            <a:ext cx="2057400" cy="1066800"/>
          </a:xfrm>
          <a:prstGeom xmlns:a="http://schemas.openxmlformats.org/drawingml/2006/main" prst="roundRect">
            <a:avLst>
              <a:gd name="adj" fmla="val 7143"/>
            </a:avLst>
          </a:prstGeom>
          <a:solidFill xmlns:a="http://schemas.openxmlformats.org/drawingml/2006/main">
            <a:srgbClr val="FFE7D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6AE06E7-4B49-414A-8CF3-2E821986B3B1}"/>
              </a:ext>
            </a:extLst>
          </p:cNvPr>
          <p:cNvSpPr>
            <a:spLocks xmlns:a="http://schemas.openxmlformats.org/drawingml/2006/main" noGrp="1"/>
          </p:cNvSpPr>
          <p:nvPr/>
        </p:nvSpPr>
        <p:spPr>
          <a:xfrm xmlns:a="http://schemas.openxmlformats.org/drawingml/2006/main">
            <a:off x="3352800" y="40195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FF7A18"/>
                </a:solidFill>
                <a:latin typeface="Arial"/>
                <a:ea typeface="Arial"/>
                <a:cs typeface="Arial"/>
              </a:defRPr>
            </a:pPr>
            <a:r>
              <a:rPr sz="2850" b="1">
                <a:solidFill>
                  <a:srgbClr val="FF7A18"/>
                </a:solidFill>
                <a:latin typeface="Arial"/>
                <a:ea typeface="Arial"/>
                <a:cs typeface="Arial"/>
              </a:rPr>
              <a:t>22</a:t>
            </a:r>
          </a:p>
        </p:txBody>
      </p:sp>
      <p:sp>
        <p:nvSpPr>
          <p:cNvPr id="24" name="">
            <a:extLst xmlns:a="http://schemas.openxmlformats.org/drawingml/2006/main">
              <a:ext uri="{FF2B5EF4-FFF2-40B4-BE49-F238E27FC236}">
                <a16:creationId xmlns:a16="http://schemas.microsoft.com/office/drawing/2014/main" id="{86BD1592-3C75-42B2-93CC-8944E99E23CD}"/>
              </a:ext>
            </a:extLst>
          </p:cNvPr>
          <p:cNvSpPr>
            <a:spLocks xmlns:a="http://schemas.openxmlformats.org/drawingml/2006/main" noGrp="1"/>
          </p:cNvSpPr>
          <p:nvPr/>
        </p:nvSpPr>
        <p:spPr>
          <a:xfrm xmlns:a="http://schemas.openxmlformats.org/drawingml/2006/main">
            <a:off x="3238500" y="49911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Database Tables</a:t>
            </a:r>
          </a:p>
        </p:txBody>
      </p:sp>
      <p:sp>
        <p:nvSpPr>
          <p:cNvPr id="25" name="">
            <a:extLst xmlns:a="http://schemas.openxmlformats.org/drawingml/2006/main">
              <a:ext uri="{FF2B5EF4-FFF2-40B4-BE49-F238E27FC236}">
                <a16:creationId xmlns:a16="http://schemas.microsoft.com/office/drawing/2014/main" id="{5436A2F1-1140-49A0-8911-95D14384D6DA}"/>
              </a:ext>
            </a:extLst>
          </p:cNvPr>
          <p:cNvSpPr>
            <a:spLocks xmlns:a="http://schemas.openxmlformats.org/drawingml/2006/main" noGrp="1"/>
          </p:cNvSpPr>
          <p:nvPr/>
        </p:nvSpPr>
        <p:spPr>
          <a:xfrm xmlns:a="http://schemas.openxmlformats.org/drawingml/2006/main">
            <a:off x="3295650" y="52768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Reported in the October 2026 update</a:t>
            </a:r>
          </a:p>
        </p:txBody>
      </p:sp>
      <p:sp>
        <p:nvSpPr>
          <p:cNvPr id="26" name="">
            <a:extLst xmlns:a="http://schemas.openxmlformats.org/drawingml/2006/main">
              <a:ext uri="{FF2B5EF4-FFF2-40B4-BE49-F238E27FC236}">
                <a16:creationId xmlns:a16="http://schemas.microsoft.com/office/drawing/2014/main" id="{5A6356E5-ADD5-42BE-BD8A-96597821925D}"/>
              </a:ext>
            </a:extLst>
          </p:cNvPr>
          <p:cNvSpPr>
            <a:spLocks xmlns:a="http://schemas.openxmlformats.org/drawingml/2006/main" noGrp="1"/>
          </p:cNvSpPr>
          <p:nvPr/>
        </p:nvSpPr>
        <p:spPr>
          <a:xfrm xmlns:a="http://schemas.openxmlformats.org/drawingml/2006/main">
            <a:off x="5715000" y="3790950"/>
            <a:ext cx="2057400" cy="1066800"/>
          </a:xfrm>
          <a:prstGeom xmlns:a="http://schemas.openxmlformats.org/drawingml/2006/main" prst="roundRect">
            <a:avLst>
              <a:gd name="adj" fmla="val 7143"/>
            </a:avLst>
          </a:prstGeom>
          <a:solidFill xmlns:a="http://schemas.openxmlformats.org/drawingml/2006/main">
            <a:srgbClr val="FFE7D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DC13CC4-E070-4AED-9206-708ED549AC30}"/>
              </a:ext>
            </a:extLst>
          </p:cNvPr>
          <p:cNvSpPr>
            <a:spLocks xmlns:a="http://schemas.openxmlformats.org/drawingml/2006/main" noGrp="1"/>
          </p:cNvSpPr>
          <p:nvPr/>
        </p:nvSpPr>
        <p:spPr>
          <a:xfrm xmlns:a="http://schemas.openxmlformats.org/drawingml/2006/main">
            <a:off x="5829300" y="40195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50" b="1">
                <a:solidFill>
                  <a:srgbClr val="7B27C9"/>
                </a:solidFill>
                <a:latin typeface="Arial"/>
                <a:ea typeface="Arial"/>
                <a:cs typeface="Arial"/>
              </a:defRPr>
            </a:pPr>
            <a:r>
              <a:rPr sz="2850" b="1">
                <a:solidFill>
                  <a:srgbClr val="7B27C9"/>
                </a:solidFill>
                <a:latin typeface="Arial"/>
                <a:ea typeface="Arial"/>
                <a:cs typeface="Arial"/>
              </a:rPr>
              <a:t>2</a:t>
            </a:r>
          </a:p>
        </p:txBody>
      </p:sp>
      <p:sp>
        <p:nvSpPr>
          <p:cNvPr id="28" name="">
            <a:extLst xmlns:a="http://schemas.openxmlformats.org/drawingml/2006/main">
              <a:ext uri="{FF2B5EF4-FFF2-40B4-BE49-F238E27FC236}">
                <a16:creationId xmlns:a16="http://schemas.microsoft.com/office/drawing/2014/main" id="{55F109D9-8C7F-447D-BB09-A28A6E9F59BA}"/>
              </a:ext>
            </a:extLst>
          </p:cNvPr>
          <p:cNvSpPr>
            <a:spLocks xmlns:a="http://schemas.openxmlformats.org/drawingml/2006/main" noGrp="1"/>
          </p:cNvSpPr>
          <p:nvPr/>
        </p:nvSpPr>
        <p:spPr>
          <a:xfrm xmlns:a="http://schemas.openxmlformats.org/drawingml/2006/main">
            <a:off x="5715000" y="49911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User Workflows</a:t>
            </a:r>
          </a:p>
        </p:txBody>
      </p:sp>
      <p:sp>
        <p:nvSpPr>
          <p:cNvPr id="29" name="">
            <a:extLst xmlns:a="http://schemas.openxmlformats.org/drawingml/2006/main">
              <a:ext uri="{FF2B5EF4-FFF2-40B4-BE49-F238E27FC236}">
                <a16:creationId xmlns:a16="http://schemas.microsoft.com/office/drawing/2014/main" id="{F0B4407F-726F-4A1C-9E26-0AA23A42A33C}"/>
              </a:ext>
            </a:extLst>
          </p:cNvPr>
          <p:cNvSpPr>
            <a:spLocks xmlns:a="http://schemas.openxmlformats.org/drawingml/2006/main" noGrp="1"/>
          </p:cNvSpPr>
          <p:nvPr/>
        </p:nvSpPr>
        <p:spPr>
          <a:xfrm xmlns:a="http://schemas.openxmlformats.org/drawingml/2006/main">
            <a:off x="5772150" y="52768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User and administrator experiences</a:t>
            </a:r>
          </a:p>
        </p:txBody>
      </p:sp>
      <p:sp>
        <p:nvSpPr>
          <p:cNvPr id="30" name="">
            <a:extLst xmlns:a="http://schemas.openxmlformats.org/drawingml/2006/main">
              <a:ext uri="{FF2B5EF4-FFF2-40B4-BE49-F238E27FC236}">
                <a16:creationId xmlns:a16="http://schemas.microsoft.com/office/drawing/2014/main" id="{5A7AC104-1804-4F47-A693-E9555BB81E2E}"/>
              </a:ext>
            </a:extLst>
          </p:cNvPr>
          <p:cNvSpPr>
            <a:spLocks xmlns:a="http://schemas.openxmlformats.org/drawingml/2006/main" noGrp="1"/>
          </p:cNvSpPr>
          <p:nvPr/>
        </p:nvSpPr>
        <p:spPr>
          <a:xfrm xmlns:a="http://schemas.openxmlformats.org/drawingml/2006/main">
            <a:off x="8191500" y="3790950"/>
            <a:ext cx="2057400" cy="1066800"/>
          </a:xfrm>
          <a:prstGeom xmlns:a="http://schemas.openxmlformats.org/drawingml/2006/main" prst="roundRect">
            <a:avLst>
              <a:gd name="adj" fmla="val 7143"/>
            </a:avLst>
          </a:prstGeom>
          <a:solidFill xmlns:a="http://schemas.openxmlformats.org/drawingml/2006/main">
            <a:srgbClr val="FFE7D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DE01E04-51DA-41C8-968A-FF49BA166CCE}"/>
              </a:ext>
            </a:extLst>
          </p:cNvPr>
          <p:cNvSpPr>
            <a:spLocks xmlns:a="http://schemas.openxmlformats.org/drawingml/2006/main" noGrp="1"/>
          </p:cNvSpPr>
          <p:nvPr/>
        </p:nvSpPr>
        <p:spPr>
          <a:xfrm xmlns:a="http://schemas.openxmlformats.org/drawingml/2006/main">
            <a:off x="8305800" y="401955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550" b="1">
                <a:solidFill>
                  <a:srgbClr val="FF7A18"/>
                </a:solidFill>
                <a:latin typeface="Arial"/>
                <a:ea typeface="Arial"/>
                <a:cs typeface="Arial"/>
              </a:defRPr>
            </a:pPr>
            <a:r>
              <a:rPr sz="2550" b="1">
                <a:solidFill>
                  <a:srgbClr val="FF7A18"/>
                </a:solidFill>
                <a:latin typeface="Arial"/>
                <a:ea typeface="Arial"/>
                <a:cs typeface="Arial"/>
              </a:rPr>
              <a:t>API</a:t>
            </a:r>
          </a:p>
        </p:txBody>
      </p:sp>
      <p:sp>
        <p:nvSpPr>
          <p:cNvPr id="32" name="">
            <a:extLst xmlns:a="http://schemas.openxmlformats.org/drawingml/2006/main">
              <a:ext uri="{FF2B5EF4-FFF2-40B4-BE49-F238E27FC236}">
                <a16:creationId xmlns:a16="http://schemas.microsoft.com/office/drawing/2014/main" id="{FFD9CEB8-28EA-46E9-B5E9-76EB8D2E638C}"/>
              </a:ext>
            </a:extLst>
          </p:cNvPr>
          <p:cNvSpPr>
            <a:spLocks xmlns:a="http://schemas.openxmlformats.org/drawingml/2006/main" noGrp="1"/>
          </p:cNvSpPr>
          <p:nvPr/>
        </p:nvSpPr>
        <p:spPr>
          <a:xfrm xmlns:a="http://schemas.openxmlformats.org/drawingml/2006/main">
            <a:off x="8191500" y="49911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7B27C9"/>
                </a:solidFill>
                <a:latin typeface="Arial"/>
                <a:ea typeface="Arial"/>
                <a:cs typeface="Arial"/>
              </a:defRPr>
            </a:pPr>
            <a:r>
              <a:rPr sz="1125" b="1">
                <a:solidFill>
                  <a:srgbClr val="7B27C9"/>
                </a:solidFill>
                <a:latin typeface="Arial"/>
                <a:ea typeface="Arial"/>
                <a:cs typeface="Arial"/>
              </a:rPr>
              <a:t>Local Verification</a:t>
            </a:r>
          </a:p>
        </p:txBody>
      </p:sp>
      <p:sp>
        <p:nvSpPr>
          <p:cNvPr id="33" name="">
            <a:extLst xmlns:a="http://schemas.openxmlformats.org/drawingml/2006/main">
              <a:ext uri="{FF2B5EF4-FFF2-40B4-BE49-F238E27FC236}">
                <a16:creationId xmlns:a16="http://schemas.microsoft.com/office/drawing/2014/main" id="{C2DB0441-892C-42BA-85AC-1C4E1A950374}"/>
              </a:ext>
            </a:extLst>
          </p:cNvPr>
          <p:cNvSpPr>
            <a:spLocks xmlns:a="http://schemas.openxmlformats.org/drawingml/2006/main" noGrp="1"/>
          </p:cNvSpPr>
          <p:nvPr/>
        </p:nvSpPr>
        <p:spPr>
          <a:xfrm xmlns:a="http://schemas.openxmlformats.org/drawingml/2006/main">
            <a:off x="8248650" y="5276850"/>
            <a:ext cx="1943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0">
                <a:solidFill>
                  <a:srgbClr val="24172E"/>
                </a:solidFill>
                <a:latin typeface="Arial"/>
                <a:ea typeface="Arial"/>
                <a:cs typeface="Arial"/>
              </a:defRPr>
            </a:pPr>
            <a:r>
              <a:rPr sz="975" b="0">
                <a:solidFill>
                  <a:srgbClr val="24172E"/>
                </a:solidFill>
                <a:latin typeface="Arial"/>
                <a:ea typeface="Arial"/>
                <a:cs typeface="Arial"/>
              </a:rPr>
              <a:t>Registration, login and profile route tested</a:t>
            </a:r>
          </a:p>
        </p:txBody>
      </p:sp>
      <p:sp>
        <p:nvSpPr>
          <p:cNvPr id="34" name="">
            <a:extLst xmlns:a="http://schemas.openxmlformats.org/drawingml/2006/main">
              <a:ext uri="{FF2B5EF4-FFF2-40B4-BE49-F238E27FC236}">
                <a16:creationId xmlns:a16="http://schemas.microsoft.com/office/drawing/2014/main" id="{758491C6-D27A-4E16-8F4B-5DF461754406}"/>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BC853F8-7857-4A3A-AE7F-DA43C40F3530}"/>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c5544d2aa73646e2"/>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D9EB1AE3-8B70-4693-AD67-7C3E3BAD21AC}"/>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38" name="">
            <a:extLst xmlns:a="http://schemas.openxmlformats.org/drawingml/2006/main">
              <a:ext uri="{FF2B5EF4-FFF2-40B4-BE49-F238E27FC236}">
                <a16:creationId xmlns:a16="http://schemas.microsoft.com/office/drawing/2014/main" id="{7A73A385-6A84-418F-9035-6056F5E1DB94}"/>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39" name="">
            <a:extLst xmlns:a="http://schemas.openxmlformats.org/drawingml/2006/main">
              <a:ext uri="{FF2B5EF4-FFF2-40B4-BE49-F238E27FC236}">
                <a16:creationId xmlns:a16="http://schemas.microsoft.com/office/drawing/2014/main" id="{84E2DE33-C8D0-4618-86F5-BEB632D22488}"/>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09</a:t>
            </a:r>
          </a:p>
        </p:txBody>
      </p:sp>
    </p:spTree>
    <p:extLst>
      <p:ext uri="{BB962C8B-B14F-4D97-AF65-F5344CB8AC3E}">
        <p14:creationId xmlns:p14="http://schemas.microsoft.com/office/powerpoint/2010/main" val="12710685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A3BFA62-5CAA-4A16-8290-2CE6D45C08C6}"/>
              </a:ext>
            </a:extLst>
          </p:cNvPr>
          <p:cNvSpPr>
            <a:spLocks xmlns:a="http://schemas.openxmlformats.org/drawingml/2006/main" noGrp="1"/>
          </p:cNvSpPr>
          <p:nvPr/>
        </p:nvSpPr>
        <p:spPr>
          <a:xfrm xmlns:a="http://schemas.openxmlformats.org/drawingml/2006/main">
            <a:off x="514350" y="1066800"/>
            <a:ext cx="104775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C104A-A6D8-4A13-B2AC-C1C84968C868}"/>
              </a:ext>
            </a:extLst>
          </p:cNvPr>
          <p:cNvSpPr>
            <a:spLocks xmlns:a="http://schemas.openxmlformats.org/drawingml/2006/main" noGrp="1"/>
          </p:cNvSpPr>
          <p:nvPr/>
        </p:nvSpPr>
        <p:spPr>
          <a:xfrm xmlns:a="http://schemas.openxmlformats.org/drawingml/2006/main">
            <a:off x="1562100" y="1066800"/>
            <a:ext cx="146685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250B53-E313-4B1D-A8C8-19DDD7F5ABA9}"/>
              </a:ext>
            </a:extLst>
          </p:cNvPr>
          <p:cNvSpPr>
            <a:spLocks xmlns:a="http://schemas.openxmlformats.org/drawingml/2006/main" noGrp="1"/>
          </p:cNvSpPr>
          <p:nvPr/>
        </p:nvSpPr>
        <p:spPr>
          <a:xfrm xmlns:a="http://schemas.openxmlformats.org/drawingml/2006/main">
            <a:off x="1219200" y="142875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7B27C9"/>
                </a:solidFill>
                <a:latin typeface="Arial"/>
                <a:ea typeface="Arial"/>
                <a:cs typeface="Arial"/>
              </a:defRPr>
            </a:pPr>
            <a:r>
              <a:rPr sz="2850" b="1">
                <a:solidFill>
                  <a:srgbClr val="7B27C9"/>
                </a:solidFill>
                <a:latin typeface="Arial"/>
                <a:ea typeface="Arial"/>
                <a:cs typeface="Arial"/>
              </a:rPr>
              <a:t>Key Milestones</a:t>
            </a:r>
          </a:p>
        </p:txBody>
      </p:sp>
      <p:sp>
        <p:nvSpPr>
          <p:cNvPr id="4" name="">
            <a:extLst xmlns:a="http://schemas.openxmlformats.org/drawingml/2006/main">
              <a:ext uri="{FF2B5EF4-FFF2-40B4-BE49-F238E27FC236}">
                <a16:creationId xmlns:a16="http://schemas.microsoft.com/office/drawing/2014/main" id="{941380AF-2266-474A-BC99-7991D27A14D0}"/>
              </a:ext>
            </a:extLst>
          </p:cNvPr>
          <p:cNvSpPr>
            <a:spLocks xmlns:a="http://schemas.openxmlformats.org/drawingml/2006/main" noGrp="1"/>
          </p:cNvSpPr>
          <p:nvPr/>
        </p:nvSpPr>
        <p:spPr>
          <a:xfrm xmlns:a="http://schemas.openxmlformats.org/drawingml/2006/main">
            <a:off x="1685925" y="2352675"/>
            <a:ext cx="609600" cy="609600"/>
          </a:xfrm>
          <a:prstGeom xmlns:a="http://schemas.openxmlformats.org/drawingml/2006/main" prst="ellipse">
            <a:avLst/>
          </a:prstGeom>
          <a:solidFill xmlns:a="http://schemas.openxmlformats.org/drawingml/2006/main">
            <a:srgbClr val="FF7A1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456E78-AD09-430B-B0A2-CDA40C2CA55A}"/>
              </a:ext>
            </a:extLst>
          </p:cNvPr>
          <p:cNvSpPr>
            <a:spLocks xmlns:a="http://schemas.openxmlformats.org/drawingml/2006/main" noGrp="1"/>
          </p:cNvSpPr>
          <p:nvPr/>
        </p:nvSpPr>
        <p:spPr>
          <a:xfrm xmlns:a="http://schemas.openxmlformats.org/drawingml/2006/main">
            <a:off x="1685925" y="255270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D3C2CEE0-9F94-4D51-812E-68D21529B6B0}"/>
              </a:ext>
            </a:extLst>
          </p:cNvPr>
          <p:cNvSpPr>
            <a:spLocks xmlns:a="http://schemas.openxmlformats.org/drawingml/2006/main" noGrp="1"/>
          </p:cNvSpPr>
          <p:nvPr/>
        </p:nvSpPr>
        <p:spPr>
          <a:xfrm xmlns:a="http://schemas.openxmlformats.org/drawingml/2006/main">
            <a:off x="1076325" y="3114675"/>
            <a:ext cx="1828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7A18"/>
                </a:solidFill>
                <a:latin typeface="Arial"/>
                <a:ea typeface="Arial"/>
                <a:cs typeface="Arial"/>
              </a:defRPr>
            </a:pPr>
            <a:r>
              <a:rPr sz="1275" b="1">
                <a:solidFill>
                  <a:srgbClr val="FF7A18"/>
                </a:solidFill>
                <a:latin typeface="Arial"/>
                <a:ea typeface="Arial"/>
                <a:cs typeface="Arial"/>
              </a:rPr>
              <a:t>Q4: 2026</a:t>
            </a:r>
          </a:p>
        </p:txBody>
      </p:sp>
      <p:sp>
        <p:nvSpPr>
          <p:cNvPr id="7" name="">
            <a:extLst xmlns:a="http://schemas.openxmlformats.org/drawingml/2006/main">
              <a:ext uri="{FF2B5EF4-FFF2-40B4-BE49-F238E27FC236}">
                <a16:creationId xmlns:a16="http://schemas.microsoft.com/office/drawing/2014/main" id="{088ED871-043C-4ABA-8D75-BFA9799D2382}"/>
              </a:ext>
            </a:extLst>
          </p:cNvPr>
          <p:cNvSpPr>
            <a:spLocks xmlns:a="http://schemas.openxmlformats.org/drawingml/2006/main" noGrp="1"/>
          </p:cNvSpPr>
          <p:nvPr/>
        </p:nvSpPr>
        <p:spPr>
          <a:xfrm xmlns:a="http://schemas.openxmlformats.org/drawingml/2006/main">
            <a:off x="904875" y="35242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7B27C9"/>
                </a:solidFill>
                <a:latin typeface="Arial"/>
                <a:ea typeface="Arial"/>
                <a:cs typeface="Arial"/>
              </a:defRPr>
            </a:pPr>
            <a:r>
              <a:rPr sz="1200" b="1">
                <a:solidFill>
                  <a:srgbClr val="7B27C9"/>
                </a:solidFill>
                <a:latin typeface="Arial"/>
                <a:ea typeface="Arial"/>
                <a:cs typeface="Arial"/>
              </a:rPr>
              <a:t>MVP Integration and Quality</a:t>
            </a:r>
          </a:p>
        </p:txBody>
      </p:sp>
      <p:sp>
        <p:nvSpPr>
          <p:cNvPr id="8" name="">
            <a:extLst xmlns:a="http://schemas.openxmlformats.org/drawingml/2006/main">
              <a:ext uri="{FF2B5EF4-FFF2-40B4-BE49-F238E27FC236}">
                <a16:creationId xmlns:a16="http://schemas.microsoft.com/office/drawing/2014/main" id="{0632395F-7692-4321-94EB-8BB3FA4C6106}"/>
              </a:ext>
            </a:extLst>
          </p:cNvPr>
          <p:cNvSpPr>
            <a:spLocks xmlns:a="http://schemas.openxmlformats.org/drawingml/2006/main" noGrp="1"/>
          </p:cNvSpPr>
          <p:nvPr/>
        </p:nvSpPr>
        <p:spPr>
          <a:xfrm xmlns:a="http://schemas.openxmlformats.org/drawingml/2006/main">
            <a:off x="1000125" y="4143375"/>
            <a:ext cx="200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Connect the web flows to the shared API</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Establish accuracy and false-alert baselines</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Define production privacy controls</a:t>
            </a:r>
          </a:p>
        </p:txBody>
      </p:sp>
      <p:sp>
        <p:nvSpPr>
          <p:cNvPr id="9" name="">
            <a:extLst xmlns:a="http://schemas.openxmlformats.org/drawingml/2006/main">
              <a:ext uri="{FF2B5EF4-FFF2-40B4-BE49-F238E27FC236}">
                <a16:creationId xmlns:a16="http://schemas.microsoft.com/office/drawing/2014/main" id="{DF7DA2BF-CB3A-457C-9881-20B49B0726B8}"/>
              </a:ext>
            </a:extLst>
          </p:cNvPr>
          <p:cNvSpPr>
            <a:spLocks xmlns:a="http://schemas.openxmlformats.org/drawingml/2006/main" noGrp="1"/>
          </p:cNvSpPr>
          <p:nvPr/>
        </p:nvSpPr>
        <p:spPr>
          <a:xfrm xmlns:a="http://schemas.openxmlformats.org/drawingml/2006/main">
            <a:off x="4143375" y="2352675"/>
            <a:ext cx="609600" cy="609600"/>
          </a:xfrm>
          <a:prstGeom xmlns:a="http://schemas.openxmlformats.org/drawingml/2006/main" prst="ellipse">
            <a:avLst/>
          </a:prstGeom>
          <a:solidFill xmlns:a="http://schemas.openxmlformats.org/drawingml/2006/main">
            <a:srgbClr val="A13C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B3EF9F-3C12-4CE0-8C7F-0451AA8E8344}"/>
              </a:ext>
            </a:extLst>
          </p:cNvPr>
          <p:cNvSpPr>
            <a:spLocks xmlns:a="http://schemas.openxmlformats.org/drawingml/2006/main" noGrp="1"/>
          </p:cNvSpPr>
          <p:nvPr/>
        </p:nvSpPr>
        <p:spPr>
          <a:xfrm xmlns:a="http://schemas.openxmlformats.org/drawingml/2006/main">
            <a:off x="4143375" y="255270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90637F9C-961B-4F14-8C13-7B2998DF78D7}"/>
              </a:ext>
            </a:extLst>
          </p:cNvPr>
          <p:cNvSpPr>
            <a:spLocks xmlns:a="http://schemas.openxmlformats.org/drawingml/2006/main" noGrp="1"/>
          </p:cNvSpPr>
          <p:nvPr/>
        </p:nvSpPr>
        <p:spPr>
          <a:xfrm xmlns:a="http://schemas.openxmlformats.org/drawingml/2006/main">
            <a:off x="3533775" y="3114675"/>
            <a:ext cx="1828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7B27C9"/>
                </a:solidFill>
                <a:latin typeface="Arial"/>
                <a:ea typeface="Arial"/>
                <a:cs typeface="Arial"/>
              </a:defRPr>
            </a:pPr>
            <a:r>
              <a:rPr sz="1275" b="1">
                <a:solidFill>
                  <a:srgbClr val="7B27C9"/>
                </a:solidFill>
                <a:latin typeface="Arial"/>
                <a:ea typeface="Arial"/>
                <a:cs typeface="Arial"/>
              </a:rPr>
              <a:t>Q1: 2027</a:t>
            </a:r>
          </a:p>
        </p:txBody>
      </p:sp>
      <p:sp>
        <p:nvSpPr>
          <p:cNvPr id="12" name="">
            <a:extLst xmlns:a="http://schemas.openxmlformats.org/drawingml/2006/main">
              <a:ext uri="{FF2B5EF4-FFF2-40B4-BE49-F238E27FC236}">
                <a16:creationId xmlns:a16="http://schemas.microsoft.com/office/drawing/2014/main" id="{67D2DA46-B295-4B6F-B099-9042FAD334E8}"/>
              </a:ext>
            </a:extLst>
          </p:cNvPr>
          <p:cNvSpPr>
            <a:spLocks xmlns:a="http://schemas.openxmlformats.org/drawingml/2006/main" noGrp="1"/>
          </p:cNvSpPr>
          <p:nvPr/>
        </p:nvSpPr>
        <p:spPr>
          <a:xfrm xmlns:a="http://schemas.openxmlformats.org/drawingml/2006/main">
            <a:off x="3362325" y="35242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7B27C9"/>
                </a:solidFill>
                <a:latin typeface="Arial"/>
                <a:ea typeface="Arial"/>
                <a:cs typeface="Arial"/>
              </a:defRPr>
            </a:pPr>
            <a:r>
              <a:rPr sz="1200" b="1">
                <a:solidFill>
                  <a:srgbClr val="7B27C9"/>
                </a:solidFill>
                <a:latin typeface="Arial"/>
                <a:ea typeface="Arial"/>
                <a:cs typeface="Arial"/>
              </a:rPr>
              <a:t>Android Pilot</a:t>
            </a:r>
          </a:p>
        </p:txBody>
      </p:sp>
      <p:sp>
        <p:nvSpPr>
          <p:cNvPr id="13" name="">
            <a:extLst xmlns:a="http://schemas.openxmlformats.org/drawingml/2006/main">
              <a:ext uri="{FF2B5EF4-FFF2-40B4-BE49-F238E27FC236}">
                <a16:creationId xmlns:a16="http://schemas.microsoft.com/office/drawing/2014/main" id="{FAA54E90-F362-4A82-9F1D-D0311CC1BDFB}"/>
              </a:ext>
            </a:extLst>
          </p:cNvPr>
          <p:cNvSpPr>
            <a:spLocks xmlns:a="http://schemas.openxmlformats.org/drawingml/2006/main" noGrp="1"/>
          </p:cNvSpPr>
          <p:nvPr/>
        </p:nvSpPr>
        <p:spPr>
          <a:xfrm xmlns:a="http://schemas.openxmlformats.org/drawingml/2006/main">
            <a:off x="3457575" y="4143375"/>
            <a:ext cx="200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Implement call-screening and notification access</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Test permission comprehension</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Pilot with selected everyday users</a:t>
            </a:r>
          </a:p>
        </p:txBody>
      </p:sp>
      <p:sp>
        <p:nvSpPr>
          <p:cNvPr id="14" name="">
            <a:extLst xmlns:a="http://schemas.openxmlformats.org/drawingml/2006/main">
              <a:ext uri="{FF2B5EF4-FFF2-40B4-BE49-F238E27FC236}">
                <a16:creationId xmlns:a16="http://schemas.microsoft.com/office/drawing/2014/main" id="{38BB7AB9-7245-4D31-A63F-B59F7BFD0DFD}"/>
              </a:ext>
            </a:extLst>
          </p:cNvPr>
          <p:cNvSpPr>
            <a:spLocks xmlns:a="http://schemas.openxmlformats.org/drawingml/2006/main" noGrp="1"/>
          </p:cNvSpPr>
          <p:nvPr/>
        </p:nvSpPr>
        <p:spPr>
          <a:xfrm xmlns:a="http://schemas.openxmlformats.org/drawingml/2006/main">
            <a:off x="6600825" y="2352675"/>
            <a:ext cx="609600" cy="609600"/>
          </a:xfrm>
          <a:prstGeom xmlns:a="http://schemas.openxmlformats.org/drawingml/2006/main" prst="ellipse">
            <a:avLst/>
          </a:prstGeom>
          <a:solidFill xmlns:a="http://schemas.openxmlformats.org/drawingml/2006/main">
            <a:srgbClr val="7B27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52ED9C-1E1D-452C-87CD-E62905AD3307}"/>
              </a:ext>
            </a:extLst>
          </p:cNvPr>
          <p:cNvSpPr>
            <a:spLocks xmlns:a="http://schemas.openxmlformats.org/drawingml/2006/main" noGrp="1"/>
          </p:cNvSpPr>
          <p:nvPr/>
        </p:nvSpPr>
        <p:spPr>
          <a:xfrm xmlns:a="http://schemas.openxmlformats.org/drawingml/2006/main">
            <a:off x="6600825" y="255270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BD28D988-030A-474F-9F6E-F5E3E8A7D73B}"/>
              </a:ext>
            </a:extLst>
          </p:cNvPr>
          <p:cNvSpPr>
            <a:spLocks xmlns:a="http://schemas.openxmlformats.org/drawingml/2006/main" noGrp="1"/>
          </p:cNvSpPr>
          <p:nvPr/>
        </p:nvSpPr>
        <p:spPr>
          <a:xfrm xmlns:a="http://schemas.openxmlformats.org/drawingml/2006/main">
            <a:off x="5991225" y="3114675"/>
            <a:ext cx="1828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7B27C9"/>
                </a:solidFill>
                <a:latin typeface="Arial"/>
                <a:ea typeface="Arial"/>
                <a:cs typeface="Arial"/>
              </a:defRPr>
            </a:pPr>
            <a:r>
              <a:rPr sz="1275" b="1">
                <a:solidFill>
                  <a:srgbClr val="7B27C9"/>
                </a:solidFill>
                <a:latin typeface="Arial"/>
                <a:ea typeface="Arial"/>
                <a:cs typeface="Arial"/>
              </a:rPr>
              <a:t>Q2: 2027</a:t>
            </a:r>
          </a:p>
        </p:txBody>
      </p:sp>
      <p:sp>
        <p:nvSpPr>
          <p:cNvPr id="17" name="">
            <a:extLst xmlns:a="http://schemas.openxmlformats.org/drawingml/2006/main">
              <a:ext uri="{FF2B5EF4-FFF2-40B4-BE49-F238E27FC236}">
                <a16:creationId xmlns:a16="http://schemas.microsoft.com/office/drawing/2014/main" id="{5D679764-6BB3-4D41-B0CF-6A6DB6132203}"/>
              </a:ext>
            </a:extLst>
          </p:cNvPr>
          <p:cNvSpPr>
            <a:spLocks xmlns:a="http://schemas.openxmlformats.org/drawingml/2006/main" noGrp="1"/>
          </p:cNvSpPr>
          <p:nvPr/>
        </p:nvSpPr>
        <p:spPr>
          <a:xfrm xmlns:a="http://schemas.openxmlformats.org/drawingml/2006/main">
            <a:off x="5819775" y="35242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7B27C9"/>
                </a:solidFill>
                <a:latin typeface="Arial"/>
                <a:ea typeface="Arial"/>
                <a:cs typeface="Arial"/>
              </a:defRPr>
            </a:pPr>
            <a:r>
              <a:rPr sz="1200" b="1">
                <a:solidFill>
                  <a:srgbClr val="7B27C9"/>
                </a:solidFill>
                <a:latin typeface="Arial"/>
                <a:ea typeface="Arial"/>
                <a:cs typeface="Arial"/>
              </a:rPr>
              <a:t>Email and iOS</a:t>
            </a:r>
          </a:p>
        </p:txBody>
      </p:sp>
      <p:sp>
        <p:nvSpPr>
          <p:cNvPr id="18" name="">
            <a:extLst xmlns:a="http://schemas.openxmlformats.org/drawingml/2006/main">
              <a:ext uri="{FF2B5EF4-FFF2-40B4-BE49-F238E27FC236}">
                <a16:creationId xmlns:a16="http://schemas.microsoft.com/office/drawing/2014/main" id="{AE81D375-FA49-4235-9B09-841B14B99A9E}"/>
              </a:ext>
            </a:extLst>
          </p:cNvPr>
          <p:cNvSpPr>
            <a:spLocks xmlns:a="http://schemas.openxmlformats.org/drawingml/2006/main" noGrp="1"/>
          </p:cNvSpPr>
          <p:nvPr/>
        </p:nvSpPr>
        <p:spPr>
          <a:xfrm xmlns:a="http://schemas.openxmlformats.org/drawingml/2006/main">
            <a:off x="5915025" y="4143375"/>
            <a:ext cx="200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Add authorized Gmail connection</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Build supported Apple extensions</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Measure cross-channel value</a:t>
            </a:r>
          </a:p>
        </p:txBody>
      </p:sp>
      <p:sp>
        <p:nvSpPr>
          <p:cNvPr id="19" name="">
            <a:extLst xmlns:a="http://schemas.openxmlformats.org/drawingml/2006/main">
              <a:ext uri="{FF2B5EF4-FFF2-40B4-BE49-F238E27FC236}">
                <a16:creationId xmlns:a16="http://schemas.microsoft.com/office/drawing/2014/main" id="{3B68F5F4-0665-4A63-9199-F0C27F9AC568}"/>
              </a:ext>
            </a:extLst>
          </p:cNvPr>
          <p:cNvSpPr>
            <a:spLocks xmlns:a="http://schemas.openxmlformats.org/drawingml/2006/main" noGrp="1"/>
          </p:cNvSpPr>
          <p:nvPr/>
        </p:nvSpPr>
        <p:spPr>
          <a:xfrm xmlns:a="http://schemas.openxmlformats.org/drawingml/2006/main">
            <a:off x="9058275" y="2352675"/>
            <a:ext cx="609600" cy="609600"/>
          </a:xfrm>
          <a:prstGeom xmlns:a="http://schemas.openxmlformats.org/drawingml/2006/main" prst="ellipse">
            <a:avLst/>
          </a:prstGeom>
          <a:solidFill xmlns:a="http://schemas.openxmlformats.org/drawingml/2006/main">
            <a:srgbClr val="190A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AF5E21D-5CAB-463A-8070-80EA76C04057}"/>
              </a:ext>
            </a:extLst>
          </p:cNvPr>
          <p:cNvSpPr>
            <a:spLocks xmlns:a="http://schemas.openxmlformats.org/drawingml/2006/main" noGrp="1"/>
          </p:cNvSpPr>
          <p:nvPr/>
        </p:nvSpPr>
        <p:spPr>
          <a:xfrm xmlns:a="http://schemas.openxmlformats.org/drawingml/2006/main">
            <a:off x="9058275" y="255270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3AD2B21A-C124-4695-B778-FC802DD1CFE2}"/>
              </a:ext>
            </a:extLst>
          </p:cNvPr>
          <p:cNvSpPr>
            <a:spLocks xmlns:a="http://schemas.openxmlformats.org/drawingml/2006/main" noGrp="1"/>
          </p:cNvSpPr>
          <p:nvPr/>
        </p:nvSpPr>
        <p:spPr>
          <a:xfrm xmlns:a="http://schemas.openxmlformats.org/drawingml/2006/main">
            <a:off x="8448675" y="3114675"/>
            <a:ext cx="1828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7B27C9"/>
                </a:solidFill>
                <a:latin typeface="Arial"/>
                <a:ea typeface="Arial"/>
                <a:cs typeface="Arial"/>
              </a:defRPr>
            </a:pPr>
            <a:r>
              <a:rPr sz="1275" b="1">
                <a:solidFill>
                  <a:srgbClr val="7B27C9"/>
                </a:solidFill>
                <a:latin typeface="Arial"/>
                <a:ea typeface="Arial"/>
                <a:cs typeface="Arial"/>
              </a:rPr>
              <a:t>H2: 2027</a:t>
            </a:r>
          </a:p>
        </p:txBody>
      </p:sp>
      <p:sp>
        <p:nvSpPr>
          <p:cNvPr id="22" name="">
            <a:extLst xmlns:a="http://schemas.openxmlformats.org/drawingml/2006/main">
              <a:ext uri="{FF2B5EF4-FFF2-40B4-BE49-F238E27FC236}">
                <a16:creationId xmlns:a16="http://schemas.microsoft.com/office/drawing/2014/main" id="{42A82FE7-1D1A-4443-A1F0-6F27E27EBFDC}"/>
              </a:ext>
            </a:extLst>
          </p:cNvPr>
          <p:cNvSpPr>
            <a:spLocks xmlns:a="http://schemas.openxmlformats.org/drawingml/2006/main" noGrp="1"/>
          </p:cNvSpPr>
          <p:nvPr/>
        </p:nvSpPr>
        <p:spPr>
          <a:xfrm xmlns:a="http://schemas.openxmlformats.org/drawingml/2006/main">
            <a:off x="8277225" y="35242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7B27C9"/>
                </a:solidFill>
                <a:latin typeface="Arial"/>
                <a:ea typeface="Arial"/>
                <a:cs typeface="Arial"/>
              </a:defRPr>
            </a:pPr>
            <a:r>
              <a:rPr sz="1200" b="1">
                <a:solidFill>
                  <a:srgbClr val="7B27C9"/>
                </a:solidFill>
                <a:latin typeface="Arial"/>
                <a:ea typeface="Arial"/>
                <a:cs typeface="Arial"/>
              </a:rPr>
              <a:t>Partner Pilots</a:t>
            </a:r>
          </a:p>
        </p:txBody>
      </p:sp>
      <p:sp>
        <p:nvSpPr>
          <p:cNvPr id="23" name="">
            <a:extLst xmlns:a="http://schemas.openxmlformats.org/drawingml/2006/main">
              <a:ext uri="{FF2B5EF4-FFF2-40B4-BE49-F238E27FC236}">
                <a16:creationId xmlns:a16="http://schemas.microsoft.com/office/drawing/2014/main" id="{DF46C463-016E-4E09-A804-536C63DFF1F7}"/>
              </a:ext>
            </a:extLst>
          </p:cNvPr>
          <p:cNvSpPr>
            <a:spLocks xmlns:a="http://schemas.openxmlformats.org/drawingml/2006/main" noGrp="1"/>
          </p:cNvSpPr>
          <p:nvPr/>
        </p:nvSpPr>
        <p:spPr>
          <a:xfrm xmlns:a="http://schemas.openxmlformats.org/drawingml/2006/main">
            <a:off x="8372475" y="4143375"/>
            <a:ext cx="200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Run SME and institutional pilots</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Improve moderated local intelligence</a:t>
            </a:r>
          </a:p>
          <a:p xmlns:a="http://schemas.openxmlformats.org/drawingml/2006/main">
            <a:pPr algn="l">
              <a:defRPr sz="1050" b="0">
                <a:solidFill>
                  <a:srgbClr val="24172E"/>
                </a:solidFill>
                <a:latin typeface="Arial"/>
                <a:ea typeface="Arial"/>
                <a:cs typeface="Arial"/>
              </a:defRPr>
            </a:pPr>
            <a:r>
              <a:rPr sz="1050" b="0">
                <a:solidFill>
                  <a:srgbClr val="24172E"/>
                </a:solidFill>
                <a:latin typeface="Arial"/>
                <a:ea typeface="Arial"/>
                <a:cs typeface="Arial"/>
              </a:rPr>
              <a:t>• Prepare regional-language expansion</a:t>
            </a:r>
          </a:p>
        </p:txBody>
      </p:sp>
      <p:sp>
        <p:nvSpPr>
          <p:cNvPr id="24" name="">
            <a:extLst xmlns:a="http://schemas.openxmlformats.org/drawingml/2006/main">
              <a:ext uri="{FF2B5EF4-FFF2-40B4-BE49-F238E27FC236}">
                <a16:creationId xmlns:a16="http://schemas.microsoft.com/office/drawing/2014/main" id="{5FC39FA8-A9C3-4631-8704-C3BA7FCB23F2}"/>
              </a:ext>
            </a:extLst>
          </p:cNvPr>
          <p:cNvSpPr>
            <a:spLocks xmlns:a="http://schemas.openxmlformats.org/drawingml/2006/main" noGrp="1"/>
          </p:cNvSpPr>
          <p:nvPr/>
        </p:nvSpPr>
        <p:spPr>
          <a:xfrm xmlns:a="http://schemas.openxmlformats.org/drawingml/2006/main">
            <a:off x="514350" y="6534150"/>
            <a:ext cx="9667875" cy="66675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50B05BC-94AA-483A-A9C9-2FA62C355E49}"/>
              </a:ext>
            </a:extLst>
          </p:cNvPr>
          <p:cNvSpPr>
            <a:spLocks xmlns:a="http://schemas.openxmlformats.org/drawingml/2006/main" noGrp="1"/>
          </p:cNvSpPr>
          <p:nvPr/>
        </p:nvSpPr>
        <p:spPr>
          <a:xfrm xmlns:a="http://schemas.openxmlformats.org/drawingml/2006/main">
            <a:off x="9172575" y="6534150"/>
            <a:ext cx="1009650" cy="666750"/>
          </a:xfrm>
          <a:prstGeom xmlns:a="http://schemas.openxmlformats.org/drawingml/2006/main" prst="rect">
            <a:avLst/>
          </a:prstGeom>
          <a:solidFill xmlns:a="http://schemas.openxmlformats.org/drawingml/2006/main">
            <a:srgbClr val="7B27C9"/>
          </a:solidFill>
          <a:ln xmlns:a="http://schemas.openxmlformats.org/drawingml/2006/main" w="0">
            <a:no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ee6b40032734462b"/>
          <a:stretch xmlns:a="http://schemas.openxmlformats.org/drawingml/2006/main"/>
        </p:blipFill>
        <p:spPr>
          <a:xfrm xmlns:a="http://schemas.openxmlformats.org/drawingml/2006/main">
            <a:off x="1105230" y="6696075"/>
            <a:ext cx="251943" cy="252603"/>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08950FC-25CC-490B-9F88-2D609C0F507B}"/>
              </a:ext>
            </a:extLst>
          </p:cNvPr>
          <p:cNvSpPr>
            <a:spLocks xmlns:a="http://schemas.openxmlformats.org/drawingml/2006/main" noGrp="1"/>
          </p:cNvSpPr>
          <p:nvPr/>
        </p:nvSpPr>
        <p:spPr>
          <a:xfrm xmlns:a="http://schemas.openxmlformats.org/drawingml/2006/main">
            <a:off x="1424369" y="6710934"/>
            <a:ext cx="891540"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3" b="1">
                <a:solidFill>
                  <a:srgbClr val="FFFFFF"/>
                </a:solidFill>
                <a:latin typeface="Arial"/>
                <a:ea typeface="Arial"/>
                <a:cs typeface="Arial"/>
              </a:defRPr>
            </a:pPr>
            <a:r>
              <a:rPr sz="1053" b="1">
                <a:solidFill>
                  <a:srgbClr val="FFFFFF"/>
                </a:solidFill>
                <a:latin typeface="Arial"/>
                <a:ea typeface="Arial"/>
                <a:cs typeface="Arial"/>
              </a:rPr>
              <a:t>GUARD</a:t>
            </a:r>
          </a:p>
        </p:txBody>
      </p:sp>
      <p:sp>
        <p:nvSpPr>
          <p:cNvPr id="28" name="">
            <a:extLst xmlns:a="http://schemas.openxmlformats.org/drawingml/2006/main">
              <a:ext uri="{FF2B5EF4-FFF2-40B4-BE49-F238E27FC236}">
                <a16:creationId xmlns:a16="http://schemas.microsoft.com/office/drawing/2014/main" id="{71685A01-E885-4D5D-AAF8-F1D74CA7EA2C}"/>
              </a:ext>
            </a:extLst>
          </p:cNvPr>
          <p:cNvSpPr>
            <a:spLocks xmlns:a="http://schemas.openxmlformats.org/drawingml/2006/main" noGrp="1"/>
          </p:cNvSpPr>
          <p:nvPr/>
        </p:nvSpPr>
        <p:spPr>
          <a:xfrm xmlns:a="http://schemas.openxmlformats.org/drawingml/2006/main">
            <a:off x="1431798" y="6881813"/>
            <a:ext cx="891540" cy="96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8" b="1">
                <a:solidFill>
                  <a:srgbClr val="FFC447"/>
                </a:solidFill>
                <a:latin typeface="Arial"/>
                <a:ea typeface="Arial"/>
                <a:cs typeface="Arial"/>
              </a:defRPr>
            </a:pPr>
            <a:r>
              <a:rPr sz="398" b="1">
                <a:solidFill>
                  <a:srgbClr val="FFC447"/>
                </a:solidFill>
                <a:latin typeface="Arial"/>
                <a:ea typeface="Arial"/>
                <a:cs typeface="Arial"/>
              </a:rPr>
              <a:t>DIGITAL SAFETY</a:t>
            </a:r>
          </a:p>
        </p:txBody>
      </p:sp>
      <p:sp>
        <p:nvSpPr>
          <p:cNvPr id="29" name="">
            <a:extLst xmlns:a="http://schemas.openxmlformats.org/drawingml/2006/main">
              <a:ext uri="{FF2B5EF4-FFF2-40B4-BE49-F238E27FC236}">
                <a16:creationId xmlns:a16="http://schemas.microsoft.com/office/drawing/2014/main" id="{2A24448B-CD9C-434B-9AC3-5C9A614D1FFC}"/>
              </a:ext>
            </a:extLst>
          </p:cNvPr>
          <p:cNvSpPr>
            <a:spLocks xmlns:a="http://schemas.openxmlformats.org/drawingml/2006/main" noGrp="1"/>
          </p:cNvSpPr>
          <p:nvPr/>
        </p:nvSpPr>
        <p:spPr>
          <a:xfrm xmlns:a="http://schemas.openxmlformats.org/drawingml/2006/main">
            <a:off x="9363075" y="6705600"/>
            <a:ext cx="628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10</a:t>
            </a:r>
          </a:p>
        </p:txBody>
      </p:sp>
    </p:spTree>
    <p:extLst>
      <p:ext uri="{BB962C8B-B14F-4D97-AF65-F5344CB8AC3E}">
        <p14:creationId xmlns:p14="http://schemas.microsoft.com/office/powerpoint/2010/main" val="6076159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ED6A584-6BA1-4162-8EE8-EFF9748E4F4B}"/>
              </a:ext>
            </a:extLst>
          </p:cNvPr>
          <p:cNvSpPr>
            <a:spLocks xmlns:a="http://schemas.openxmlformats.org/drawingml/2006/main" noGrp="1"/>
          </p:cNvSpPr>
          <p:nvPr/>
        </p:nvSpPr>
        <p:spPr>
          <a:xfrm xmlns:a="http://schemas.openxmlformats.org/drawingml/2006/main">
            <a:off x="514350" y="1066800"/>
            <a:ext cx="9667875" cy="5562600"/>
          </a:xfrm>
          <a:prstGeom xmlns:a="http://schemas.openxmlformats.org/drawingml/2006/main" prst="rect">
            <a:avLst/>
          </a:prstGeom>
          <a:solidFill xmlns:a="http://schemas.openxmlformats.org/drawingml/2006/main">
            <a:srgbClr val="190A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170C47-3441-4DBF-84A9-6216DF7DEB51}"/>
              </a:ext>
            </a:extLst>
          </p:cNvPr>
          <p:cNvSpPr>
            <a:spLocks xmlns:a="http://schemas.openxmlformats.org/drawingml/2006/main" noGrp="1"/>
          </p:cNvSpPr>
          <p:nvPr/>
        </p:nvSpPr>
        <p:spPr>
          <a:xfrm xmlns:a="http://schemas.openxmlformats.org/drawingml/2006/main">
            <a:off x="514350" y="1066800"/>
            <a:ext cx="1066800" cy="76200"/>
          </a:xfrm>
          <a:prstGeom xmlns:a="http://schemas.openxmlformats.org/drawingml/2006/main" prst="rect">
            <a:avLst/>
          </a:prstGeom>
          <a:solidFill xmlns:a="http://schemas.openxmlformats.org/drawingml/2006/main">
            <a:srgbClr val="FF7A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FA776C-289C-48B8-A236-5B48C3019175}"/>
              </a:ext>
            </a:extLst>
          </p:cNvPr>
          <p:cNvSpPr>
            <a:spLocks xmlns:a="http://schemas.openxmlformats.org/drawingml/2006/main" noGrp="1"/>
          </p:cNvSpPr>
          <p:nvPr/>
        </p:nvSpPr>
        <p:spPr>
          <a:xfrm xmlns:a="http://schemas.openxmlformats.org/drawingml/2006/main">
            <a:off x="1581150" y="1066800"/>
            <a:ext cx="1447800" cy="76200"/>
          </a:xfrm>
          <a:prstGeom xmlns:a="http://schemas.openxmlformats.org/drawingml/2006/main" prst="rect">
            <a:avLst/>
          </a:prstGeom>
          <a:solidFill xmlns:a="http://schemas.openxmlformats.org/drawingml/2006/main">
            <a:srgbClr val="7B27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F72ED4-AE12-4863-BB8E-B12C60AFE416}"/>
              </a:ext>
            </a:extLst>
          </p:cNvPr>
          <p:cNvSpPr>
            <a:spLocks xmlns:a="http://schemas.openxmlformats.org/drawingml/2006/main" noGrp="1"/>
          </p:cNvSpPr>
          <p:nvPr/>
        </p:nvSpPr>
        <p:spPr>
          <a:xfrm xmlns:a="http://schemas.openxmlformats.org/drawingml/2006/main">
            <a:off x="1238250" y="19240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FFC447"/>
                </a:solidFill>
                <a:latin typeface="Arial"/>
                <a:ea typeface="Arial"/>
                <a:cs typeface="Arial"/>
              </a:defRPr>
            </a:pPr>
            <a:r>
              <a:rPr sz="2775" b="1">
                <a:solidFill>
                  <a:srgbClr val="FFC447"/>
                </a:solidFill>
                <a:latin typeface="Arial"/>
                <a:ea typeface="Arial"/>
                <a:cs typeface="Arial"/>
              </a:rPr>
              <a:t>OUR TEAM</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e5a792bea774463"/>
          <a:stretch xmlns:a="http://schemas.openxmlformats.org/drawingml/2006/main"/>
        </p:blipFill>
        <p:spPr>
          <a:xfrm xmlns:a="http://schemas.openxmlformats.org/drawingml/2006/main">
            <a:off x="7763319" y="1476375"/>
            <a:ext cx="339155" cy="34004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0CDF87B-66A9-4BA4-9400-802DBE5DCC9A}"/>
              </a:ext>
            </a:extLst>
          </p:cNvPr>
          <p:cNvSpPr>
            <a:spLocks xmlns:a="http://schemas.openxmlformats.org/drawingml/2006/main" noGrp="1"/>
          </p:cNvSpPr>
          <p:nvPr/>
        </p:nvSpPr>
        <p:spPr>
          <a:xfrm xmlns:a="http://schemas.openxmlformats.org/drawingml/2006/main">
            <a:off x="8192929" y="1496378"/>
            <a:ext cx="1200150"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18" b="1">
                <a:solidFill>
                  <a:srgbClr val="FFFFFF"/>
                </a:solidFill>
                <a:latin typeface="Arial"/>
                <a:ea typeface="Arial"/>
                <a:cs typeface="Arial"/>
              </a:defRPr>
            </a:pPr>
            <a:r>
              <a:rPr sz="1418" b="1">
                <a:solidFill>
                  <a:srgbClr val="FFFFFF"/>
                </a:solidFill>
                <a:latin typeface="Arial"/>
                <a:ea typeface="Arial"/>
                <a:cs typeface="Arial"/>
              </a:rPr>
              <a:t>GUARD</a:t>
            </a:r>
          </a:p>
        </p:txBody>
      </p:sp>
      <p:sp>
        <p:nvSpPr>
          <p:cNvPr id="7" name="">
            <a:extLst xmlns:a="http://schemas.openxmlformats.org/drawingml/2006/main">
              <a:ext uri="{FF2B5EF4-FFF2-40B4-BE49-F238E27FC236}">
                <a16:creationId xmlns:a16="http://schemas.microsoft.com/office/drawing/2014/main" id="{5A0C183E-0CF3-49E5-A7BF-16329CAC1E69}"/>
              </a:ext>
            </a:extLst>
          </p:cNvPr>
          <p:cNvSpPr>
            <a:spLocks xmlns:a="http://schemas.openxmlformats.org/drawingml/2006/main" noGrp="1"/>
          </p:cNvSpPr>
          <p:nvPr/>
        </p:nvSpPr>
        <p:spPr>
          <a:xfrm xmlns:a="http://schemas.openxmlformats.org/drawingml/2006/main">
            <a:off x="8202930" y="1726406"/>
            <a:ext cx="1200150" cy="130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36" b="1">
                <a:solidFill>
                  <a:srgbClr val="FFC447"/>
                </a:solidFill>
                <a:latin typeface="Arial"/>
                <a:ea typeface="Arial"/>
                <a:cs typeface="Arial"/>
              </a:defRPr>
            </a:pPr>
            <a:r>
              <a:rPr sz="536" b="1">
                <a:solidFill>
                  <a:srgbClr val="FFC447"/>
                </a:solidFill>
                <a:latin typeface="Arial"/>
                <a:ea typeface="Arial"/>
                <a:cs typeface="Arial"/>
              </a:rPr>
              <a:t>DIGITAL SAFETY</a:t>
            </a:r>
          </a:p>
        </p:txBody>
      </p:sp>
      <p:sp>
        <p:nvSpPr>
          <p:cNvPr id="8" name="">
            <a:extLst xmlns:a="http://schemas.openxmlformats.org/drawingml/2006/main">
              <a:ext uri="{FF2B5EF4-FFF2-40B4-BE49-F238E27FC236}">
                <a16:creationId xmlns:a16="http://schemas.microsoft.com/office/drawing/2014/main" id="{89C469E9-03EB-4348-AA30-B2CC374B2DBB}"/>
              </a:ext>
            </a:extLst>
          </p:cNvPr>
          <p:cNvSpPr>
            <a:spLocks xmlns:a="http://schemas.openxmlformats.org/drawingml/2006/main" noGrp="1"/>
          </p:cNvSpPr>
          <p:nvPr/>
        </p:nvSpPr>
        <p:spPr>
          <a:xfrm xmlns:a="http://schemas.openxmlformats.org/drawingml/2006/main">
            <a:off x="1085850" y="2914650"/>
            <a:ext cx="1257300" cy="1257300"/>
          </a:xfrm>
          <a:prstGeom xmlns:a="http://schemas.openxmlformats.org/drawingml/2006/main" prst="ellipse">
            <a:avLst/>
          </a:prstGeom>
          <a:solidFill xmlns:a="http://schemas.openxmlformats.org/drawingml/2006/main">
            <a:srgbClr val="7B27C9"/>
          </a:solidFill>
          <a:ln xmlns:a="http://schemas.openxmlformats.org/drawingml/2006/main" w="28575">
            <a:solidFill>
              <a:srgbClr val="FF7A18"/>
            </a:solidFill>
          </a:ln>
        </p:spPr>
      </p:sp>
      <p:sp>
        <p:nvSpPr>
          <p:cNvPr id="9" name="">
            <a:extLst xmlns:a="http://schemas.openxmlformats.org/drawingml/2006/main">
              <a:ext uri="{FF2B5EF4-FFF2-40B4-BE49-F238E27FC236}">
                <a16:creationId xmlns:a16="http://schemas.microsoft.com/office/drawing/2014/main" id="{578DF1B2-0BE7-4E05-97C9-66C574A72B62}"/>
              </a:ext>
            </a:extLst>
          </p:cNvPr>
          <p:cNvSpPr>
            <a:spLocks xmlns:a="http://schemas.openxmlformats.org/drawingml/2006/main" noGrp="1"/>
          </p:cNvSpPr>
          <p:nvPr/>
        </p:nvSpPr>
        <p:spPr>
          <a:xfrm xmlns:a="http://schemas.openxmlformats.org/drawingml/2006/main">
            <a:off x="1085850" y="3343275"/>
            <a:ext cx="1257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FSA</a:t>
            </a:r>
          </a:p>
        </p:txBody>
      </p:sp>
      <p:sp>
        <p:nvSpPr>
          <p:cNvPr id="10" name="">
            <a:extLst xmlns:a="http://schemas.openxmlformats.org/drawingml/2006/main">
              <a:ext uri="{FF2B5EF4-FFF2-40B4-BE49-F238E27FC236}">
                <a16:creationId xmlns:a16="http://schemas.microsoft.com/office/drawing/2014/main" id="{57375409-64CE-4E58-A5ED-B05580F218D3}"/>
              </a:ext>
            </a:extLst>
          </p:cNvPr>
          <p:cNvSpPr>
            <a:spLocks xmlns:a="http://schemas.openxmlformats.org/drawingml/2006/main" noGrp="1"/>
          </p:cNvSpPr>
          <p:nvPr/>
        </p:nvSpPr>
        <p:spPr>
          <a:xfrm xmlns:a="http://schemas.openxmlformats.org/drawingml/2006/main">
            <a:off x="981075" y="2790825"/>
            <a:ext cx="400050" cy="400050"/>
          </a:xfrm>
          <a:prstGeom xmlns:a="http://schemas.openxmlformats.org/drawingml/2006/main" prst="ellipse">
            <a:avLst/>
          </a:prstGeom>
          <a:solidFill xmlns:a="http://schemas.openxmlformats.org/drawingml/2006/main">
            <a:srgbClr val="FF7A1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8D00CA-7A87-40CA-975D-90A17BC2B61C}"/>
              </a:ext>
            </a:extLst>
          </p:cNvPr>
          <p:cNvSpPr>
            <a:spLocks xmlns:a="http://schemas.openxmlformats.org/drawingml/2006/main" noGrp="1"/>
          </p:cNvSpPr>
          <p:nvPr/>
        </p:nvSpPr>
        <p:spPr>
          <a:xfrm xmlns:a="http://schemas.openxmlformats.org/drawingml/2006/main">
            <a:off x="981075" y="29146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190A2C"/>
                </a:solidFill>
                <a:latin typeface="Arial"/>
                <a:ea typeface="Arial"/>
                <a:cs typeface="Arial"/>
              </a:defRPr>
            </a:pPr>
            <a:r>
              <a:rPr sz="825" b="1">
                <a:solidFill>
                  <a:srgbClr val="190A2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8ECE112B-C663-4481-A04D-28A02862A06C}"/>
              </a:ext>
            </a:extLst>
          </p:cNvPr>
          <p:cNvSpPr>
            <a:spLocks xmlns:a="http://schemas.openxmlformats.org/drawingml/2006/main" noGrp="1"/>
          </p:cNvSpPr>
          <p:nvPr/>
        </p:nvSpPr>
        <p:spPr>
          <a:xfrm xmlns:a="http://schemas.openxmlformats.org/drawingml/2006/main">
            <a:off x="819150" y="4391025"/>
            <a:ext cx="1790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Fuseini Saida</a:t>
            </a:r>
          </a:p>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Ayisha</a:t>
            </a:r>
          </a:p>
        </p:txBody>
      </p:sp>
      <p:sp>
        <p:nvSpPr>
          <p:cNvPr id="13" name="">
            <a:extLst xmlns:a="http://schemas.openxmlformats.org/drawingml/2006/main">
              <a:ext uri="{FF2B5EF4-FFF2-40B4-BE49-F238E27FC236}">
                <a16:creationId xmlns:a16="http://schemas.microsoft.com/office/drawing/2014/main" id="{42B072C4-6632-42CB-86B4-644AF80B22E3}"/>
              </a:ext>
            </a:extLst>
          </p:cNvPr>
          <p:cNvSpPr>
            <a:spLocks xmlns:a="http://schemas.openxmlformats.org/drawingml/2006/main" noGrp="1"/>
          </p:cNvSpPr>
          <p:nvPr/>
        </p:nvSpPr>
        <p:spPr>
          <a:xfrm xmlns:a="http://schemas.openxmlformats.org/drawingml/2006/main">
            <a:off x="857250" y="5000625"/>
            <a:ext cx="171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Role and relevant</a:t>
            </a:r>
          </a:p>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experience to confirm</a:t>
            </a:r>
          </a:p>
        </p:txBody>
      </p:sp>
      <p:sp>
        <p:nvSpPr>
          <p:cNvPr id="14" name="">
            <a:extLst xmlns:a="http://schemas.openxmlformats.org/drawingml/2006/main">
              <a:ext uri="{FF2B5EF4-FFF2-40B4-BE49-F238E27FC236}">
                <a16:creationId xmlns:a16="http://schemas.microsoft.com/office/drawing/2014/main" id="{EF047EC4-323E-4168-92EF-584B93969E72}"/>
              </a:ext>
            </a:extLst>
          </p:cNvPr>
          <p:cNvSpPr>
            <a:spLocks xmlns:a="http://schemas.openxmlformats.org/drawingml/2006/main" noGrp="1"/>
          </p:cNvSpPr>
          <p:nvPr/>
        </p:nvSpPr>
        <p:spPr>
          <a:xfrm xmlns:a="http://schemas.openxmlformats.org/drawingml/2006/main">
            <a:off x="2952750" y="2914650"/>
            <a:ext cx="1257300" cy="1257300"/>
          </a:xfrm>
          <a:prstGeom xmlns:a="http://schemas.openxmlformats.org/drawingml/2006/main" prst="ellipse">
            <a:avLst/>
          </a:prstGeom>
          <a:solidFill xmlns:a="http://schemas.openxmlformats.org/drawingml/2006/main">
            <a:srgbClr val="7B27C9"/>
          </a:solidFill>
          <a:ln xmlns:a="http://schemas.openxmlformats.org/drawingml/2006/main" w="28575">
            <a:solidFill>
              <a:srgbClr val="FF7A18"/>
            </a:solidFill>
          </a:ln>
        </p:spPr>
      </p:sp>
      <p:sp>
        <p:nvSpPr>
          <p:cNvPr id="15" name="">
            <a:extLst xmlns:a="http://schemas.openxmlformats.org/drawingml/2006/main">
              <a:ext uri="{FF2B5EF4-FFF2-40B4-BE49-F238E27FC236}">
                <a16:creationId xmlns:a16="http://schemas.microsoft.com/office/drawing/2014/main" id="{91BC3788-E62F-4CDF-A905-5006B79838F5}"/>
              </a:ext>
            </a:extLst>
          </p:cNvPr>
          <p:cNvSpPr>
            <a:spLocks xmlns:a="http://schemas.openxmlformats.org/drawingml/2006/main" noGrp="1"/>
          </p:cNvSpPr>
          <p:nvPr/>
        </p:nvSpPr>
        <p:spPr>
          <a:xfrm xmlns:a="http://schemas.openxmlformats.org/drawingml/2006/main">
            <a:off x="2952750" y="3343275"/>
            <a:ext cx="1257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YBI</a:t>
            </a:r>
          </a:p>
        </p:txBody>
      </p:sp>
      <p:sp>
        <p:nvSpPr>
          <p:cNvPr id="16" name="">
            <a:extLst xmlns:a="http://schemas.openxmlformats.org/drawingml/2006/main">
              <a:ext uri="{FF2B5EF4-FFF2-40B4-BE49-F238E27FC236}">
                <a16:creationId xmlns:a16="http://schemas.microsoft.com/office/drawing/2014/main" id="{7BF7073A-FD97-41E8-B887-B078B20A46BE}"/>
              </a:ext>
            </a:extLst>
          </p:cNvPr>
          <p:cNvSpPr>
            <a:spLocks xmlns:a="http://schemas.openxmlformats.org/drawingml/2006/main" noGrp="1"/>
          </p:cNvSpPr>
          <p:nvPr/>
        </p:nvSpPr>
        <p:spPr>
          <a:xfrm xmlns:a="http://schemas.openxmlformats.org/drawingml/2006/main">
            <a:off x="2847975" y="2790825"/>
            <a:ext cx="400050" cy="400050"/>
          </a:xfrm>
          <a:prstGeom xmlns:a="http://schemas.openxmlformats.org/drawingml/2006/main" prst="ellipse">
            <a:avLst/>
          </a:prstGeom>
          <a:solidFill xmlns:a="http://schemas.openxmlformats.org/drawingml/2006/main">
            <a:srgbClr val="FF7A1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6CDDEF6-4D17-4550-BAF7-B38181FCC412}"/>
              </a:ext>
            </a:extLst>
          </p:cNvPr>
          <p:cNvSpPr>
            <a:spLocks xmlns:a="http://schemas.openxmlformats.org/drawingml/2006/main" noGrp="1"/>
          </p:cNvSpPr>
          <p:nvPr/>
        </p:nvSpPr>
        <p:spPr>
          <a:xfrm xmlns:a="http://schemas.openxmlformats.org/drawingml/2006/main">
            <a:off x="2847975" y="29146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190A2C"/>
                </a:solidFill>
                <a:latin typeface="Arial"/>
                <a:ea typeface="Arial"/>
                <a:cs typeface="Arial"/>
              </a:defRPr>
            </a:pPr>
            <a:r>
              <a:rPr sz="825" b="1">
                <a:solidFill>
                  <a:srgbClr val="190A2C"/>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45252467-59EC-4123-BEBD-31BE66A27B6F}"/>
              </a:ext>
            </a:extLst>
          </p:cNvPr>
          <p:cNvSpPr>
            <a:spLocks xmlns:a="http://schemas.openxmlformats.org/drawingml/2006/main" noGrp="1"/>
          </p:cNvSpPr>
          <p:nvPr/>
        </p:nvSpPr>
        <p:spPr>
          <a:xfrm xmlns:a="http://schemas.openxmlformats.org/drawingml/2006/main">
            <a:off x="2686050" y="4391025"/>
            <a:ext cx="1790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Yusif Babamu</a:t>
            </a:r>
          </a:p>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Issah</a:t>
            </a:r>
          </a:p>
        </p:txBody>
      </p:sp>
      <p:sp>
        <p:nvSpPr>
          <p:cNvPr id="19" name="">
            <a:extLst xmlns:a="http://schemas.openxmlformats.org/drawingml/2006/main">
              <a:ext uri="{FF2B5EF4-FFF2-40B4-BE49-F238E27FC236}">
                <a16:creationId xmlns:a16="http://schemas.microsoft.com/office/drawing/2014/main" id="{5DDA6EB9-A563-435A-A11B-84D293C355D2}"/>
              </a:ext>
            </a:extLst>
          </p:cNvPr>
          <p:cNvSpPr>
            <a:spLocks xmlns:a="http://schemas.openxmlformats.org/drawingml/2006/main" noGrp="1"/>
          </p:cNvSpPr>
          <p:nvPr/>
        </p:nvSpPr>
        <p:spPr>
          <a:xfrm xmlns:a="http://schemas.openxmlformats.org/drawingml/2006/main">
            <a:off x="2724150" y="5000625"/>
            <a:ext cx="171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Role and relevant</a:t>
            </a:r>
          </a:p>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experience to confirm</a:t>
            </a:r>
          </a:p>
        </p:txBody>
      </p:sp>
      <p:sp>
        <p:nvSpPr>
          <p:cNvPr id="20" name="">
            <a:extLst xmlns:a="http://schemas.openxmlformats.org/drawingml/2006/main">
              <a:ext uri="{FF2B5EF4-FFF2-40B4-BE49-F238E27FC236}">
                <a16:creationId xmlns:a16="http://schemas.microsoft.com/office/drawing/2014/main" id="{FF1B543E-3E15-4BA0-88A2-5DCC863B879E}"/>
              </a:ext>
            </a:extLst>
          </p:cNvPr>
          <p:cNvSpPr>
            <a:spLocks xmlns:a="http://schemas.openxmlformats.org/drawingml/2006/main" noGrp="1"/>
          </p:cNvSpPr>
          <p:nvPr/>
        </p:nvSpPr>
        <p:spPr>
          <a:xfrm xmlns:a="http://schemas.openxmlformats.org/drawingml/2006/main">
            <a:off x="4819650" y="2914650"/>
            <a:ext cx="1257300" cy="1257300"/>
          </a:xfrm>
          <a:prstGeom xmlns:a="http://schemas.openxmlformats.org/drawingml/2006/main" prst="ellipse">
            <a:avLst/>
          </a:prstGeom>
          <a:solidFill xmlns:a="http://schemas.openxmlformats.org/drawingml/2006/main">
            <a:srgbClr val="7B27C9"/>
          </a:solidFill>
          <a:ln xmlns:a="http://schemas.openxmlformats.org/drawingml/2006/main" w="28575">
            <a:solidFill>
              <a:srgbClr val="FF7A18"/>
            </a:solidFill>
          </a:ln>
        </p:spPr>
      </p:sp>
      <p:sp>
        <p:nvSpPr>
          <p:cNvPr id="21" name="">
            <a:extLst xmlns:a="http://schemas.openxmlformats.org/drawingml/2006/main">
              <a:ext uri="{FF2B5EF4-FFF2-40B4-BE49-F238E27FC236}">
                <a16:creationId xmlns:a16="http://schemas.microsoft.com/office/drawing/2014/main" id="{3B7F1510-F689-464A-B34D-452CF42FBF80}"/>
              </a:ext>
            </a:extLst>
          </p:cNvPr>
          <p:cNvSpPr>
            <a:spLocks xmlns:a="http://schemas.openxmlformats.org/drawingml/2006/main" noGrp="1"/>
          </p:cNvSpPr>
          <p:nvPr/>
        </p:nvSpPr>
        <p:spPr>
          <a:xfrm xmlns:a="http://schemas.openxmlformats.org/drawingml/2006/main">
            <a:off x="4819650" y="3343275"/>
            <a:ext cx="1257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JB</a:t>
            </a:r>
          </a:p>
        </p:txBody>
      </p:sp>
      <p:sp>
        <p:nvSpPr>
          <p:cNvPr id="22" name="">
            <a:extLst xmlns:a="http://schemas.openxmlformats.org/drawingml/2006/main">
              <a:ext uri="{FF2B5EF4-FFF2-40B4-BE49-F238E27FC236}">
                <a16:creationId xmlns:a16="http://schemas.microsoft.com/office/drawing/2014/main" id="{CC2DE79D-BF14-491D-AB84-BCD5FBFFE2A4}"/>
              </a:ext>
            </a:extLst>
          </p:cNvPr>
          <p:cNvSpPr>
            <a:spLocks xmlns:a="http://schemas.openxmlformats.org/drawingml/2006/main" noGrp="1"/>
          </p:cNvSpPr>
          <p:nvPr/>
        </p:nvSpPr>
        <p:spPr>
          <a:xfrm xmlns:a="http://schemas.openxmlformats.org/drawingml/2006/main">
            <a:off x="4714875" y="2790825"/>
            <a:ext cx="400050" cy="400050"/>
          </a:xfrm>
          <a:prstGeom xmlns:a="http://schemas.openxmlformats.org/drawingml/2006/main" prst="ellipse">
            <a:avLst/>
          </a:prstGeom>
          <a:solidFill xmlns:a="http://schemas.openxmlformats.org/drawingml/2006/main">
            <a:srgbClr val="FF7A1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2CAD28A-A8D9-406D-A71E-ACC430E6B257}"/>
              </a:ext>
            </a:extLst>
          </p:cNvPr>
          <p:cNvSpPr>
            <a:spLocks xmlns:a="http://schemas.openxmlformats.org/drawingml/2006/main" noGrp="1"/>
          </p:cNvSpPr>
          <p:nvPr/>
        </p:nvSpPr>
        <p:spPr>
          <a:xfrm xmlns:a="http://schemas.openxmlformats.org/drawingml/2006/main">
            <a:off x="4714875" y="29146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190A2C"/>
                </a:solidFill>
                <a:latin typeface="Arial"/>
                <a:ea typeface="Arial"/>
                <a:cs typeface="Arial"/>
              </a:defRPr>
            </a:pPr>
            <a:r>
              <a:rPr sz="825" b="1">
                <a:solidFill>
                  <a:srgbClr val="190A2C"/>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ACC47F3B-BFCF-4893-9140-4F4B022B96A5}"/>
              </a:ext>
            </a:extLst>
          </p:cNvPr>
          <p:cNvSpPr>
            <a:spLocks xmlns:a="http://schemas.openxmlformats.org/drawingml/2006/main" noGrp="1"/>
          </p:cNvSpPr>
          <p:nvPr/>
        </p:nvSpPr>
        <p:spPr>
          <a:xfrm xmlns:a="http://schemas.openxmlformats.org/drawingml/2006/main">
            <a:off x="4552950" y="4391025"/>
            <a:ext cx="1790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Josephus</a:t>
            </a:r>
          </a:p>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Bawah</a:t>
            </a:r>
          </a:p>
        </p:txBody>
      </p:sp>
      <p:sp>
        <p:nvSpPr>
          <p:cNvPr id="25" name="">
            <a:extLst xmlns:a="http://schemas.openxmlformats.org/drawingml/2006/main">
              <a:ext uri="{FF2B5EF4-FFF2-40B4-BE49-F238E27FC236}">
                <a16:creationId xmlns:a16="http://schemas.microsoft.com/office/drawing/2014/main" id="{13D56C9C-B718-4243-AF3C-08674BBC3A53}"/>
              </a:ext>
            </a:extLst>
          </p:cNvPr>
          <p:cNvSpPr>
            <a:spLocks xmlns:a="http://schemas.openxmlformats.org/drawingml/2006/main" noGrp="1"/>
          </p:cNvSpPr>
          <p:nvPr/>
        </p:nvSpPr>
        <p:spPr>
          <a:xfrm xmlns:a="http://schemas.openxmlformats.org/drawingml/2006/main">
            <a:off x="4591050" y="5000625"/>
            <a:ext cx="171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Role and relevant</a:t>
            </a:r>
          </a:p>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experience to confirm</a:t>
            </a:r>
          </a:p>
        </p:txBody>
      </p:sp>
      <p:sp>
        <p:nvSpPr>
          <p:cNvPr id="26" name="">
            <a:extLst xmlns:a="http://schemas.openxmlformats.org/drawingml/2006/main">
              <a:ext uri="{FF2B5EF4-FFF2-40B4-BE49-F238E27FC236}">
                <a16:creationId xmlns:a16="http://schemas.microsoft.com/office/drawing/2014/main" id="{C153503C-6F85-4AA8-B4CB-07C38AC7E27D}"/>
              </a:ext>
            </a:extLst>
          </p:cNvPr>
          <p:cNvSpPr>
            <a:spLocks xmlns:a="http://schemas.openxmlformats.org/drawingml/2006/main" noGrp="1"/>
          </p:cNvSpPr>
          <p:nvPr/>
        </p:nvSpPr>
        <p:spPr>
          <a:xfrm xmlns:a="http://schemas.openxmlformats.org/drawingml/2006/main">
            <a:off x="6686550" y="2914650"/>
            <a:ext cx="1257300" cy="1257300"/>
          </a:xfrm>
          <a:prstGeom xmlns:a="http://schemas.openxmlformats.org/drawingml/2006/main" prst="ellipse">
            <a:avLst/>
          </a:prstGeom>
          <a:solidFill xmlns:a="http://schemas.openxmlformats.org/drawingml/2006/main">
            <a:srgbClr val="7B27C9"/>
          </a:solidFill>
          <a:ln xmlns:a="http://schemas.openxmlformats.org/drawingml/2006/main" w="28575">
            <a:solidFill>
              <a:srgbClr val="FF7A18"/>
            </a:solidFill>
          </a:ln>
        </p:spPr>
      </p:sp>
      <p:sp>
        <p:nvSpPr>
          <p:cNvPr id="27" name="">
            <a:extLst xmlns:a="http://schemas.openxmlformats.org/drawingml/2006/main">
              <a:ext uri="{FF2B5EF4-FFF2-40B4-BE49-F238E27FC236}">
                <a16:creationId xmlns:a16="http://schemas.microsoft.com/office/drawing/2014/main" id="{F6EB6882-FCDC-46EB-A98F-9EBE572406A2}"/>
              </a:ext>
            </a:extLst>
          </p:cNvPr>
          <p:cNvSpPr>
            <a:spLocks xmlns:a="http://schemas.openxmlformats.org/drawingml/2006/main" noGrp="1"/>
          </p:cNvSpPr>
          <p:nvPr/>
        </p:nvSpPr>
        <p:spPr>
          <a:xfrm xmlns:a="http://schemas.openxmlformats.org/drawingml/2006/main">
            <a:off x="6686550" y="3343275"/>
            <a:ext cx="1257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KA</a:t>
            </a:r>
          </a:p>
        </p:txBody>
      </p:sp>
      <p:sp>
        <p:nvSpPr>
          <p:cNvPr id="28" name="">
            <a:extLst xmlns:a="http://schemas.openxmlformats.org/drawingml/2006/main">
              <a:ext uri="{FF2B5EF4-FFF2-40B4-BE49-F238E27FC236}">
                <a16:creationId xmlns:a16="http://schemas.microsoft.com/office/drawing/2014/main" id="{D070FE4B-CD43-4AF0-A8F2-F2A75EAF3FE4}"/>
              </a:ext>
            </a:extLst>
          </p:cNvPr>
          <p:cNvSpPr>
            <a:spLocks xmlns:a="http://schemas.openxmlformats.org/drawingml/2006/main" noGrp="1"/>
          </p:cNvSpPr>
          <p:nvPr/>
        </p:nvSpPr>
        <p:spPr>
          <a:xfrm xmlns:a="http://schemas.openxmlformats.org/drawingml/2006/main">
            <a:off x="6581775" y="2790825"/>
            <a:ext cx="400050" cy="400050"/>
          </a:xfrm>
          <a:prstGeom xmlns:a="http://schemas.openxmlformats.org/drawingml/2006/main" prst="ellipse">
            <a:avLst/>
          </a:prstGeom>
          <a:solidFill xmlns:a="http://schemas.openxmlformats.org/drawingml/2006/main">
            <a:srgbClr val="FF7A1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0A927FB-7ED5-4E64-9907-D6AFB9B5294C}"/>
              </a:ext>
            </a:extLst>
          </p:cNvPr>
          <p:cNvSpPr>
            <a:spLocks xmlns:a="http://schemas.openxmlformats.org/drawingml/2006/main" noGrp="1"/>
          </p:cNvSpPr>
          <p:nvPr/>
        </p:nvSpPr>
        <p:spPr>
          <a:xfrm xmlns:a="http://schemas.openxmlformats.org/drawingml/2006/main">
            <a:off x="6581775" y="29146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190A2C"/>
                </a:solidFill>
                <a:latin typeface="Arial"/>
                <a:ea typeface="Arial"/>
                <a:cs typeface="Arial"/>
              </a:defRPr>
            </a:pPr>
            <a:r>
              <a:rPr sz="825" b="1">
                <a:solidFill>
                  <a:srgbClr val="190A2C"/>
                </a:solidFill>
                <a:latin typeface="Arial"/>
                <a:ea typeface="Arial"/>
                <a:cs typeface="Arial"/>
              </a:rPr>
              <a:t>04</a:t>
            </a:r>
          </a:p>
        </p:txBody>
      </p:sp>
      <p:sp>
        <p:nvSpPr>
          <p:cNvPr id="30" name="">
            <a:extLst xmlns:a="http://schemas.openxmlformats.org/drawingml/2006/main">
              <a:ext uri="{FF2B5EF4-FFF2-40B4-BE49-F238E27FC236}">
                <a16:creationId xmlns:a16="http://schemas.microsoft.com/office/drawing/2014/main" id="{FF7A178B-6622-4E12-A4DF-7E93D9CB84D0}"/>
              </a:ext>
            </a:extLst>
          </p:cNvPr>
          <p:cNvSpPr>
            <a:spLocks xmlns:a="http://schemas.openxmlformats.org/drawingml/2006/main" noGrp="1"/>
          </p:cNvSpPr>
          <p:nvPr/>
        </p:nvSpPr>
        <p:spPr>
          <a:xfrm xmlns:a="http://schemas.openxmlformats.org/drawingml/2006/main">
            <a:off x="6419850" y="4391025"/>
            <a:ext cx="1790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Kelvin</a:t>
            </a:r>
          </a:p>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Ahorbo</a:t>
            </a:r>
          </a:p>
        </p:txBody>
      </p:sp>
      <p:sp>
        <p:nvSpPr>
          <p:cNvPr id="31" name="">
            <a:extLst xmlns:a="http://schemas.openxmlformats.org/drawingml/2006/main">
              <a:ext uri="{FF2B5EF4-FFF2-40B4-BE49-F238E27FC236}">
                <a16:creationId xmlns:a16="http://schemas.microsoft.com/office/drawing/2014/main" id="{8187A8C4-2A3D-48C8-8466-802561BC6808}"/>
              </a:ext>
            </a:extLst>
          </p:cNvPr>
          <p:cNvSpPr>
            <a:spLocks xmlns:a="http://schemas.openxmlformats.org/drawingml/2006/main" noGrp="1"/>
          </p:cNvSpPr>
          <p:nvPr/>
        </p:nvSpPr>
        <p:spPr>
          <a:xfrm xmlns:a="http://schemas.openxmlformats.org/drawingml/2006/main">
            <a:off x="6457950" y="5000625"/>
            <a:ext cx="171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Role and relevant</a:t>
            </a:r>
          </a:p>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experience to confirm</a:t>
            </a:r>
          </a:p>
        </p:txBody>
      </p:sp>
      <p:sp>
        <p:nvSpPr>
          <p:cNvPr id="32" name="">
            <a:extLst xmlns:a="http://schemas.openxmlformats.org/drawingml/2006/main">
              <a:ext uri="{FF2B5EF4-FFF2-40B4-BE49-F238E27FC236}">
                <a16:creationId xmlns:a16="http://schemas.microsoft.com/office/drawing/2014/main" id="{803833C7-950D-447A-AA8A-B24D338125A1}"/>
              </a:ext>
            </a:extLst>
          </p:cNvPr>
          <p:cNvSpPr>
            <a:spLocks xmlns:a="http://schemas.openxmlformats.org/drawingml/2006/main" noGrp="1"/>
          </p:cNvSpPr>
          <p:nvPr/>
        </p:nvSpPr>
        <p:spPr>
          <a:xfrm xmlns:a="http://schemas.openxmlformats.org/drawingml/2006/main">
            <a:off x="8553450" y="2914650"/>
            <a:ext cx="1257300" cy="1257300"/>
          </a:xfrm>
          <a:prstGeom xmlns:a="http://schemas.openxmlformats.org/drawingml/2006/main" prst="ellipse">
            <a:avLst/>
          </a:prstGeom>
          <a:solidFill xmlns:a="http://schemas.openxmlformats.org/drawingml/2006/main">
            <a:srgbClr val="7B27C9"/>
          </a:solidFill>
          <a:ln xmlns:a="http://schemas.openxmlformats.org/drawingml/2006/main" w="28575">
            <a:solidFill>
              <a:srgbClr val="FF7A18"/>
            </a:solidFill>
          </a:ln>
        </p:spPr>
      </p:sp>
      <p:sp>
        <p:nvSpPr>
          <p:cNvPr id="33" name="">
            <a:extLst xmlns:a="http://schemas.openxmlformats.org/drawingml/2006/main">
              <a:ext uri="{FF2B5EF4-FFF2-40B4-BE49-F238E27FC236}">
                <a16:creationId xmlns:a16="http://schemas.microsoft.com/office/drawing/2014/main" id="{F072F4F5-412E-4AA8-BEF0-694FA77D5F46}"/>
              </a:ext>
            </a:extLst>
          </p:cNvPr>
          <p:cNvSpPr>
            <a:spLocks xmlns:a="http://schemas.openxmlformats.org/drawingml/2006/main" noGrp="1"/>
          </p:cNvSpPr>
          <p:nvPr/>
        </p:nvSpPr>
        <p:spPr>
          <a:xfrm xmlns:a="http://schemas.openxmlformats.org/drawingml/2006/main">
            <a:off x="8553450" y="3343275"/>
            <a:ext cx="1257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DOA</a:t>
            </a:r>
          </a:p>
        </p:txBody>
      </p:sp>
      <p:sp>
        <p:nvSpPr>
          <p:cNvPr id="34" name="">
            <a:extLst xmlns:a="http://schemas.openxmlformats.org/drawingml/2006/main">
              <a:ext uri="{FF2B5EF4-FFF2-40B4-BE49-F238E27FC236}">
                <a16:creationId xmlns:a16="http://schemas.microsoft.com/office/drawing/2014/main" id="{5E7BD84C-3BE1-4585-9CF0-36D1F99DD017}"/>
              </a:ext>
            </a:extLst>
          </p:cNvPr>
          <p:cNvSpPr>
            <a:spLocks xmlns:a="http://schemas.openxmlformats.org/drawingml/2006/main" noGrp="1"/>
          </p:cNvSpPr>
          <p:nvPr/>
        </p:nvSpPr>
        <p:spPr>
          <a:xfrm xmlns:a="http://schemas.openxmlformats.org/drawingml/2006/main">
            <a:off x="8448675" y="2790825"/>
            <a:ext cx="400050" cy="400050"/>
          </a:xfrm>
          <a:prstGeom xmlns:a="http://schemas.openxmlformats.org/drawingml/2006/main" prst="ellipse">
            <a:avLst/>
          </a:prstGeom>
          <a:solidFill xmlns:a="http://schemas.openxmlformats.org/drawingml/2006/main">
            <a:srgbClr val="FF7A1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E1639BF-A706-4C76-8FBC-FB2C1F081023}"/>
              </a:ext>
            </a:extLst>
          </p:cNvPr>
          <p:cNvSpPr>
            <a:spLocks xmlns:a="http://schemas.openxmlformats.org/drawingml/2006/main" noGrp="1"/>
          </p:cNvSpPr>
          <p:nvPr/>
        </p:nvSpPr>
        <p:spPr>
          <a:xfrm xmlns:a="http://schemas.openxmlformats.org/drawingml/2006/main">
            <a:off x="8448675" y="291465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190A2C"/>
                </a:solidFill>
                <a:latin typeface="Arial"/>
                <a:ea typeface="Arial"/>
                <a:cs typeface="Arial"/>
              </a:defRPr>
            </a:pPr>
            <a:r>
              <a:rPr sz="825" b="1">
                <a:solidFill>
                  <a:srgbClr val="190A2C"/>
                </a:solidFill>
                <a:latin typeface="Arial"/>
                <a:ea typeface="Arial"/>
                <a:cs typeface="Arial"/>
              </a:rPr>
              <a:t>05</a:t>
            </a:r>
          </a:p>
        </p:txBody>
      </p:sp>
      <p:sp>
        <p:nvSpPr>
          <p:cNvPr id="36" name="">
            <a:extLst xmlns:a="http://schemas.openxmlformats.org/drawingml/2006/main">
              <a:ext uri="{FF2B5EF4-FFF2-40B4-BE49-F238E27FC236}">
                <a16:creationId xmlns:a16="http://schemas.microsoft.com/office/drawing/2014/main" id="{E2EAC7D0-92B7-4FFE-B975-8C3E02324535}"/>
              </a:ext>
            </a:extLst>
          </p:cNvPr>
          <p:cNvSpPr>
            <a:spLocks xmlns:a="http://schemas.openxmlformats.org/drawingml/2006/main" noGrp="1"/>
          </p:cNvSpPr>
          <p:nvPr/>
        </p:nvSpPr>
        <p:spPr>
          <a:xfrm xmlns:a="http://schemas.openxmlformats.org/drawingml/2006/main">
            <a:off x="8286750" y="4391025"/>
            <a:ext cx="1790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Dennis Owusu</a:t>
            </a:r>
          </a:p>
          <a:p xmlns:a="http://schemas.openxmlformats.org/drawingml/2006/main">
            <a:pPr algn="ctr">
              <a:defRPr sz="1125" b="1">
                <a:solidFill>
                  <a:srgbClr val="FFC447"/>
                </a:solidFill>
                <a:latin typeface="Arial"/>
                <a:ea typeface="Arial"/>
                <a:cs typeface="Arial"/>
              </a:defRPr>
            </a:pPr>
            <a:r>
              <a:rPr sz="1125" b="1">
                <a:solidFill>
                  <a:srgbClr val="FFC447"/>
                </a:solidFill>
                <a:latin typeface="Arial"/>
                <a:ea typeface="Arial"/>
                <a:cs typeface="Arial"/>
              </a:rPr>
              <a:t>Adarkwarh</a:t>
            </a:r>
          </a:p>
        </p:txBody>
      </p:sp>
      <p:sp>
        <p:nvSpPr>
          <p:cNvPr id="37" name="">
            <a:extLst xmlns:a="http://schemas.openxmlformats.org/drawingml/2006/main">
              <a:ext uri="{FF2B5EF4-FFF2-40B4-BE49-F238E27FC236}">
                <a16:creationId xmlns:a16="http://schemas.microsoft.com/office/drawing/2014/main" id="{07FE252A-E6CC-4E3E-8810-31D2E3077CE6}"/>
              </a:ext>
            </a:extLst>
          </p:cNvPr>
          <p:cNvSpPr>
            <a:spLocks xmlns:a="http://schemas.openxmlformats.org/drawingml/2006/main" noGrp="1"/>
          </p:cNvSpPr>
          <p:nvPr/>
        </p:nvSpPr>
        <p:spPr>
          <a:xfrm xmlns:a="http://schemas.openxmlformats.org/drawingml/2006/main">
            <a:off x="8324850" y="5000625"/>
            <a:ext cx="171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Role and relevant</a:t>
            </a:r>
          </a:p>
          <a:p xmlns:a="http://schemas.openxmlformats.org/drawingml/2006/main">
            <a:pPr algn="ctr">
              <a:defRPr sz="900" b="0">
                <a:solidFill>
                  <a:srgbClr val="FFFFFF"/>
                </a:solidFill>
                <a:latin typeface="Arial"/>
                <a:ea typeface="Arial"/>
                <a:cs typeface="Arial"/>
              </a:defRPr>
            </a:pPr>
            <a:r>
              <a:rPr sz="900" b="0">
                <a:solidFill>
                  <a:srgbClr val="FFFFFF"/>
                </a:solidFill>
                <a:latin typeface="Arial"/>
                <a:ea typeface="Arial"/>
                <a:cs typeface="Arial"/>
              </a:rPr>
              <a:t>experience to confirm</a:t>
            </a:r>
          </a:p>
        </p:txBody>
      </p:sp>
      <p:sp>
        <p:nvSpPr>
          <p:cNvPr id="38" name="">
            <a:extLst xmlns:a="http://schemas.openxmlformats.org/drawingml/2006/main">
              <a:ext uri="{FF2B5EF4-FFF2-40B4-BE49-F238E27FC236}">
                <a16:creationId xmlns:a16="http://schemas.microsoft.com/office/drawing/2014/main" id="{B4BA0A1B-33F5-407F-BE38-977D0B68DC94}"/>
              </a:ext>
            </a:extLst>
          </p:cNvPr>
          <p:cNvSpPr>
            <a:spLocks xmlns:a="http://schemas.openxmlformats.org/drawingml/2006/main" noGrp="1"/>
          </p:cNvSpPr>
          <p:nvPr/>
        </p:nvSpPr>
        <p:spPr>
          <a:xfrm xmlns:a="http://schemas.openxmlformats.org/drawingml/2006/main">
            <a:off x="1238250" y="5953125"/>
            <a:ext cx="8210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Seeking pilot partners, representative fraud data, technical mentorship and strategic support</a:t>
            </a:r>
          </a:p>
        </p:txBody>
      </p:sp>
    </p:spTree>
    <p:extLst>
      <p:ext uri="{BB962C8B-B14F-4D97-AF65-F5344CB8AC3E}">
        <p14:creationId xmlns:p14="http://schemas.microsoft.com/office/powerpoint/2010/main" val="1915471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2026-10-10T22:10:29.0350000Z</dcterms:created>
  <dcterms:modified xsi:type="dcterms:W3CDTF">2026-10-10T22:10:29.0350000Z</dcterms:modified>
</coreProperties>
</file>