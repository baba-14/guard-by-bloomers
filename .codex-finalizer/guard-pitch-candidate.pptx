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0f1738517c4ab0" /><Relationship Type="http://schemas.openxmlformats.org/officeDocument/2006/relationships/extended-properties" Target="/docProps/app.xml" Id="Re189d095ef9d4cd1" /><Relationship Type="http://schemas.openxmlformats.org/officeDocument/2006/relationships/officeDocument" Target="/ppt/presentation.xml" Id="R210994e5c8d94e62" /></Relationships>
</file>

<file path=ppt/presentation.xml><?xml version="1.0" encoding="utf-8"?>
<p:presentation xmlns:p="http://schemas.openxmlformats.org/presentationml/2006/main">
  <p:sldMasterIdLst>
    <p:sldMasterId xmlns:r="http://schemas.openxmlformats.org/officeDocument/2006/relationships" id="2147483648" r:id="R5ca6deaf4ec94354"/>
  </p:sldMasterIdLst>
  <p:notesMasterIdLst>
    <p:notesMasterId xmlns:r="http://schemas.openxmlformats.org/officeDocument/2006/relationships" r:id="R50a7dba354014957"/>
  </p:notesMasterIdLst>
  <p:sldIdLst>
    <p:sldId xmlns:r="http://schemas.openxmlformats.org/officeDocument/2006/relationships" id="256" r:id="Rf486a411a2414546"/>
    <p:sldId xmlns:r="http://schemas.openxmlformats.org/officeDocument/2006/relationships" id="257" r:id="R1db0dab590ed46c5"/>
    <p:sldId xmlns:r="http://schemas.openxmlformats.org/officeDocument/2006/relationships" id="258" r:id="R2e22ac68dba448b8"/>
    <p:sldId xmlns:r="http://schemas.openxmlformats.org/officeDocument/2006/relationships" id="259" r:id="Rb4150c377a0446fd"/>
    <p:sldId xmlns:r="http://schemas.openxmlformats.org/officeDocument/2006/relationships" id="260" r:id="R2f7511034d1f4245"/>
    <p:sldId xmlns:r="http://schemas.openxmlformats.org/officeDocument/2006/relationships" id="261" r:id="Rb70a3fff61454812"/>
    <p:sldId xmlns:r="http://schemas.openxmlformats.org/officeDocument/2006/relationships" id="262" r:id="R03d0dceaa7ce49f9"/>
    <p:sldId xmlns:r="http://schemas.openxmlformats.org/officeDocument/2006/relationships" id="263" r:id="R76e920ead4d44db1"/>
    <p:sldId xmlns:r="http://schemas.openxmlformats.org/officeDocument/2006/relationships" id="264" r:id="Rbd31fe3b8f8d437f"/>
    <p:sldId xmlns:r="http://schemas.openxmlformats.org/officeDocument/2006/relationships" id="265" r:id="R1219cc4975a644da"/>
    <p:sldId xmlns:r="http://schemas.openxmlformats.org/officeDocument/2006/relationships" id="266" r:id="Rc127408f6bdd42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1f154e12f440c6" /><Relationship Type="http://schemas.openxmlformats.org/officeDocument/2006/relationships/slideMaster" Target="/ppt/slideMasters/slideMaster1.xml" Id="R5ca6deaf4ec94354" /><Relationship Type="http://schemas.openxmlformats.org/officeDocument/2006/relationships/notesMaster" Target="/ppt/notesMasters/notesMaster1.xml" Id="R50a7dba354014957" /><Relationship Type="http://schemas.openxmlformats.org/officeDocument/2006/relationships/presProps" Target="/ppt/presProps.xml" Id="Rf22dcf3a6d8b4e2b" /><Relationship Type="http://schemas.openxmlformats.org/officeDocument/2006/relationships/tableStyles" Target="/ppt/tableStyles.xml" Id="R3d6acd05ac7245ce" /><Relationship Type="http://schemas.openxmlformats.org/officeDocument/2006/relationships/slide" Target="/ppt/slides/slide1.xml" Id="Rf486a411a2414546" /><Relationship Type="http://schemas.openxmlformats.org/officeDocument/2006/relationships/slide" Target="/ppt/slides/slide2.xml" Id="R1db0dab590ed46c5" /><Relationship Type="http://schemas.openxmlformats.org/officeDocument/2006/relationships/slide" Target="/ppt/slides/slide3.xml" Id="R2e22ac68dba448b8" /><Relationship Type="http://schemas.openxmlformats.org/officeDocument/2006/relationships/slide" Target="/ppt/slides/slide4.xml" Id="Rb4150c377a0446fd" /><Relationship Type="http://schemas.openxmlformats.org/officeDocument/2006/relationships/slide" Target="/ppt/slides/slide5.xml" Id="R2f7511034d1f4245" /><Relationship Type="http://schemas.openxmlformats.org/officeDocument/2006/relationships/slide" Target="/ppt/slides/slide6.xml" Id="Rb70a3fff61454812" /><Relationship Type="http://schemas.openxmlformats.org/officeDocument/2006/relationships/slide" Target="/ppt/slides/slide7.xml" Id="R03d0dceaa7ce49f9" /><Relationship Type="http://schemas.openxmlformats.org/officeDocument/2006/relationships/slide" Target="/ppt/slides/slide8.xml" Id="R76e920ead4d44db1" /><Relationship Type="http://schemas.openxmlformats.org/officeDocument/2006/relationships/slide" Target="/ppt/slides/slide9.xml" Id="Rbd31fe3b8f8d437f" /><Relationship Type="http://schemas.openxmlformats.org/officeDocument/2006/relationships/slide" Target="/ppt/slides/slide10.xml" Id="R1219cc4975a644da" /><Relationship Type="http://schemas.openxmlformats.org/officeDocument/2006/relationships/slide" Target="/ppt/slides/slide11.xml" Id="Rc127408f6bdd42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5c6455a6da4d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f3c57a9a9a44a0" /><Relationship Type="http://schemas.openxmlformats.org/officeDocument/2006/relationships/notesMaster" Target="/ppt/notesMasters/notesMaster1.xml" Id="R1f2a19acfec946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8b090bf0f04a80" /><Relationship Type="http://schemas.openxmlformats.org/officeDocument/2006/relationships/notesMaster" Target="/ppt/notesMasters/notesMaster1.xml" Id="Rad31590775c74f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ab4a568bc8454f" /><Relationship Type="http://schemas.openxmlformats.org/officeDocument/2006/relationships/notesMaster" Target="/ppt/notesMasters/notesMaster1.xml" Id="Rc24fdd7f18af4a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85580913fa4d93" /><Relationship Type="http://schemas.openxmlformats.org/officeDocument/2006/relationships/notesMaster" Target="/ppt/notesMasters/notesMaster1.xml" Id="R629b264d874641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5841340da8452d" /><Relationship Type="http://schemas.openxmlformats.org/officeDocument/2006/relationships/notesMaster" Target="/ppt/notesMasters/notesMaster1.xml" Id="R95adeeafaaef4c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9e40b10de74506" /><Relationship Type="http://schemas.openxmlformats.org/officeDocument/2006/relationships/notesMaster" Target="/ppt/notesMasters/notesMaster1.xml" Id="Redb24758afa34f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fc283f065a4243" /><Relationship Type="http://schemas.openxmlformats.org/officeDocument/2006/relationships/notesMaster" Target="/ppt/notesMasters/notesMaster1.xml" Id="R25b105e5ce3149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094f2e408c4915" /><Relationship Type="http://schemas.openxmlformats.org/officeDocument/2006/relationships/notesMaster" Target="/ppt/notesMasters/notesMaster1.xml" Id="R6c3be8ba757f4c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96cc79e4e24136" /><Relationship Type="http://schemas.openxmlformats.org/officeDocument/2006/relationships/notesMaster" Target="/ppt/notesMasters/notesMaster1.xml" Id="R5946cf2a113d41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07b64b68874860" /><Relationship Type="http://schemas.openxmlformats.org/officeDocument/2006/relationships/notesMaster" Target="/ppt/notesMasters/notesMaster1.xml" Id="R34e4bafe602040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7b0216ece54730" /><Relationship Type="http://schemas.openxmlformats.org/officeDocument/2006/relationships/notesMaster" Target="/ppt/notesMasters/notesMaster1.xml" Id="R30e31605456a44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inspired by the supplied Hydrogo Pitch Deck 2025. Product statements are based on the Guard project and the product direction provided by the founder.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profile is an archetype based on Guard's intended everyday-user market. It does not represent a named customer or completed research participant.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Ghana Cyber Security Authority, 2025 confirmed incidents and online fraud share. https://www.csa.gov.gh/cybercrime-is-not-smart-work-csa-boss-warns-youth.php. Ghana Cyber Security Authority, January to July 2026 incident share. https://csa.gov.gh/2026-national-cyber-security-awareness-month-launched-to-build-digital-trust.php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feasibility varies by surface and operating system. Android supports user-selected call screening and permissioned notification listeners. Apple provides Call Directory, Live Caller ID and Message Filter extensions. Gmail supports authorized mailbox access and change notifications. Third-party messaging coverage depends on exposed notifications, share actions, integrations and platform policy. Sources: https://developer.android.com/reference/android/telecom/CallScreeningService, https://developer.android.com/reference/android/service/notification/NotificationListenerService, https://developer.apple.com/documentation/IdentityLookup, https://developers.google.com/workspace/gmail/api/guides/push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experience represents the intended product. Exact warning placement and available content vary by operating system, app integration and user-granted permission.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uses product categories, not audited claims about named companies. It describes Guard's intended positioning and requires competitor and customer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National Communications Authority homepage, June 2026 telecom data subscriptions and penetration. https://nca.org.gh/. Ghana Cyber Security Authority, 2025 online fraud incidents. https://www.csa.gov.gh/cybercrime-is-not-smart-work-csa-boss-warns-youth.php. Ghana Cyber Security Authority, January to July 2026 incident share. https://csa.gov.gh/2026-national-cyber-security-awareness-month-launched-to-build-digital-trust.php. Subscriptions are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revenue model is a proposed strategy. The workspace includes a pricing route but does not document validated price points, signed contracts or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components/Checker.tsx, backend/app/intelligence.py and backend/app/intelligence_routes.py in the current Guard workspace. Platform capability sources: https://developer.android.com/reference/android/telecom/CallScreeningService, https://developer.android.com/reference/android/service/notification/NotificationListenerService, https://developer.apple.com/documentation/IdentityLookup, https://developers.google.com/workspace/gmail/api/guides/push. No user, revenue or accuracy traction has been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roadmap based on current MVP state and official platform capabilities. Android call screening and notification access require user selection or permission. iOS uses narrower call and message extensions. Email access requires account authorization. Third-party messaging coverage depends on platform policy and exposed integration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information, contact details and funding target were not available in the supplied materials, so this slide retains explicit placeholders that must be completed before external circulation.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161feb4adf4b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cb0a569cdb4312" /><Relationship Type="http://schemas.openxmlformats.org/officeDocument/2006/relationships/slideLayout" Target="/ppt/slideLayouts/slideLayout1.xml" Id="R79574d0ab5c44d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574d0ab5c44d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b2f16fc77d4723" /><Relationship Type="http://schemas.openxmlformats.org/officeDocument/2006/relationships/image" Target="/ppt/media/image.png" Id="R37187efb865e41aa" /><Relationship Type="http://schemas.openxmlformats.org/officeDocument/2006/relationships/image" Target="/ppt/media/image2.png" Id="Rbf591d2e323e4bc1" /><Relationship Type="http://schemas.openxmlformats.org/officeDocument/2006/relationships/notesSlide" Target="/ppt/notesSlides/notesSlide1.xml" Id="R9330ae4139b24e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b870deb12a45c0" /><Relationship Type="http://schemas.openxmlformats.org/officeDocument/2006/relationships/image" Target="/ppt/media/image3.png" Id="R8680051b85cc425c" /><Relationship Type="http://schemas.openxmlformats.org/officeDocument/2006/relationships/image" Target="/ppt/media/image.jpeg" Id="Rcf36feafca444ff2" /><Relationship Type="http://schemas.openxmlformats.org/officeDocument/2006/relationships/notesSlide" Target="/ppt/notesSlides/notesSlide2.xml" Id="Reae1d2198e4d46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87d3da45864e99" /><Relationship Type="http://schemas.openxmlformats.org/officeDocument/2006/relationships/image" Target="/ppt/media/image4.png" Id="Rf6282089a55f4624" /><Relationship Type="http://schemas.openxmlformats.org/officeDocument/2006/relationships/image" Target="/ppt/media/image5.png" Id="Raaf793c76be44ea5" /><Relationship Type="http://schemas.openxmlformats.org/officeDocument/2006/relationships/notesSlide" Target="/ppt/notesSlides/notesSlide3.xml" Id="R3c85f7eb0cae42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644e9d38054f51" /><Relationship Type="http://schemas.openxmlformats.org/officeDocument/2006/relationships/image" Target="/ppt/media/image6.png" Id="R345faa69b7b04bff" /><Relationship Type="http://schemas.openxmlformats.org/officeDocument/2006/relationships/image" Target="/ppt/media/image7.png" Id="R0a421efda8ac42b6" /><Relationship Type="http://schemas.openxmlformats.org/officeDocument/2006/relationships/notesSlide" Target="/ppt/notesSlides/notesSlide4.xml" Id="R81aa0c1382f942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17f51127854130" /><Relationship Type="http://schemas.openxmlformats.org/officeDocument/2006/relationships/image" Target="/ppt/media/image8.png" Id="R2bf3ee6ed9fd458e" /><Relationship Type="http://schemas.openxmlformats.org/officeDocument/2006/relationships/notesSlide" Target="/ppt/notesSlides/notesSlide5.xml" Id="R655695612d234e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5dceecbb0a4fa5" /><Relationship Type="http://schemas.openxmlformats.org/officeDocument/2006/relationships/image" Target="/ppt/media/image9.png" Id="Rf651392d47114fd5" /><Relationship Type="http://schemas.openxmlformats.org/officeDocument/2006/relationships/notesSlide" Target="/ppt/notesSlides/notesSlide6.xml" Id="R0c6fea9860354a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3f392ad56d4d98" /><Relationship Type="http://schemas.openxmlformats.org/officeDocument/2006/relationships/image" Target="/ppt/media/image10.png" Id="R864f85414abc4ed2" /><Relationship Type="http://schemas.openxmlformats.org/officeDocument/2006/relationships/notesSlide" Target="/ppt/notesSlides/notesSlide7.xml" Id="R807254ef7ebf41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9e508476b543a8" /><Relationship Type="http://schemas.openxmlformats.org/officeDocument/2006/relationships/image" Target="/ppt/media/image11.png" Id="R5697787eabeb40d4" /><Relationship Type="http://schemas.openxmlformats.org/officeDocument/2006/relationships/notesSlide" Target="/ppt/notesSlides/notesSlide8.xml" Id="R1a68948023a64c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e799ddac9c4a12" /><Relationship Type="http://schemas.openxmlformats.org/officeDocument/2006/relationships/image" Target="/ppt/media/image12.png" Id="R74b00102b26a4463" /><Relationship Type="http://schemas.openxmlformats.org/officeDocument/2006/relationships/image" Target="/ppt/media/image13.png" Id="R91aef760701f4972" /><Relationship Type="http://schemas.openxmlformats.org/officeDocument/2006/relationships/notesSlide" Target="/ppt/notesSlides/notesSlide9.xml" Id="R5c9fccdc449744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51f97af1f349c9" /><Relationship Type="http://schemas.openxmlformats.org/officeDocument/2006/relationships/image" Target="/ppt/media/image14.png" Id="R3f62741bd3f34531" /><Relationship Type="http://schemas.openxmlformats.org/officeDocument/2006/relationships/notesSlide" Target="/ppt/notesSlides/notesSlide10.xml" Id="R8aeb67e920274f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ceae30e2e64efa" /><Relationship Type="http://schemas.openxmlformats.org/officeDocument/2006/relationships/image" Target="/ppt/media/image15.png" Id="R4769bc13ae9d4556" /><Relationship Type="http://schemas.openxmlformats.org/officeDocument/2006/relationships/notesSlide" Target="/ppt/notesSlides/notesSlide11.xml" Id="R75c1aabbdc8449c6" /></Relationships>
</file>

<file path=ppt/slides/slide1.xml><?xml version="1.0" encoding="utf-8"?>
<p:sld xmlns:p="http://schemas.openxmlformats.org/presentationml/2006/main">
  <p:cSld>
    <p:bg>
      <p:bgPr>
        <a:solidFill xmlns:a="http://schemas.openxmlformats.org/drawingml/2006/main">
          <a:srgbClr val="180A2E"/>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7187efb865e41aa"/>
          <a:srcRect xmlns:a="http://schemas.openxmlformats.org/drawingml/2006/main" l="25768" t="0" r="25768"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898536E-966C-4A94-BAE7-A7BD83D38680}"/>
              </a:ext>
            </a:extLst>
          </p:cNvPr>
          <p:cNvSpPr>
            <a:spLocks xmlns:a="http://schemas.openxmlformats.org/drawingml/2006/main" noGrp="1"/>
          </p:cNvSpPr>
          <p:nvPr/>
        </p:nvSpPr>
        <p:spPr>
          <a:xfrm xmlns:a="http://schemas.openxmlformats.org/drawingml/2006/main">
            <a:off x="5905500" y="0"/>
            <a:ext cx="1047750" cy="6858000"/>
          </a:xfrm>
          <a:prstGeom xmlns:a="http://schemas.openxmlformats.org/drawingml/2006/main" prst="rect">
            <a:avLst/>
          </a:prstGeom>
          <a:solidFill xmlns:a="http://schemas.openxmlformats.org/drawingml/2006/main">
            <a:srgbClr val="180A2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F327DD-FC78-4E17-A50F-7F11F5DB6020}"/>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Guard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f591d2e323e4bc1"/>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4C2CF96-0498-4D6F-B4A5-8E75372C402C}"/>
              </a:ext>
            </a:extLst>
          </p:cNvPr>
          <p:cNvSpPr>
            <a:spLocks xmlns:a="http://schemas.openxmlformats.org/drawingml/2006/main" noGrp="1"/>
          </p:cNvSpPr>
          <p:nvPr/>
        </p:nvSpPr>
        <p:spPr>
          <a:xfrm xmlns:a="http://schemas.openxmlformats.org/drawingml/2006/main">
            <a:off x="514350" y="1752600"/>
            <a:ext cx="6000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EVERYDAY DIGITAL</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FRAUD PROTECTION</a:t>
            </a:r>
          </a:p>
        </p:txBody>
      </p:sp>
      <p:sp>
        <p:nvSpPr>
          <p:cNvPr id="6" name="">
            <a:extLst xmlns:a="http://schemas.openxmlformats.org/drawingml/2006/main">
              <a:ext uri="{FF2B5EF4-FFF2-40B4-BE49-F238E27FC236}">
                <a16:creationId xmlns:a16="http://schemas.microsoft.com/office/drawing/2014/main" id="{830C4642-7B7C-4683-BFA2-924070042B53}"/>
              </a:ext>
            </a:extLst>
          </p:cNvPr>
          <p:cNvSpPr>
            <a:spLocks xmlns:a="http://schemas.openxmlformats.org/drawingml/2006/main" noGrp="1"/>
          </p:cNvSpPr>
          <p:nvPr/>
        </p:nvSpPr>
        <p:spPr>
          <a:xfrm xmlns:a="http://schemas.openxmlformats.org/drawingml/2006/main">
            <a:off x="552450" y="3476625"/>
            <a:ext cx="4857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D9C9E8"/>
                </a:solidFill>
                <a:latin typeface="Arial"/>
                <a:ea typeface="Arial"/>
                <a:cs typeface="Arial"/>
              </a:defRPr>
            </a:pPr>
            <a:r>
              <a:rPr sz="1650" b="0">
                <a:solidFill>
                  <a:srgbClr val="D9C9E8"/>
                </a:solidFill>
                <a:latin typeface="Arial"/>
                <a:ea typeface="Arial"/>
                <a:cs typeface="Arial"/>
              </a:rPr>
              <a:t>Guard detects suspicious calls, SMS, email, links and supported app notifications before the user acts.</a:t>
            </a:r>
          </a:p>
        </p:txBody>
      </p:sp>
      <p:sp>
        <p:nvSpPr>
          <p:cNvPr id="7" name="">
            <a:extLst xmlns:a="http://schemas.openxmlformats.org/drawingml/2006/main">
              <a:ext uri="{FF2B5EF4-FFF2-40B4-BE49-F238E27FC236}">
                <a16:creationId xmlns:a16="http://schemas.microsoft.com/office/drawing/2014/main" id="{3595EC4A-584F-4077-A820-0717571A1EFD}"/>
              </a:ext>
            </a:extLst>
          </p:cNvPr>
          <p:cNvSpPr>
            <a:spLocks xmlns:a="http://schemas.openxmlformats.org/drawingml/2006/main" noGrp="1"/>
          </p:cNvSpPr>
          <p:nvPr/>
        </p:nvSpPr>
        <p:spPr>
          <a:xfrm xmlns:a="http://schemas.openxmlformats.org/drawingml/2006/main">
            <a:off x="552450" y="5010150"/>
            <a:ext cx="2266950" cy="419100"/>
          </a:xfrm>
          <a:prstGeom xmlns:a="http://schemas.openxmlformats.org/drawingml/2006/main" prst="roundRect">
            <a:avLst>
              <a:gd name="adj" fmla="val 18182"/>
            </a:avLst>
          </a:prstGeom>
          <a:solidFill xmlns:a="http://schemas.openxmlformats.org/drawingml/2006/main">
            <a:srgbClr val="FF7A1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8753BF1-29A7-41AC-8116-6845A76340BB}"/>
              </a:ext>
            </a:extLst>
          </p:cNvPr>
          <p:cNvSpPr>
            <a:spLocks xmlns:a="http://schemas.openxmlformats.org/drawingml/2006/main" noGrp="1"/>
          </p:cNvSpPr>
          <p:nvPr/>
        </p:nvSpPr>
        <p:spPr>
          <a:xfrm xmlns:a="http://schemas.openxmlformats.org/drawingml/2006/main">
            <a:off x="723900" y="512445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241539"/>
                </a:solidFill>
                <a:latin typeface="Arial"/>
                <a:ea typeface="Arial"/>
                <a:cs typeface="Arial"/>
              </a:defRPr>
            </a:pPr>
            <a:r>
              <a:rPr sz="900" b="1">
                <a:solidFill>
                  <a:srgbClr val="241539"/>
                </a:solidFill>
                <a:latin typeface="Arial"/>
                <a:ea typeface="Arial"/>
                <a:cs typeface="Arial"/>
              </a:rPr>
              <a:t>INVESTOR PITCH 2026</a:t>
            </a:r>
          </a:p>
        </p:txBody>
      </p:sp>
      <p:sp>
        <p:nvSpPr>
          <p:cNvPr id="9" name="">
            <a:extLst xmlns:a="http://schemas.openxmlformats.org/drawingml/2006/main">
              <a:ext uri="{FF2B5EF4-FFF2-40B4-BE49-F238E27FC236}">
                <a16:creationId xmlns:a16="http://schemas.microsoft.com/office/drawing/2014/main" id="{39E80E2A-A61B-4B31-875A-CD1B19B9DB96}"/>
              </a:ext>
            </a:extLst>
          </p:cNvPr>
          <p:cNvSpPr>
            <a:spLocks xmlns:a="http://schemas.openxmlformats.org/drawingml/2006/main" noGrp="1"/>
          </p:cNvSpPr>
          <p:nvPr/>
        </p:nvSpPr>
        <p:spPr>
          <a:xfrm xmlns:a="http://schemas.openxmlformats.org/drawingml/2006/main">
            <a:off x="552450" y="58388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CBBADD"/>
                </a:solidFill>
                <a:latin typeface="Arial"/>
                <a:ea typeface="Arial"/>
                <a:cs typeface="Arial"/>
              </a:defRPr>
            </a:pPr>
            <a:r>
              <a:rPr sz="1050" b="0">
                <a:solidFill>
                  <a:srgbClr val="CBBADD"/>
                </a:solidFill>
                <a:latin typeface="Arial"/>
                <a:ea typeface="Arial"/>
                <a:cs typeface="Arial"/>
              </a:rPr>
              <a:t>Permission based. Explainable. Present when risk appears.</a:t>
            </a:r>
          </a:p>
        </p:txBody>
      </p:sp>
    </p:spTree>
    <p:extLst>
      <p:ext uri="{BB962C8B-B14F-4D97-AF65-F5344CB8AC3E}">
        <p14:creationId xmlns:p14="http://schemas.microsoft.com/office/powerpoint/2010/main" val="900241820"/>
      </p:ext>
    </p:extLst>
  </p:cSld>
</p:sld>
</file>

<file path=ppt/slides/slide2.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3C7E46B-6B59-46B6-9388-1AE4CD1B81B4}"/>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80A2E"/>
                </a:solidFill>
                <a:latin typeface="Arial"/>
                <a:ea typeface="Arial"/>
                <a:cs typeface="Arial"/>
              </a:defRPr>
            </a:pPr>
            <a:r>
              <a:rPr sz="1875" b="1">
                <a:solidFill>
                  <a:srgbClr val="180A2E"/>
                </a:solidFill>
                <a:latin typeface="Arial"/>
                <a:ea typeface="Arial"/>
                <a:cs typeface="Arial"/>
              </a:rPr>
              <a:t>Guard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680051b85cc425c"/>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2647EAD-5595-430B-8B32-5023A0B39905}"/>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078E52-CA0C-493F-BB7E-F1C9921D92ED}"/>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9828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9EF0E5-76BB-4A0C-9CE2-0FDA5C86AC66}"/>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D22B7"/>
                </a:solidFill>
                <a:latin typeface="Arial"/>
                <a:ea typeface="Arial"/>
                <a:cs typeface="Arial"/>
              </a:defRPr>
            </a:pPr>
            <a:r>
              <a:rPr sz="1050" b="1">
                <a:solidFill>
                  <a:srgbClr val="6D22B7"/>
                </a:solidFill>
                <a:latin typeface="Arial"/>
                <a:ea typeface="Arial"/>
                <a:cs typeface="Arial"/>
              </a:rPr>
              <a:t>PRIMARY USER</a:t>
            </a:r>
          </a:p>
        </p:txBody>
      </p:sp>
      <p:sp>
        <p:nvSpPr>
          <p:cNvPr id="6" name="">
            <a:extLst xmlns:a="http://schemas.openxmlformats.org/drawingml/2006/main">
              <a:ext uri="{FF2B5EF4-FFF2-40B4-BE49-F238E27FC236}">
                <a16:creationId xmlns:a16="http://schemas.microsoft.com/office/drawing/2014/main" id="{AC464F79-F62A-468E-9DB6-83B664A820D8}"/>
              </a:ext>
            </a:extLst>
          </p:cNvPr>
          <p:cNvSpPr>
            <a:spLocks xmlns:a="http://schemas.openxmlformats.org/drawingml/2006/main" noGrp="1"/>
          </p:cNvSpPr>
          <p:nvPr/>
        </p:nvSpPr>
        <p:spPr>
          <a:xfrm xmlns:a="http://schemas.openxmlformats.org/drawingml/2006/main">
            <a:off x="514350" y="1285875"/>
            <a:ext cx="657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75" b="1">
                <a:solidFill>
                  <a:srgbClr val="241539"/>
                </a:solidFill>
                <a:latin typeface="Arial"/>
                <a:ea typeface="Arial"/>
                <a:cs typeface="Arial"/>
              </a:defRPr>
            </a:pPr>
            <a:r>
              <a:rPr sz="3075" b="1">
                <a:solidFill>
                  <a:srgbClr val="241539"/>
                </a:solidFill>
                <a:latin typeface="Arial"/>
                <a:ea typeface="Arial"/>
                <a:cs typeface="Arial"/>
              </a:rPr>
              <a:t>The everyday digital user</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f36feafca444ff2"/>
          <a:srcRect xmlns:a="http://schemas.openxmlformats.org/drawingml/2006/main" l="0" t="5177" r="0" b="5177"/>
          <a:stretch xmlns:a="http://schemas.openxmlformats.org/drawingml/2006/main">
            <a:fillRect l="0" t="0" r="0" b="0"/>
          </a:stretch>
        </p:blipFill>
        <p:spPr>
          <a:xfrm xmlns:a="http://schemas.openxmlformats.org/drawingml/2006/main">
            <a:off x="7239000" y="1047750"/>
            <a:ext cx="4438650" cy="4972050"/>
          </a:xfrm>
          <a:prstGeom xmlns:a="http://schemas.openxmlformats.org/drawingml/2006/main" prst="roundRect">
            <a:avLst>
              <a:gd name="adj" fmla="val 5150"/>
            </a:avLst>
          </a:prstGeom>
        </p:spPr>
      </p:pic>
      <p:sp>
        <p:nvSpPr>
          <p:cNvPr id="8" name="">
            <a:extLst xmlns:a="http://schemas.openxmlformats.org/drawingml/2006/main">
              <a:ext uri="{FF2B5EF4-FFF2-40B4-BE49-F238E27FC236}">
                <a16:creationId xmlns:a16="http://schemas.microsoft.com/office/drawing/2014/main" id="{9005074D-390C-4F02-BE24-A39E6C1CB230}"/>
              </a:ext>
            </a:extLst>
          </p:cNvPr>
          <p:cNvSpPr>
            <a:spLocks xmlns:a="http://schemas.openxmlformats.org/drawingml/2006/main" noGrp="1"/>
          </p:cNvSpPr>
          <p:nvPr/>
        </p:nvSpPr>
        <p:spPr>
          <a:xfrm xmlns:a="http://schemas.openxmlformats.org/drawingml/2006/main">
            <a:off x="552450" y="23050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FF7A18"/>
                </a:solidFill>
                <a:latin typeface="Arial"/>
                <a:ea typeface="Arial"/>
                <a:cs typeface="Arial"/>
              </a:defRPr>
            </a:pPr>
            <a:r>
              <a:rPr sz="975" b="1">
                <a:solidFill>
                  <a:srgbClr val="FF7A18"/>
                </a:solidFill>
                <a:latin typeface="Arial"/>
                <a:ea typeface="Arial"/>
                <a:cs typeface="Arial"/>
              </a:rPr>
              <a:t>WHO GUARD SERVES</a:t>
            </a:r>
          </a:p>
        </p:txBody>
      </p:sp>
      <p:sp>
        <p:nvSpPr>
          <p:cNvPr id="9" name="">
            <a:extLst xmlns:a="http://schemas.openxmlformats.org/drawingml/2006/main">
              <a:ext uri="{FF2B5EF4-FFF2-40B4-BE49-F238E27FC236}">
                <a16:creationId xmlns:a16="http://schemas.microsoft.com/office/drawing/2014/main" id="{969CD259-FB2B-4B78-9600-EE95FCDEB456}"/>
              </a:ext>
            </a:extLst>
          </p:cNvPr>
          <p:cNvSpPr>
            <a:spLocks xmlns:a="http://schemas.openxmlformats.org/drawingml/2006/main" noGrp="1"/>
          </p:cNvSpPr>
          <p:nvPr/>
        </p:nvSpPr>
        <p:spPr>
          <a:xfrm xmlns:a="http://schemas.openxmlformats.org/drawingml/2006/main">
            <a:off x="552450" y="2628900"/>
            <a:ext cx="581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241539"/>
                </a:solidFill>
                <a:latin typeface="Arial"/>
                <a:ea typeface="Arial"/>
                <a:cs typeface="Arial"/>
              </a:defRPr>
            </a:pPr>
            <a:r>
              <a:rPr sz="2175" b="1">
                <a:solidFill>
                  <a:srgbClr val="241539"/>
                </a:solidFill>
                <a:latin typeface="Arial"/>
                <a:ea typeface="Arial"/>
                <a:cs typeface="Arial"/>
              </a:rPr>
              <a:t>Anyone who receives calls, messages, email or links and needs to know whether they can trust them.</a:t>
            </a:r>
          </a:p>
        </p:txBody>
      </p:sp>
      <p:sp>
        <p:nvSpPr>
          <p:cNvPr id="10" name="">
            <a:extLst xmlns:a="http://schemas.openxmlformats.org/drawingml/2006/main">
              <a:ext uri="{FF2B5EF4-FFF2-40B4-BE49-F238E27FC236}">
                <a16:creationId xmlns:a16="http://schemas.microsoft.com/office/drawing/2014/main" id="{3B17D9DF-17E8-484F-9615-861412B297A1}"/>
              </a:ext>
            </a:extLst>
          </p:cNvPr>
          <p:cNvSpPr>
            <a:spLocks xmlns:a="http://schemas.openxmlformats.org/drawingml/2006/main" noGrp="1"/>
          </p:cNvSpPr>
          <p:nvPr/>
        </p:nvSpPr>
        <p:spPr>
          <a:xfrm xmlns:a="http://schemas.openxmlformats.org/drawingml/2006/main">
            <a:off x="552450" y="3848100"/>
            <a:ext cx="57912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11" name="">
            <a:extLst xmlns:a="http://schemas.openxmlformats.org/drawingml/2006/main">
              <a:ext uri="{FF2B5EF4-FFF2-40B4-BE49-F238E27FC236}">
                <a16:creationId xmlns:a16="http://schemas.microsoft.com/office/drawing/2014/main" id="{566B7F96-1F85-4DD6-8526-2BA6068B5154}"/>
              </a:ext>
            </a:extLst>
          </p:cNvPr>
          <p:cNvSpPr>
            <a:spLocks xmlns:a="http://schemas.openxmlformats.org/drawingml/2006/main" noGrp="1"/>
          </p:cNvSpPr>
          <p:nvPr/>
        </p:nvSpPr>
        <p:spPr>
          <a:xfrm xmlns:a="http://schemas.openxmlformats.org/drawingml/2006/main">
            <a:off x="552450" y="4057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6D22B7"/>
                </a:solidFill>
                <a:latin typeface="Arial"/>
                <a:ea typeface="Arial"/>
                <a:cs typeface="Arial"/>
              </a:defRPr>
            </a:pPr>
            <a:r>
              <a:rPr sz="1125" b="1">
                <a:solidFill>
                  <a:srgbClr val="6D22B7"/>
                </a:solidFill>
                <a:latin typeface="Arial"/>
                <a:ea typeface="Arial"/>
                <a:cs typeface="Arial"/>
              </a:rPr>
              <a:t>Common pressure</a:t>
            </a:r>
          </a:p>
        </p:txBody>
      </p:sp>
      <p:sp>
        <p:nvSpPr>
          <p:cNvPr id="12" name="">
            <a:extLst xmlns:a="http://schemas.openxmlformats.org/drawingml/2006/main">
              <a:ext uri="{FF2B5EF4-FFF2-40B4-BE49-F238E27FC236}">
                <a16:creationId xmlns:a16="http://schemas.microsoft.com/office/drawing/2014/main" id="{F42AE340-ECB5-481A-9688-836D8CBB38E6}"/>
              </a:ext>
            </a:extLst>
          </p:cNvPr>
          <p:cNvSpPr>
            <a:spLocks xmlns:a="http://schemas.openxmlformats.org/drawingml/2006/main" noGrp="1"/>
          </p:cNvSpPr>
          <p:nvPr/>
        </p:nvSpPr>
        <p:spPr>
          <a:xfrm xmlns:a="http://schemas.openxmlformats.org/drawingml/2006/main">
            <a:off x="552450" y="4362450"/>
            <a:ext cx="257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756780"/>
                </a:solidFill>
                <a:latin typeface="Arial"/>
                <a:ea typeface="Arial"/>
                <a:cs typeface="Arial"/>
              </a:defRPr>
            </a:pPr>
            <a:r>
              <a:rPr sz="1350" b="0">
                <a:solidFill>
                  <a:srgbClr val="756780"/>
                </a:solidFill>
                <a:latin typeface="Arial"/>
                <a:ea typeface="Arial"/>
                <a:cs typeface="Arial"/>
              </a:rPr>
              <a:t>Fraud appears inside familiar channels and often looks legitimate long enough to trigger a response.</a:t>
            </a:r>
          </a:p>
        </p:txBody>
      </p:sp>
      <p:sp>
        <p:nvSpPr>
          <p:cNvPr id="13" name="">
            <a:extLst xmlns:a="http://schemas.openxmlformats.org/drawingml/2006/main">
              <a:ext uri="{FF2B5EF4-FFF2-40B4-BE49-F238E27FC236}">
                <a16:creationId xmlns:a16="http://schemas.microsoft.com/office/drawing/2014/main" id="{8481E3BF-8C6E-438D-893B-1AB9EC251A82}"/>
              </a:ext>
            </a:extLst>
          </p:cNvPr>
          <p:cNvSpPr>
            <a:spLocks xmlns:a="http://schemas.openxmlformats.org/drawingml/2006/main" noGrp="1"/>
          </p:cNvSpPr>
          <p:nvPr/>
        </p:nvSpPr>
        <p:spPr>
          <a:xfrm xmlns:a="http://schemas.openxmlformats.org/drawingml/2006/main">
            <a:off x="3581400" y="4057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6D22B7"/>
                </a:solidFill>
                <a:latin typeface="Arial"/>
                <a:ea typeface="Arial"/>
                <a:cs typeface="Arial"/>
              </a:defRPr>
            </a:pPr>
            <a:r>
              <a:rPr sz="1125" b="1">
                <a:solidFill>
                  <a:srgbClr val="6D22B7"/>
                </a:solidFill>
                <a:latin typeface="Arial"/>
                <a:ea typeface="Arial"/>
                <a:cs typeface="Arial"/>
              </a:rPr>
              <a:t>Desired outcome</a:t>
            </a:r>
          </a:p>
        </p:txBody>
      </p:sp>
      <p:sp>
        <p:nvSpPr>
          <p:cNvPr id="14" name="">
            <a:extLst xmlns:a="http://schemas.openxmlformats.org/drawingml/2006/main">
              <a:ext uri="{FF2B5EF4-FFF2-40B4-BE49-F238E27FC236}">
                <a16:creationId xmlns:a16="http://schemas.microsoft.com/office/drawing/2014/main" id="{E8A31EDD-6DDF-4624-A3C0-5A5CE99FD13A}"/>
              </a:ext>
            </a:extLst>
          </p:cNvPr>
          <p:cNvSpPr>
            <a:spLocks xmlns:a="http://schemas.openxmlformats.org/drawingml/2006/main" noGrp="1"/>
          </p:cNvSpPr>
          <p:nvPr/>
        </p:nvSpPr>
        <p:spPr>
          <a:xfrm xmlns:a="http://schemas.openxmlformats.org/drawingml/2006/main">
            <a:off x="3581400" y="4362450"/>
            <a:ext cx="26860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756780"/>
                </a:solidFill>
                <a:latin typeface="Arial"/>
                <a:ea typeface="Arial"/>
                <a:cs typeface="Arial"/>
              </a:defRPr>
            </a:pPr>
            <a:r>
              <a:rPr sz="1350" b="0">
                <a:solidFill>
                  <a:srgbClr val="756780"/>
                </a:solidFill>
                <a:latin typeface="Arial"/>
                <a:ea typeface="Arial"/>
                <a:cs typeface="Arial"/>
              </a:rPr>
              <a:t>A warning at the moment of risk, with a reason and a safe action that protects their information and money.</a:t>
            </a:r>
          </a:p>
        </p:txBody>
      </p:sp>
      <p:sp>
        <p:nvSpPr>
          <p:cNvPr id="15" name="">
            <a:extLst xmlns:a="http://schemas.openxmlformats.org/drawingml/2006/main">
              <a:ext uri="{FF2B5EF4-FFF2-40B4-BE49-F238E27FC236}">
                <a16:creationId xmlns:a16="http://schemas.microsoft.com/office/drawing/2014/main" id="{0EB9BB7D-F46E-436A-9324-3A9BE4B7A6F0}"/>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16" name="">
            <a:extLst xmlns:a="http://schemas.openxmlformats.org/drawingml/2006/main">
              <a:ext uri="{FF2B5EF4-FFF2-40B4-BE49-F238E27FC236}">
                <a16:creationId xmlns:a16="http://schemas.microsoft.com/office/drawing/2014/main" id="{D0B4998C-BE27-440E-8BB2-08EB85AEFB6D}"/>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9A8DA5"/>
                </a:solidFill>
                <a:latin typeface="Arial"/>
                <a:ea typeface="Arial"/>
                <a:cs typeface="Arial"/>
              </a:defRPr>
            </a:pPr>
            <a:r>
              <a:rPr sz="750" b="0">
                <a:solidFill>
                  <a:srgbClr val="9A8DA5"/>
                </a:solidFill>
                <a:latin typeface="Arial"/>
                <a:ea typeface="Arial"/>
                <a:cs typeface="Arial"/>
              </a:rPr>
              <a:t>Guard - Ghana-first fraud prevention</a:t>
            </a:r>
          </a:p>
        </p:txBody>
      </p:sp>
      <p:sp>
        <p:nvSpPr>
          <p:cNvPr id="17" name="">
            <a:extLst xmlns:a="http://schemas.openxmlformats.org/drawingml/2006/main">
              <a:ext uri="{FF2B5EF4-FFF2-40B4-BE49-F238E27FC236}">
                <a16:creationId xmlns:a16="http://schemas.microsoft.com/office/drawing/2014/main" id="{F121782D-0E77-4D34-B262-15B771A8BB00}"/>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D22B7"/>
                </a:solidFill>
                <a:latin typeface="Arial"/>
                <a:ea typeface="Arial"/>
                <a:cs typeface="Arial"/>
              </a:defRPr>
            </a:pPr>
            <a:r>
              <a:rPr sz="825" b="1">
                <a:solidFill>
                  <a:srgbClr val="6D22B7"/>
                </a:solidFill>
                <a:latin typeface="Arial"/>
                <a:ea typeface="Arial"/>
                <a:cs typeface="Arial"/>
              </a:rPr>
              <a:t>02</a:t>
            </a:r>
          </a:p>
        </p:txBody>
      </p:sp>
    </p:spTree>
    <p:extLst>
      <p:ext uri="{BB962C8B-B14F-4D97-AF65-F5344CB8AC3E}">
        <p14:creationId xmlns:p14="http://schemas.microsoft.com/office/powerpoint/2010/main" val="1809047015"/>
      </p:ext>
    </p:extLst>
  </p:cSld>
</p:sld>
</file>

<file path=ppt/slides/slide3.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A8D5508-45C3-4E6C-A476-A1286AC8491F}"/>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80A2E"/>
                </a:solidFill>
                <a:latin typeface="Arial"/>
                <a:ea typeface="Arial"/>
                <a:cs typeface="Arial"/>
              </a:defRPr>
            </a:pPr>
            <a:r>
              <a:rPr sz="1875" b="1">
                <a:solidFill>
                  <a:srgbClr val="180A2E"/>
                </a:solidFill>
                <a:latin typeface="Arial"/>
                <a:ea typeface="Arial"/>
                <a:cs typeface="Arial"/>
              </a:rPr>
              <a:t>Guard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6282089a55f4624"/>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8D4FE80-EA08-48FA-81C5-A454F9E36210}"/>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68E16B-61CD-4BE5-AFF8-081B8BE56221}"/>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9828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38E22F-E13A-4228-A747-10A0435E233B}"/>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D22B7"/>
                </a:solidFill>
                <a:latin typeface="Arial"/>
                <a:ea typeface="Arial"/>
                <a:cs typeface="Arial"/>
              </a:defRPr>
            </a:pPr>
            <a:r>
              <a:rPr sz="1050" b="1">
                <a:solidFill>
                  <a:srgbClr val="6D22B7"/>
                </a:solidFill>
                <a:latin typeface="Arial"/>
                <a:ea typeface="Arial"/>
                <a:cs typeface="Arial"/>
              </a:rPr>
              <a:t>PROBLEM</a:t>
            </a:r>
          </a:p>
        </p:txBody>
      </p:sp>
      <p:sp>
        <p:nvSpPr>
          <p:cNvPr id="6" name="">
            <a:extLst xmlns:a="http://schemas.openxmlformats.org/drawingml/2006/main">
              <a:ext uri="{FF2B5EF4-FFF2-40B4-BE49-F238E27FC236}">
                <a16:creationId xmlns:a16="http://schemas.microsoft.com/office/drawing/2014/main" id="{E24FE409-79D5-47EF-8884-5B685014BAA7}"/>
              </a:ext>
            </a:extLst>
          </p:cNvPr>
          <p:cNvSpPr>
            <a:spLocks xmlns:a="http://schemas.openxmlformats.org/drawingml/2006/main" noGrp="1"/>
          </p:cNvSpPr>
          <p:nvPr/>
        </p:nvSpPr>
        <p:spPr>
          <a:xfrm xmlns:a="http://schemas.openxmlformats.org/drawingml/2006/main">
            <a:off x="514350" y="1285875"/>
            <a:ext cx="666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1">
                <a:solidFill>
                  <a:srgbClr val="241539"/>
                </a:solidFill>
                <a:latin typeface="Arial"/>
                <a:ea typeface="Arial"/>
                <a:cs typeface="Arial"/>
              </a:defRPr>
            </a:pPr>
            <a:r>
              <a:rPr sz="2625" b="1">
                <a:solidFill>
                  <a:srgbClr val="241539"/>
                </a:solidFill>
                <a:latin typeface="Arial"/>
                <a:ea typeface="Arial"/>
                <a:cs typeface="Arial"/>
              </a:rPr>
              <a:t>Fraud reaches users through every digital channel</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af793c76be44ea5"/>
          <a:srcRect xmlns:a="http://schemas.openxmlformats.org/drawingml/2006/main" l="21180" t="0" r="21180" b="0"/>
          <a:stretch xmlns:a="http://schemas.openxmlformats.org/drawingml/2006/main">
            <a:fillRect l="0" t="0" r="0" b="0"/>
          </a:stretch>
        </p:blipFill>
        <p:spPr>
          <a:xfrm xmlns:a="http://schemas.openxmlformats.org/drawingml/2006/main">
            <a:off x="7239000" y="1352550"/>
            <a:ext cx="4438650" cy="4333875"/>
          </a:xfrm>
          <a:prstGeom xmlns:a="http://schemas.openxmlformats.org/drawingml/2006/main" prst="roundRect">
            <a:avLst>
              <a:gd name="adj" fmla="val 5275"/>
            </a:avLst>
          </a:prstGeom>
        </p:spPr>
      </p:pic>
      <p:sp>
        <p:nvSpPr>
          <p:cNvPr id="8" name="">
            <a:extLst xmlns:a="http://schemas.openxmlformats.org/drawingml/2006/main">
              <a:ext uri="{FF2B5EF4-FFF2-40B4-BE49-F238E27FC236}">
                <a16:creationId xmlns:a16="http://schemas.microsoft.com/office/drawing/2014/main" id="{5D81CF29-2B71-47E3-A16D-E87C4ADF79E2}"/>
              </a:ext>
            </a:extLst>
          </p:cNvPr>
          <p:cNvSpPr>
            <a:spLocks xmlns:a="http://schemas.openxmlformats.org/drawingml/2006/main" noGrp="1"/>
          </p:cNvSpPr>
          <p:nvPr/>
        </p:nvSpPr>
        <p:spPr>
          <a:xfrm xmlns:a="http://schemas.openxmlformats.org/drawingml/2006/main">
            <a:off x="552450" y="2333625"/>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6D22B7"/>
                </a:solidFill>
                <a:latin typeface="Arial"/>
                <a:ea typeface="Arial"/>
                <a:cs typeface="Arial"/>
              </a:defRPr>
            </a:pPr>
            <a:r>
              <a:rPr sz="4950" b="1">
                <a:solidFill>
                  <a:srgbClr val="6D22B7"/>
                </a:solidFill>
                <a:latin typeface="Arial"/>
                <a:ea typeface="Arial"/>
                <a:cs typeface="Arial"/>
              </a:rPr>
              <a:t>1,799</a:t>
            </a:r>
          </a:p>
        </p:txBody>
      </p:sp>
      <p:sp>
        <p:nvSpPr>
          <p:cNvPr id="9" name="">
            <a:extLst xmlns:a="http://schemas.openxmlformats.org/drawingml/2006/main">
              <a:ext uri="{FF2B5EF4-FFF2-40B4-BE49-F238E27FC236}">
                <a16:creationId xmlns:a16="http://schemas.microsoft.com/office/drawing/2014/main" id="{EECC4CFC-C925-4D05-A800-311A26B10F6D}"/>
              </a:ext>
            </a:extLst>
          </p:cNvPr>
          <p:cNvSpPr>
            <a:spLocks xmlns:a="http://schemas.openxmlformats.org/drawingml/2006/main" noGrp="1"/>
          </p:cNvSpPr>
          <p:nvPr/>
        </p:nvSpPr>
        <p:spPr>
          <a:xfrm xmlns:a="http://schemas.openxmlformats.org/drawingml/2006/main">
            <a:off x="571500" y="30765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756780"/>
                </a:solidFill>
                <a:latin typeface="Arial"/>
                <a:ea typeface="Arial"/>
                <a:cs typeface="Arial"/>
              </a:defRPr>
            </a:pPr>
            <a:r>
              <a:rPr sz="1425" b="0">
                <a:solidFill>
                  <a:srgbClr val="756780"/>
                </a:solidFill>
                <a:latin typeface="Arial"/>
                <a:ea typeface="Arial"/>
                <a:cs typeface="Arial"/>
              </a:rPr>
              <a:t>online fraud incidents confirmed by Ghana's Cyber Security Authority in 2025</a:t>
            </a:r>
          </a:p>
        </p:txBody>
      </p:sp>
      <p:sp>
        <p:nvSpPr>
          <p:cNvPr id="10" name="">
            <a:extLst xmlns:a="http://schemas.openxmlformats.org/drawingml/2006/main">
              <a:ext uri="{FF2B5EF4-FFF2-40B4-BE49-F238E27FC236}">
                <a16:creationId xmlns:a16="http://schemas.microsoft.com/office/drawing/2014/main" id="{1574B5FA-7DC8-4550-A9B6-9DDEDA9F76B1}"/>
              </a:ext>
            </a:extLst>
          </p:cNvPr>
          <p:cNvSpPr>
            <a:spLocks xmlns:a="http://schemas.openxmlformats.org/drawingml/2006/main" noGrp="1"/>
          </p:cNvSpPr>
          <p:nvPr/>
        </p:nvSpPr>
        <p:spPr>
          <a:xfrm xmlns:a="http://schemas.openxmlformats.org/drawingml/2006/main">
            <a:off x="552450" y="39433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FF7A18"/>
                </a:solidFill>
                <a:latin typeface="Arial"/>
                <a:ea typeface="Arial"/>
                <a:cs typeface="Arial"/>
              </a:defRPr>
            </a:pPr>
            <a:r>
              <a:rPr sz="3300" b="1">
                <a:solidFill>
                  <a:srgbClr val="FF7A18"/>
                </a:solidFill>
                <a:latin typeface="Arial"/>
                <a:ea typeface="Arial"/>
                <a:cs typeface="Arial"/>
              </a:rPr>
              <a:t>39%</a:t>
            </a:r>
          </a:p>
        </p:txBody>
      </p:sp>
      <p:sp>
        <p:nvSpPr>
          <p:cNvPr id="11" name="">
            <a:extLst xmlns:a="http://schemas.openxmlformats.org/drawingml/2006/main">
              <a:ext uri="{FF2B5EF4-FFF2-40B4-BE49-F238E27FC236}">
                <a16:creationId xmlns:a16="http://schemas.microsoft.com/office/drawing/2014/main" id="{8643555D-3564-4B1A-9DB3-E294F89690A2}"/>
              </a:ext>
            </a:extLst>
          </p:cNvPr>
          <p:cNvSpPr>
            <a:spLocks xmlns:a="http://schemas.openxmlformats.org/drawingml/2006/main" noGrp="1"/>
          </p:cNvSpPr>
          <p:nvPr/>
        </p:nvSpPr>
        <p:spPr>
          <a:xfrm xmlns:a="http://schemas.openxmlformats.org/drawingml/2006/main">
            <a:off x="571500" y="4476750"/>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of confirmed cyber incidents in 2025</a:t>
            </a:r>
          </a:p>
        </p:txBody>
      </p:sp>
      <p:sp>
        <p:nvSpPr>
          <p:cNvPr id="12" name="">
            <a:extLst xmlns:a="http://schemas.openxmlformats.org/drawingml/2006/main">
              <a:ext uri="{FF2B5EF4-FFF2-40B4-BE49-F238E27FC236}">
                <a16:creationId xmlns:a16="http://schemas.microsoft.com/office/drawing/2014/main" id="{DA905FEE-56D7-4E84-83D5-B80A053D9D7F}"/>
              </a:ext>
            </a:extLst>
          </p:cNvPr>
          <p:cNvSpPr>
            <a:spLocks xmlns:a="http://schemas.openxmlformats.org/drawingml/2006/main" noGrp="1"/>
          </p:cNvSpPr>
          <p:nvPr/>
        </p:nvSpPr>
        <p:spPr>
          <a:xfrm xmlns:a="http://schemas.openxmlformats.org/drawingml/2006/main">
            <a:off x="3143250" y="39433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FF7A18"/>
                </a:solidFill>
                <a:latin typeface="Arial"/>
                <a:ea typeface="Arial"/>
                <a:cs typeface="Arial"/>
              </a:defRPr>
            </a:pPr>
            <a:r>
              <a:rPr sz="3300" b="1">
                <a:solidFill>
                  <a:srgbClr val="FF7A18"/>
                </a:solidFill>
                <a:latin typeface="Arial"/>
                <a:ea typeface="Arial"/>
                <a:cs typeface="Arial"/>
              </a:rPr>
              <a:t>47%</a:t>
            </a:r>
          </a:p>
        </p:txBody>
      </p:sp>
      <p:sp>
        <p:nvSpPr>
          <p:cNvPr id="13" name="">
            <a:extLst xmlns:a="http://schemas.openxmlformats.org/drawingml/2006/main">
              <a:ext uri="{FF2B5EF4-FFF2-40B4-BE49-F238E27FC236}">
                <a16:creationId xmlns:a16="http://schemas.microsoft.com/office/drawing/2014/main" id="{AFAFC830-E71D-4573-9BBB-73865D60DCA4}"/>
              </a:ext>
            </a:extLst>
          </p:cNvPr>
          <p:cNvSpPr>
            <a:spLocks xmlns:a="http://schemas.openxmlformats.org/drawingml/2006/main" noGrp="1"/>
          </p:cNvSpPr>
          <p:nvPr/>
        </p:nvSpPr>
        <p:spPr>
          <a:xfrm xmlns:a="http://schemas.openxmlformats.org/drawingml/2006/main">
            <a:off x="3162300" y="44767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of incidents from January to July 2026</a:t>
            </a:r>
          </a:p>
        </p:txBody>
      </p:sp>
      <p:sp>
        <p:nvSpPr>
          <p:cNvPr id="14" name="">
            <a:extLst xmlns:a="http://schemas.openxmlformats.org/drawingml/2006/main">
              <a:ext uri="{FF2B5EF4-FFF2-40B4-BE49-F238E27FC236}">
                <a16:creationId xmlns:a16="http://schemas.microsoft.com/office/drawing/2014/main" id="{5D852B2C-0AB6-4395-A5E6-48307B8AAB46}"/>
              </a:ext>
            </a:extLst>
          </p:cNvPr>
          <p:cNvSpPr>
            <a:spLocks xmlns:a="http://schemas.openxmlformats.org/drawingml/2006/main" noGrp="1"/>
          </p:cNvSpPr>
          <p:nvPr/>
        </p:nvSpPr>
        <p:spPr>
          <a:xfrm xmlns:a="http://schemas.openxmlformats.org/drawingml/2006/main">
            <a:off x="552450" y="5248275"/>
            <a:ext cx="5905500" cy="552450"/>
          </a:xfrm>
          <a:prstGeom xmlns:a="http://schemas.openxmlformats.org/drawingml/2006/main" prst="roundRect">
            <a:avLst>
              <a:gd name="adj" fmla="val 13793"/>
            </a:avLst>
          </a:prstGeom>
          <a:solidFill xmlns:a="http://schemas.openxmlformats.org/drawingml/2006/main">
            <a:srgbClr val="F0E9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1366B0C-6CC5-4014-8463-2914C3E7F8B1}"/>
              </a:ext>
            </a:extLst>
          </p:cNvPr>
          <p:cNvSpPr>
            <a:spLocks xmlns:a="http://schemas.openxmlformats.org/drawingml/2006/main" noGrp="1"/>
          </p:cNvSpPr>
          <p:nvPr/>
        </p:nvSpPr>
        <p:spPr>
          <a:xfrm xmlns:a="http://schemas.openxmlformats.org/drawingml/2006/main">
            <a:off x="742950" y="541020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80A2E"/>
                </a:solidFill>
                <a:latin typeface="Arial"/>
                <a:ea typeface="Arial"/>
                <a:cs typeface="Arial"/>
              </a:defRPr>
            </a:pPr>
            <a:r>
              <a:rPr sz="1275" b="1">
                <a:solidFill>
                  <a:srgbClr val="180A2E"/>
                </a:solidFill>
                <a:latin typeface="Arial"/>
                <a:ea typeface="Arial"/>
                <a:cs typeface="Arial"/>
              </a:rPr>
              <a:t>Users need protection inside the channel, before a click, reply or disclosure.</a:t>
            </a:r>
          </a:p>
        </p:txBody>
      </p:sp>
      <p:sp>
        <p:nvSpPr>
          <p:cNvPr id="16" name="">
            <a:extLst xmlns:a="http://schemas.openxmlformats.org/drawingml/2006/main">
              <a:ext uri="{FF2B5EF4-FFF2-40B4-BE49-F238E27FC236}">
                <a16:creationId xmlns:a16="http://schemas.microsoft.com/office/drawing/2014/main" id="{FF362ED1-A68E-4A11-B4D2-B5EDA7B688AD}"/>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17" name="">
            <a:extLst xmlns:a="http://schemas.openxmlformats.org/drawingml/2006/main">
              <a:ext uri="{FF2B5EF4-FFF2-40B4-BE49-F238E27FC236}">
                <a16:creationId xmlns:a16="http://schemas.microsoft.com/office/drawing/2014/main" id="{6D7EA832-D26E-462A-8DBB-C78B76E07189}"/>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9A8DA5"/>
                </a:solidFill>
                <a:latin typeface="Arial"/>
                <a:ea typeface="Arial"/>
                <a:cs typeface="Arial"/>
              </a:defRPr>
            </a:pPr>
            <a:r>
              <a:rPr sz="750" b="0">
                <a:solidFill>
                  <a:srgbClr val="9A8DA5"/>
                </a:solidFill>
                <a:latin typeface="Arial"/>
                <a:ea typeface="Arial"/>
                <a:cs typeface="Arial"/>
              </a:rPr>
              <a:t>Guard - Ghana-first fraud prevention</a:t>
            </a:r>
          </a:p>
        </p:txBody>
      </p:sp>
      <p:sp>
        <p:nvSpPr>
          <p:cNvPr id="18" name="">
            <a:extLst xmlns:a="http://schemas.openxmlformats.org/drawingml/2006/main">
              <a:ext uri="{FF2B5EF4-FFF2-40B4-BE49-F238E27FC236}">
                <a16:creationId xmlns:a16="http://schemas.microsoft.com/office/drawing/2014/main" id="{B5094209-7166-423E-B043-3DE2BC9CDD9A}"/>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D22B7"/>
                </a:solidFill>
                <a:latin typeface="Arial"/>
                <a:ea typeface="Arial"/>
                <a:cs typeface="Arial"/>
              </a:defRPr>
            </a:pPr>
            <a:r>
              <a:rPr sz="825" b="1">
                <a:solidFill>
                  <a:srgbClr val="6D22B7"/>
                </a:solidFill>
                <a:latin typeface="Arial"/>
                <a:ea typeface="Arial"/>
                <a:cs typeface="Arial"/>
              </a:rPr>
              <a:t>03</a:t>
            </a:r>
          </a:p>
        </p:txBody>
      </p:sp>
    </p:spTree>
    <p:extLst>
      <p:ext uri="{BB962C8B-B14F-4D97-AF65-F5344CB8AC3E}">
        <p14:creationId xmlns:p14="http://schemas.microsoft.com/office/powerpoint/2010/main" val="2031145037"/>
      </p:ext>
    </p:extLst>
  </p:cSld>
</p:sld>
</file>

<file path=ppt/slides/slide4.xml><?xml version="1.0" encoding="utf-8"?>
<p:sld xmlns:p="http://schemas.openxmlformats.org/presentationml/2006/main">
  <p:cSld>
    <p:bg>
      <p:bgPr>
        <a:solidFill xmlns:a="http://schemas.openxmlformats.org/drawingml/2006/main">
          <a:srgbClr val="180A2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25E8B94-A189-4D21-9CDF-F5D170738793}"/>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Guard</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345faa69b7b04bff"/>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A04CCE-244C-4693-A1BF-95DB4F2A3696}"/>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8E8C40-6091-4AAD-83A7-9D94B25B9723}"/>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6D22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449C39-519C-4C31-BB4E-4112E7A35E4E}"/>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B52E"/>
                </a:solidFill>
                <a:latin typeface="Arial"/>
                <a:ea typeface="Arial"/>
                <a:cs typeface="Arial"/>
              </a:defRPr>
            </a:pPr>
            <a:r>
              <a:rPr sz="1050" b="1">
                <a:solidFill>
                  <a:srgbClr val="FFB52E"/>
                </a:solidFill>
                <a:latin typeface="Arial"/>
                <a:ea typeface="Arial"/>
                <a:cs typeface="Arial"/>
              </a:rPr>
              <a:t>SOLUTION</a:t>
            </a:r>
          </a:p>
        </p:txBody>
      </p:sp>
      <p:sp>
        <p:nvSpPr>
          <p:cNvPr id="6" name="">
            <a:extLst xmlns:a="http://schemas.openxmlformats.org/drawingml/2006/main">
              <a:ext uri="{FF2B5EF4-FFF2-40B4-BE49-F238E27FC236}">
                <a16:creationId xmlns:a16="http://schemas.microsoft.com/office/drawing/2014/main" id="{DEB722DD-4C1B-493B-B0CC-E7F9E23A3C80}"/>
              </a:ext>
            </a:extLst>
          </p:cNvPr>
          <p:cNvSpPr>
            <a:spLocks xmlns:a="http://schemas.openxmlformats.org/drawingml/2006/main" noGrp="1"/>
          </p:cNvSpPr>
          <p:nvPr/>
        </p:nvSpPr>
        <p:spPr>
          <a:xfrm xmlns:a="http://schemas.openxmlformats.org/drawingml/2006/main">
            <a:off x="514350" y="12858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Always-on protection with user permission</a:t>
            </a:r>
          </a:p>
        </p:txBody>
      </p:sp>
      <p:sp>
        <p:nvSpPr>
          <p:cNvPr id="7" name="">
            <a:extLst xmlns:a="http://schemas.openxmlformats.org/drawingml/2006/main">
              <a:ext uri="{FF2B5EF4-FFF2-40B4-BE49-F238E27FC236}">
                <a16:creationId xmlns:a16="http://schemas.microsoft.com/office/drawing/2014/main" id="{04840877-E25A-4204-A81C-EC4E41B126EB}"/>
              </a:ext>
            </a:extLst>
          </p:cNvPr>
          <p:cNvSpPr>
            <a:spLocks xmlns:a="http://schemas.openxmlformats.org/drawingml/2006/main" noGrp="1"/>
          </p:cNvSpPr>
          <p:nvPr/>
        </p:nvSpPr>
        <p:spPr>
          <a:xfrm xmlns:a="http://schemas.openxmlformats.org/drawingml/2006/main">
            <a:off x="552450" y="20002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D9C9E8"/>
                </a:solidFill>
                <a:latin typeface="Arial"/>
                <a:ea typeface="Arial"/>
                <a:cs typeface="Arial"/>
              </a:defRPr>
            </a:pPr>
            <a:r>
              <a:rPr sz="1650" b="0">
                <a:solidFill>
                  <a:srgbClr val="D9C9E8"/>
                </a:solidFill>
                <a:latin typeface="Arial"/>
                <a:ea typeface="Arial"/>
                <a:cs typeface="Arial"/>
              </a:rPr>
              <a:t>Guard monitors the signals each platform permits, assesses risk and returns a warning where the user can act on it.</a:t>
            </a:r>
          </a:p>
        </p:txBody>
      </p:sp>
      <p:sp>
        <p:nvSpPr>
          <p:cNvPr id="8" name="">
            <a:extLst xmlns:a="http://schemas.openxmlformats.org/drawingml/2006/main">
              <a:ext uri="{FF2B5EF4-FFF2-40B4-BE49-F238E27FC236}">
                <a16:creationId xmlns:a16="http://schemas.microsoft.com/office/drawing/2014/main" id="{1286C205-93F9-4CBB-99C3-BF2CD6FCC7BA}"/>
              </a:ext>
            </a:extLst>
          </p:cNvPr>
          <p:cNvSpPr>
            <a:spLocks xmlns:a="http://schemas.openxmlformats.org/drawingml/2006/main" noGrp="1"/>
          </p:cNvSpPr>
          <p:nvPr/>
        </p:nvSpPr>
        <p:spPr>
          <a:xfrm xmlns:a="http://schemas.openxmlformats.org/drawingml/2006/main">
            <a:off x="552450" y="29241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7A18"/>
                </a:solidFill>
                <a:latin typeface="Arial"/>
                <a:ea typeface="Arial"/>
                <a:cs typeface="Arial"/>
              </a:defRPr>
            </a:pPr>
            <a:r>
              <a:rPr sz="900" b="1">
                <a:solidFill>
                  <a:srgbClr val="FF7A18"/>
                </a:solidFill>
                <a:latin typeface="Arial"/>
                <a:ea typeface="Arial"/>
                <a:cs typeface="Arial"/>
              </a:rPr>
              <a:t>CALLS</a:t>
            </a:r>
          </a:p>
        </p:txBody>
      </p:sp>
      <p:sp>
        <p:nvSpPr>
          <p:cNvPr id="9" name="">
            <a:extLst xmlns:a="http://schemas.openxmlformats.org/drawingml/2006/main">
              <a:ext uri="{FF2B5EF4-FFF2-40B4-BE49-F238E27FC236}">
                <a16:creationId xmlns:a16="http://schemas.microsoft.com/office/drawing/2014/main" id="{9DC72EBC-2D86-4714-9753-EBF2B55FB5D3}"/>
              </a:ext>
            </a:extLst>
          </p:cNvPr>
          <p:cNvSpPr>
            <a:spLocks xmlns:a="http://schemas.openxmlformats.org/drawingml/2006/main" noGrp="1"/>
          </p:cNvSpPr>
          <p:nvPr/>
        </p:nvSpPr>
        <p:spPr>
          <a:xfrm xmlns:a="http://schemas.openxmlformats.org/drawingml/2006/main">
            <a:off x="1524000" y="2905125"/>
            <a:ext cx="266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Caller ID or screening</a:t>
            </a:r>
          </a:p>
        </p:txBody>
      </p:sp>
      <p:sp>
        <p:nvSpPr>
          <p:cNvPr id="10" name="">
            <a:extLst xmlns:a="http://schemas.openxmlformats.org/drawingml/2006/main">
              <a:ext uri="{FF2B5EF4-FFF2-40B4-BE49-F238E27FC236}">
                <a16:creationId xmlns:a16="http://schemas.microsoft.com/office/drawing/2014/main" id="{7303287A-4F0D-4EBB-960B-FA18D38E19E4}"/>
              </a:ext>
            </a:extLst>
          </p:cNvPr>
          <p:cNvSpPr>
            <a:spLocks xmlns:a="http://schemas.openxmlformats.org/drawingml/2006/main" noGrp="1"/>
          </p:cNvSpPr>
          <p:nvPr/>
        </p:nvSpPr>
        <p:spPr>
          <a:xfrm xmlns:a="http://schemas.openxmlformats.org/drawingml/2006/main">
            <a:off x="4286250" y="3019425"/>
            <a:ext cx="952500" cy="0"/>
          </a:xfrm>
          <a:prstGeom xmlns:a="http://schemas.openxmlformats.org/drawingml/2006/main" prst="line">
            <a:avLst/>
          </a:prstGeom>
          <a:noFill xmlns:a="http://schemas.openxmlformats.org/drawingml/2006/main"/>
          <a:ln xmlns:a="http://schemas.openxmlformats.org/drawingml/2006/main" w="19050">
            <a:solidFill>
              <a:srgbClr val="7A4B9A"/>
            </a:solidFill>
          </a:ln>
        </p:spPr>
      </p:sp>
      <p:sp>
        <p:nvSpPr>
          <p:cNvPr id="11" name="">
            <a:extLst xmlns:a="http://schemas.openxmlformats.org/drawingml/2006/main">
              <a:ext uri="{FF2B5EF4-FFF2-40B4-BE49-F238E27FC236}">
                <a16:creationId xmlns:a16="http://schemas.microsoft.com/office/drawing/2014/main" id="{6E3E03DB-4CC4-494B-9B5A-A956B0749C05}"/>
              </a:ext>
            </a:extLst>
          </p:cNvPr>
          <p:cNvSpPr>
            <a:spLocks xmlns:a="http://schemas.openxmlformats.org/drawingml/2006/main" noGrp="1"/>
          </p:cNvSpPr>
          <p:nvPr/>
        </p:nvSpPr>
        <p:spPr>
          <a:xfrm xmlns:a="http://schemas.openxmlformats.org/drawingml/2006/main">
            <a:off x="552450" y="346710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7A18"/>
                </a:solidFill>
                <a:latin typeface="Arial"/>
                <a:ea typeface="Arial"/>
                <a:cs typeface="Arial"/>
              </a:defRPr>
            </a:pPr>
            <a:r>
              <a:rPr sz="900" b="1">
                <a:solidFill>
                  <a:srgbClr val="FF7A18"/>
                </a:solidFill>
                <a:latin typeface="Arial"/>
                <a:ea typeface="Arial"/>
                <a:cs typeface="Arial"/>
              </a:rPr>
              <a:t>SMS</a:t>
            </a:r>
          </a:p>
        </p:txBody>
      </p:sp>
      <p:sp>
        <p:nvSpPr>
          <p:cNvPr id="12" name="">
            <a:extLst xmlns:a="http://schemas.openxmlformats.org/drawingml/2006/main">
              <a:ext uri="{FF2B5EF4-FFF2-40B4-BE49-F238E27FC236}">
                <a16:creationId xmlns:a16="http://schemas.microsoft.com/office/drawing/2014/main" id="{F9EA3F92-06FF-4099-9A9E-D68F266A7DD4}"/>
              </a:ext>
            </a:extLst>
          </p:cNvPr>
          <p:cNvSpPr>
            <a:spLocks xmlns:a="http://schemas.openxmlformats.org/drawingml/2006/main" noGrp="1"/>
          </p:cNvSpPr>
          <p:nvPr/>
        </p:nvSpPr>
        <p:spPr>
          <a:xfrm xmlns:a="http://schemas.openxmlformats.org/drawingml/2006/main">
            <a:off x="1524000" y="3448050"/>
            <a:ext cx="266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Inbox filtering</a:t>
            </a:r>
          </a:p>
        </p:txBody>
      </p:sp>
      <p:sp>
        <p:nvSpPr>
          <p:cNvPr id="13" name="">
            <a:extLst xmlns:a="http://schemas.openxmlformats.org/drawingml/2006/main">
              <a:ext uri="{FF2B5EF4-FFF2-40B4-BE49-F238E27FC236}">
                <a16:creationId xmlns:a16="http://schemas.microsoft.com/office/drawing/2014/main" id="{E8F0896C-5617-4092-812A-A3081C03E994}"/>
              </a:ext>
            </a:extLst>
          </p:cNvPr>
          <p:cNvSpPr>
            <a:spLocks xmlns:a="http://schemas.openxmlformats.org/drawingml/2006/main" noGrp="1"/>
          </p:cNvSpPr>
          <p:nvPr/>
        </p:nvSpPr>
        <p:spPr>
          <a:xfrm xmlns:a="http://schemas.openxmlformats.org/drawingml/2006/main">
            <a:off x="4286250" y="3562350"/>
            <a:ext cx="952500" cy="0"/>
          </a:xfrm>
          <a:prstGeom xmlns:a="http://schemas.openxmlformats.org/drawingml/2006/main" prst="line">
            <a:avLst/>
          </a:prstGeom>
          <a:noFill xmlns:a="http://schemas.openxmlformats.org/drawingml/2006/main"/>
          <a:ln xmlns:a="http://schemas.openxmlformats.org/drawingml/2006/main" w="19050">
            <a:solidFill>
              <a:srgbClr val="7A4B9A"/>
            </a:solidFill>
          </a:ln>
        </p:spPr>
      </p:sp>
      <p:sp>
        <p:nvSpPr>
          <p:cNvPr id="14" name="">
            <a:extLst xmlns:a="http://schemas.openxmlformats.org/drawingml/2006/main">
              <a:ext uri="{FF2B5EF4-FFF2-40B4-BE49-F238E27FC236}">
                <a16:creationId xmlns:a16="http://schemas.microsoft.com/office/drawing/2014/main" id="{DA2E472E-DA7F-4075-9787-3C1047242EBC}"/>
              </a:ext>
            </a:extLst>
          </p:cNvPr>
          <p:cNvSpPr>
            <a:spLocks xmlns:a="http://schemas.openxmlformats.org/drawingml/2006/main" noGrp="1"/>
          </p:cNvSpPr>
          <p:nvPr/>
        </p:nvSpPr>
        <p:spPr>
          <a:xfrm xmlns:a="http://schemas.openxmlformats.org/drawingml/2006/main">
            <a:off x="552450" y="401002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7A18"/>
                </a:solidFill>
                <a:latin typeface="Arial"/>
                <a:ea typeface="Arial"/>
                <a:cs typeface="Arial"/>
              </a:defRPr>
            </a:pPr>
            <a:r>
              <a:rPr sz="900" b="1">
                <a:solidFill>
                  <a:srgbClr val="FF7A18"/>
                </a:solidFill>
                <a:latin typeface="Arial"/>
                <a:ea typeface="Arial"/>
                <a:cs typeface="Arial"/>
              </a:rPr>
              <a:t>EMAIL</a:t>
            </a:r>
          </a:p>
        </p:txBody>
      </p:sp>
      <p:sp>
        <p:nvSpPr>
          <p:cNvPr id="15" name="">
            <a:extLst xmlns:a="http://schemas.openxmlformats.org/drawingml/2006/main">
              <a:ext uri="{FF2B5EF4-FFF2-40B4-BE49-F238E27FC236}">
                <a16:creationId xmlns:a16="http://schemas.microsoft.com/office/drawing/2014/main" id="{62B0FC5C-95AF-4AD4-AB23-773FC0B13AD8}"/>
              </a:ext>
            </a:extLst>
          </p:cNvPr>
          <p:cNvSpPr>
            <a:spLocks xmlns:a="http://schemas.openxmlformats.org/drawingml/2006/main" noGrp="1"/>
          </p:cNvSpPr>
          <p:nvPr/>
        </p:nvSpPr>
        <p:spPr>
          <a:xfrm xmlns:a="http://schemas.openxmlformats.org/drawingml/2006/main">
            <a:off x="1524000" y="3990975"/>
            <a:ext cx="266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Authorized mailbox connection</a:t>
            </a:r>
          </a:p>
        </p:txBody>
      </p:sp>
      <p:sp>
        <p:nvSpPr>
          <p:cNvPr id="16" name="">
            <a:extLst xmlns:a="http://schemas.openxmlformats.org/drawingml/2006/main">
              <a:ext uri="{FF2B5EF4-FFF2-40B4-BE49-F238E27FC236}">
                <a16:creationId xmlns:a16="http://schemas.microsoft.com/office/drawing/2014/main" id="{413CFF00-81B8-4FAD-A45C-FED9BF5B5FA4}"/>
              </a:ext>
            </a:extLst>
          </p:cNvPr>
          <p:cNvSpPr>
            <a:spLocks xmlns:a="http://schemas.openxmlformats.org/drawingml/2006/main" noGrp="1"/>
          </p:cNvSpPr>
          <p:nvPr/>
        </p:nvSpPr>
        <p:spPr>
          <a:xfrm xmlns:a="http://schemas.openxmlformats.org/drawingml/2006/main">
            <a:off x="4286250" y="4105275"/>
            <a:ext cx="952500" cy="0"/>
          </a:xfrm>
          <a:prstGeom xmlns:a="http://schemas.openxmlformats.org/drawingml/2006/main" prst="line">
            <a:avLst/>
          </a:prstGeom>
          <a:noFill xmlns:a="http://schemas.openxmlformats.org/drawingml/2006/main"/>
          <a:ln xmlns:a="http://schemas.openxmlformats.org/drawingml/2006/main" w="19050">
            <a:solidFill>
              <a:srgbClr val="7A4B9A"/>
            </a:solidFill>
          </a:ln>
        </p:spPr>
      </p:sp>
      <p:sp>
        <p:nvSpPr>
          <p:cNvPr id="17" name="">
            <a:extLst xmlns:a="http://schemas.openxmlformats.org/drawingml/2006/main">
              <a:ext uri="{FF2B5EF4-FFF2-40B4-BE49-F238E27FC236}">
                <a16:creationId xmlns:a16="http://schemas.microsoft.com/office/drawing/2014/main" id="{D3886008-43DB-4AA1-A09D-DCAC9A3E2D3A}"/>
              </a:ext>
            </a:extLst>
          </p:cNvPr>
          <p:cNvSpPr>
            <a:spLocks xmlns:a="http://schemas.openxmlformats.org/drawingml/2006/main" noGrp="1"/>
          </p:cNvSpPr>
          <p:nvPr/>
        </p:nvSpPr>
        <p:spPr>
          <a:xfrm xmlns:a="http://schemas.openxmlformats.org/drawingml/2006/main">
            <a:off x="552450" y="45529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7A18"/>
                </a:solidFill>
                <a:latin typeface="Arial"/>
                <a:ea typeface="Arial"/>
                <a:cs typeface="Arial"/>
              </a:defRPr>
            </a:pPr>
            <a:r>
              <a:rPr sz="900" b="1">
                <a:solidFill>
                  <a:srgbClr val="FF7A18"/>
                </a:solidFill>
                <a:latin typeface="Arial"/>
                <a:ea typeface="Arial"/>
                <a:cs typeface="Arial"/>
              </a:rPr>
              <a:t>LINKS</a:t>
            </a:r>
          </a:p>
        </p:txBody>
      </p:sp>
      <p:sp>
        <p:nvSpPr>
          <p:cNvPr id="18" name="">
            <a:extLst xmlns:a="http://schemas.openxmlformats.org/drawingml/2006/main">
              <a:ext uri="{FF2B5EF4-FFF2-40B4-BE49-F238E27FC236}">
                <a16:creationId xmlns:a16="http://schemas.microsoft.com/office/drawing/2014/main" id="{73887B64-BA45-444B-ADD7-EFD15756D37A}"/>
              </a:ext>
            </a:extLst>
          </p:cNvPr>
          <p:cNvSpPr>
            <a:spLocks xmlns:a="http://schemas.openxmlformats.org/drawingml/2006/main" noGrp="1"/>
          </p:cNvSpPr>
          <p:nvPr/>
        </p:nvSpPr>
        <p:spPr>
          <a:xfrm xmlns:a="http://schemas.openxmlformats.org/drawingml/2006/main">
            <a:off x="1524000" y="4533900"/>
            <a:ext cx="266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Share sheet or browser check</a:t>
            </a:r>
          </a:p>
        </p:txBody>
      </p:sp>
      <p:sp>
        <p:nvSpPr>
          <p:cNvPr id="19" name="">
            <a:extLst xmlns:a="http://schemas.openxmlformats.org/drawingml/2006/main">
              <a:ext uri="{FF2B5EF4-FFF2-40B4-BE49-F238E27FC236}">
                <a16:creationId xmlns:a16="http://schemas.microsoft.com/office/drawing/2014/main" id="{231079F1-68BC-45BF-8853-4D7A9EB0B50A}"/>
              </a:ext>
            </a:extLst>
          </p:cNvPr>
          <p:cNvSpPr>
            <a:spLocks xmlns:a="http://schemas.openxmlformats.org/drawingml/2006/main" noGrp="1"/>
          </p:cNvSpPr>
          <p:nvPr/>
        </p:nvSpPr>
        <p:spPr>
          <a:xfrm xmlns:a="http://schemas.openxmlformats.org/drawingml/2006/main">
            <a:off x="4286250" y="4648200"/>
            <a:ext cx="952500" cy="0"/>
          </a:xfrm>
          <a:prstGeom xmlns:a="http://schemas.openxmlformats.org/drawingml/2006/main" prst="line">
            <a:avLst/>
          </a:prstGeom>
          <a:noFill xmlns:a="http://schemas.openxmlformats.org/drawingml/2006/main"/>
          <a:ln xmlns:a="http://schemas.openxmlformats.org/drawingml/2006/main" w="19050">
            <a:solidFill>
              <a:srgbClr val="7A4B9A"/>
            </a:solidFill>
          </a:ln>
        </p:spPr>
      </p:sp>
      <p:sp>
        <p:nvSpPr>
          <p:cNvPr id="20" name="">
            <a:extLst xmlns:a="http://schemas.openxmlformats.org/drawingml/2006/main">
              <a:ext uri="{FF2B5EF4-FFF2-40B4-BE49-F238E27FC236}">
                <a16:creationId xmlns:a16="http://schemas.microsoft.com/office/drawing/2014/main" id="{D760BECE-B466-434D-83AC-16405B42CBD4}"/>
              </a:ext>
            </a:extLst>
          </p:cNvPr>
          <p:cNvSpPr>
            <a:spLocks xmlns:a="http://schemas.openxmlformats.org/drawingml/2006/main" noGrp="1"/>
          </p:cNvSpPr>
          <p:nvPr/>
        </p:nvSpPr>
        <p:spPr>
          <a:xfrm xmlns:a="http://schemas.openxmlformats.org/drawingml/2006/main">
            <a:off x="552450" y="50958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7A18"/>
                </a:solidFill>
                <a:latin typeface="Arial"/>
                <a:ea typeface="Arial"/>
                <a:cs typeface="Arial"/>
              </a:defRPr>
            </a:pPr>
            <a:r>
              <a:rPr sz="900" b="1">
                <a:solidFill>
                  <a:srgbClr val="FF7A18"/>
                </a:solidFill>
                <a:latin typeface="Arial"/>
                <a:ea typeface="Arial"/>
                <a:cs typeface="Arial"/>
              </a:rPr>
              <a:t>APPS</a:t>
            </a:r>
          </a:p>
        </p:txBody>
      </p:sp>
      <p:sp>
        <p:nvSpPr>
          <p:cNvPr id="21" name="">
            <a:extLst xmlns:a="http://schemas.openxmlformats.org/drawingml/2006/main">
              <a:ext uri="{FF2B5EF4-FFF2-40B4-BE49-F238E27FC236}">
                <a16:creationId xmlns:a16="http://schemas.microsoft.com/office/drawing/2014/main" id="{AB875FC3-B0EA-457D-8A4B-28EF7C422E3F}"/>
              </a:ext>
            </a:extLst>
          </p:cNvPr>
          <p:cNvSpPr>
            <a:spLocks xmlns:a="http://schemas.openxmlformats.org/drawingml/2006/main" noGrp="1"/>
          </p:cNvSpPr>
          <p:nvPr/>
        </p:nvSpPr>
        <p:spPr>
          <a:xfrm xmlns:a="http://schemas.openxmlformats.org/drawingml/2006/main">
            <a:off x="1524000" y="5076825"/>
            <a:ext cx="266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Supported notifications</a:t>
            </a:r>
          </a:p>
        </p:txBody>
      </p:sp>
      <p:sp>
        <p:nvSpPr>
          <p:cNvPr id="22" name="">
            <a:extLst xmlns:a="http://schemas.openxmlformats.org/drawingml/2006/main">
              <a:ext uri="{FF2B5EF4-FFF2-40B4-BE49-F238E27FC236}">
                <a16:creationId xmlns:a16="http://schemas.microsoft.com/office/drawing/2014/main" id="{E8B94BA1-DB40-4A68-8194-13F5481F8892}"/>
              </a:ext>
            </a:extLst>
          </p:cNvPr>
          <p:cNvSpPr>
            <a:spLocks xmlns:a="http://schemas.openxmlformats.org/drawingml/2006/main" noGrp="1"/>
          </p:cNvSpPr>
          <p:nvPr/>
        </p:nvSpPr>
        <p:spPr>
          <a:xfrm xmlns:a="http://schemas.openxmlformats.org/drawingml/2006/main">
            <a:off x="4286250" y="5191125"/>
            <a:ext cx="952500" cy="0"/>
          </a:xfrm>
          <a:prstGeom xmlns:a="http://schemas.openxmlformats.org/drawingml/2006/main" prst="line">
            <a:avLst/>
          </a:prstGeom>
          <a:noFill xmlns:a="http://schemas.openxmlformats.org/drawingml/2006/main"/>
          <a:ln xmlns:a="http://schemas.openxmlformats.org/drawingml/2006/main" w="19050">
            <a:solidFill>
              <a:srgbClr val="7A4B9A"/>
            </a:solidFill>
          </a:ln>
        </p:spPr>
      </p:sp>
      <p:sp>
        <p:nvSpPr>
          <p:cNvPr id="23" name="">
            <a:extLst xmlns:a="http://schemas.openxmlformats.org/drawingml/2006/main">
              <a:ext uri="{FF2B5EF4-FFF2-40B4-BE49-F238E27FC236}">
                <a16:creationId xmlns:a16="http://schemas.microsoft.com/office/drawing/2014/main" id="{63286F09-AAD0-4CBD-8D4A-E1E225423BD0}"/>
              </a:ext>
            </a:extLst>
          </p:cNvPr>
          <p:cNvSpPr>
            <a:spLocks xmlns:a="http://schemas.openxmlformats.org/drawingml/2006/main" noGrp="1"/>
          </p:cNvSpPr>
          <p:nvPr/>
        </p:nvSpPr>
        <p:spPr>
          <a:xfrm xmlns:a="http://schemas.openxmlformats.org/drawingml/2006/main">
            <a:off x="5286375" y="2781300"/>
            <a:ext cx="2705100" cy="2857500"/>
          </a:xfrm>
          <a:prstGeom xmlns:a="http://schemas.openxmlformats.org/drawingml/2006/main" prst="roundRect">
            <a:avLst>
              <a:gd name="adj" fmla="val 2817"/>
            </a:avLst>
          </a:prstGeom>
          <a:solidFill xmlns:a="http://schemas.openxmlformats.org/drawingml/2006/main">
            <a:srgbClr val="2D0D54"/>
          </a:solidFill>
          <a:ln xmlns:a="http://schemas.openxmlformats.org/drawingml/2006/main" w="19050">
            <a:solidFill>
              <a:srgbClr val="6A3D8A"/>
            </a:solid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0a421efda8ac42b6"/>
          <a:stretch xmlns:a="http://schemas.openxmlformats.org/drawingml/2006/main"/>
        </p:blipFill>
        <p:spPr>
          <a:xfrm xmlns:a="http://schemas.openxmlformats.org/drawingml/2006/main">
            <a:off x="6230419" y="3048000"/>
            <a:ext cx="817011" cy="8191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54043E99-14C8-4DE0-B1F7-CEC138B61C2E}"/>
              </a:ext>
            </a:extLst>
          </p:cNvPr>
          <p:cNvSpPr>
            <a:spLocks xmlns:a="http://schemas.openxmlformats.org/drawingml/2006/main" noGrp="1"/>
          </p:cNvSpPr>
          <p:nvPr/>
        </p:nvSpPr>
        <p:spPr>
          <a:xfrm xmlns:a="http://schemas.openxmlformats.org/drawingml/2006/main">
            <a:off x="5524500" y="4114800"/>
            <a:ext cx="2228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B52E"/>
                </a:solidFill>
                <a:latin typeface="Arial"/>
                <a:ea typeface="Arial"/>
                <a:cs typeface="Arial"/>
              </a:defRPr>
            </a:pPr>
            <a:r>
              <a:rPr sz="975" b="1">
                <a:solidFill>
                  <a:srgbClr val="FFB52E"/>
                </a:solidFill>
                <a:latin typeface="Arial"/>
                <a:ea typeface="Arial"/>
                <a:cs typeface="Arial"/>
              </a:rPr>
              <a:t>GUARD PROTECTION LAYER</a:t>
            </a:r>
          </a:p>
        </p:txBody>
      </p:sp>
      <p:sp>
        <p:nvSpPr>
          <p:cNvPr id="26" name="">
            <a:extLst xmlns:a="http://schemas.openxmlformats.org/drawingml/2006/main">
              <a:ext uri="{FF2B5EF4-FFF2-40B4-BE49-F238E27FC236}">
                <a16:creationId xmlns:a16="http://schemas.microsoft.com/office/drawing/2014/main" id="{A62F14F5-060D-422F-B67F-9FFEBC2FC67B}"/>
              </a:ext>
            </a:extLst>
          </p:cNvPr>
          <p:cNvSpPr>
            <a:spLocks xmlns:a="http://schemas.openxmlformats.org/drawingml/2006/main" noGrp="1"/>
          </p:cNvSpPr>
          <p:nvPr/>
        </p:nvSpPr>
        <p:spPr>
          <a:xfrm xmlns:a="http://schemas.openxmlformats.org/drawingml/2006/main">
            <a:off x="5638800" y="4514850"/>
            <a:ext cx="200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FFFFFF"/>
                </a:solidFill>
                <a:latin typeface="Arial"/>
                <a:ea typeface="Arial"/>
                <a:cs typeface="Arial"/>
              </a:defRPr>
            </a:pPr>
            <a:r>
              <a:rPr sz="1275" b="0">
                <a:solidFill>
                  <a:srgbClr val="FFFFFF"/>
                </a:solidFill>
                <a:latin typeface="Arial"/>
                <a:ea typeface="Arial"/>
                <a:cs typeface="Arial"/>
              </a:rPr>
              <a:t>Identity, content, link and reputation signals</a:t>
            </a:r>
          </a:p>
        </p:txBody>
      </p:sp>
      <p:sp>
        <p:nvSpPr>
          <p:cNvPr id="27" name="">
            <a:extLst xmlns:a="http://schemas.openxmlformats.org/drawingml/2006/main">
              <a:ext uri="{FF2B5EF4-FFF2-40B4-BE49-F238E27FC236}">
                <a16:creationId xmlns:a16="http://schemas.microsoft.com/office/drawing/2014/main" id="{53479836-D5C4-426D-B864-2CD30E592989}"/>
              </a:ext>
            </a:extLst>
          </p:cNvPr>
          <p:cNvSpPr>
            <a:spLocks xmlns:a="http://schemas.openxmlformats.org/drawingml/2006/main" noGrp="1"/>
          </p:cNvSpPr>
          <p:nvPr/>
        </p:nvSpPr>
        <p:spPr>
          <a:xfrm xmlns:a="http://schemas.openxmlformats.org/drawingml/2006/main">
            <a:off x="7991475" y="4200525"/>
            <a:ext cx="857250" cy="0"/>
          </a:xfrm>
          <a:prstGeom xmlns:a="http://schemas.openxmlformats.org/drawingml/2006/main" prst="line">
            <a:avLst/>
          </a:prstGeom>
          <a:noFill xmlns:a="http://schemas.openxmlformats.org/drawingml/2006/main"/>
          <a:ln xmlns:a="http://schemas.openxmlformats.org/drawingml/2006/main" w="19050">
            <a:solidFill>
              <a:srgbClr val="7A4B9A"/>
            </a:solidFill>
          </a:ln>
        </p:spPr>
      </p:sp>
      <p:sp>
        <p:nvSpPr>
          <p:cNvPr id="28" name="">
            <a:extLst xmlns:a="http://schemas.openxmlformats.org/drawingml/2006/main">
              <a:ext uri="{FF2B5EF4-FFF2-40B4-BE49-F238E27FC236}">
                <a16:creationId xmlns:a16="http://schemas.microsoft.com/office/drawing/2014/main" id="{8DFB4B2B-DED7-4E9C-8FDF-013988525F38}"/>
              </a:ext>
            </a:extLst>
          </p:cNvPr>
          <p:cNvSpPr>
            <a:spLocks xmlns:a="http://schemas.openxmlformats.org/drawingml/2006/main" noGrp="1"/>
          </p:cNvSpPr>
          <p:nvPr/>
        </p:nvSpPr>
        <p:spPr>
          <a:xfrm xmlns:a="http://schemas.openxmlformats.org/drawingml/2006/main">
            <a:off x="8858250" y="3143250"/>
            <a:ext cx="2571750" cy="2114550"/>
          </a:xfrm>
          <a:prstGeom xmlns:a="http://schemas.openxmlformats.org/drawingml/2006/main" prst="roundRect">
            <a:avLst>
              <a:gd name="adj" fmla="val 3604"/>
            </a:avLst>
          </a:prstGeom>
          <a:solidFill xmlns:a="http://schemas.openxmlformats.org/drawingml/2006/main">
            <a:srgbClr val="FFB52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CC2E575-12D6-4C79-83CB-73621B93B12E}"/>
              </a:ext>
            </a:extLst>
          </p:cNvPr>
          <p:cNvSpPr>
            <a:spLocks xmlns:a="http://schemas.openxmlformats.org/drawingml/2006/main" noGrp="1"/>
          </p:cNvSpPr>
          <p:nvPr/>
        </p:nvSpPr>
        <p:spPr>
          <a:xfrm xmlns:a="http://schemas.openxmlformats.org/drawingml/2006/main">
            <a:off x="9105900" y="3409950"/>
            <a:ext cx="2076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241539"/>
                </a:solidFill>
                <a:latin typeface="Arial"/>
                <a:ea typeface="Arial"/>
                <a:cs typeface="Arial"/>
              </a:defRPr>
            </a:pPr>
            <a:r>
              <a:rPr sz="975" b="1">
                <a:solidFill>
                  <a:srgbClr val="241539"/>
                </a:solidFill>
                <a:latin typeface="Arial"/>
                <a:ea typeface="Arial"/>
                <a:cs typeface="Arial"/>
              </a:rPr>
              <a:t>FRAUD WARNING</a:t>
            </a:r>
          </a:p>
        </p:txBody>
      </p:sp>
      <p:sp>
        <p:nvSpPr>
          <p:cNvPr id="30" name="">
            <a:extLst xmlns:a="http://schemas.openxmlformats.org/drawingml/2006/main">
              <a:ext uri="{FF2B5EF4-FFF2-40B4-BE49-F238E27FC236}">
                <a16:creationId xmlns:a16="http://schemas.microsoft.com/office/drawing/2014/main" id="{AB8C7B52-5F45-49A5-8D8E-9ABF4E1CE458}"/>
              </a:ext>
            </a:extLst>
          </p:cNvPr>
          <p:cNvSpPr>
            <a:spLocks xmlns:a="http://schemas.openxmlformats.org/drawingml/2006/main" noGrp="1"/>
          </p:cNvSpPr>
          <p:nvPr/>
        </p:nvSpPr>
        <p:spPr>
          <a:xfrm xmlns:a="http://schemas.openxmlformats.org/drawingml/2006/main">
            <a:off x="9105900" y="3829050"/>
            <a:ext cx="207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550" b="1">
                <a:solidFill>
                  <a:srgbClr val="241539"/>
                </a:solidFill>
                <a:latin typeface="Arial"/>
                <a:ea typeface="Arial"/>
                <a:cs typeface="Arial"/>
              </a:defRPr>
            </a:pPr>
            <a:r>
              <a:rPr sz="2550" b="1">
                <a:solidFill>
                  <a:srgbClr val="241539"/>
                </a:solidFill>
                <a:latin typeface="Arial"/>
                <a:ea typeface="Arial"/>
                <a:cs typeface="Arial"/>
              </a:rPr>
              <a:t>High risk</a:t>
            </a:r>
          </a:p>
        </p:txBody>
      </p:sp>
      <p:sp>
        <p:nvSpPr>
          <p:cNvPr id="31" name="">
            <a:extLst xmlns:a="http://schemas.openxmlformats.org/drawingml/2006/main">
              <a:ext uri="{FF2B5EF4-FFF2-40B4-BE49-F238E27FC236}">
                <a16:creationId xmlns:a16="http://schemas.microsoft.com/office/drawing/2014/main" id="{5D4EED86-45D4-452F-A1DB-729785388D2E}"/>
              </a:ext>
            </a:extLst>
          </p:cNvPr>
          <p:cNvSpPr>
            <a:spLocks xmlns:a="http://schemas.openxmlformats.org/drawingml/2006/main" noGrp="1"/>
          </p:cNvSpPr>
          <p:nvPr/>
        </p:nvSpPr>
        <p:spPr>
          <a:xfrm xmlns:a="http://schemas.openxmlformats.org/drawingml/2006/main">
            <a:off x="9124950" y="4400550"/>
            <a:ext cx="2038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241539"/>
                </a:solidFill>
                <a:latin typeface="Arial"/>
                <a:ea typeface="Arial"/>
                <a:cs typeface="Arial"/>
              </a:defRPr>
            </a:pPr>
            <a:r>
              <a:rPr sz="1125" b="0">
                <a:solidFill>
                  <a:srgbClr val="241539"/>
                </a:solidFill>
                <a:latin typeface="Arial"/>
                <a:ea typeface="Arial"/>
                <a:cs typeface="Arial"/>
              </a:rPr>
              <a:t>This message asks for a security code and creates false urgency.</a:t>
            </a:r>
          </a:p>
        </p:txBody>
      </p:sp>
      <p:sp>
        <p:nvSpPr>
          <p:cNvPr id="32" name="">
            <a:extLst xmlns:a="http://schemas.openxmlformats.org/drawingml/2006/main">
              <a:ext uri="{FF2B5EF4-FFF2-40B4-BE49-F238E27FC236}">
                <a16:creationId xmlns:a16="http://schemas.microsoft.com/office/drawing/2014/main" id="{79F74A8C-E14C-4B66-ACD8-8E7733B0EC1D}"/>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3A2850"/>
            </a:solidFill>
          </a:ln>
        </p:spPr>
      </p:sp>
      <p:sp>
        <p:nvSpPr>
          <p:cNvPr id="33" name="">
            <a:extLst xmlns:a="http://schemas.openxmlformats.org/drawingml/2006/main">
              <a:ext uri="{FF2B5EF4-FFF2-40B4-BE49-F238E27FC236}">
                <a16:creationId xmlns:a16="http://schemas.microsoft.com/office/drawing/2014/main" id="{56C60F37-816A-43CA-A12F-23628223D712}"/>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BFAECC"/>
                </a:solidFill>
                <a:latin typeface="Arial"/>
                <a:ea typeface="Arial"/>
                <a:cs typeface="Arial"/>
              </a:defRPr>
            </a:pPr>
            <a:r>
              <a:rPr sz="750" b="0">
                <a:solidFill>
                  <a:srgbClr val="BFAECC"/>
                </a:solidFill>
                <a:latin typeface="Arial"/>
                <a:ea typeface="Arial"/>
                <a:cs typeface="Arial"/>
              </a:rPr>
              <a:t>Guard - Ghana-first fraud prevention</a:t>
            </a:r>
          </a:p>
        </p:txBody>
      </p:sp>
      <p:sp>
        <p:nvSpPr>
          <p:cNvPr id="34" name="">
            <a:extLst xmlns:a="http://schemas.openxmlformats.org/drawingml/2006/main">
              <a:ext uri="{FF2B5EF4-FFF2-40B4-BE49-F238E27FC236}">
                <a16:creationId xmlns:a16="http://schemas.microsoft.com/office/drawing/2014/main" id="{A2448D5C-4701-49D5-B4BF-AF85A6BFB2ED}"/>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FFB52E"/>
                </a:solidFill>
                <a:latin typeface="Arial"/>
                <a:ea typeface="Arial"/>
                <a:cs typeface="Arial"/>
              </a:defRPr>
            </a:pPr>
            <a:r>
              <a:rPr sz="825" b="1">
                <a:solidFill>
                  <a:srgbClr val="FFB52E"/>
                </a:solidFill>
                <a:latin typeface="Arial"/>
                <a:ea typeface="Arial"/>
                <a:cs typeface="Arial"/>
              </a:rPr>
              <a:t>04</a:t>
            </a:r>
          </a:p>
        </p:txBody>
      </p:sp>
    </p:spTree>
    <p:extLst>
      <p:ext uri="{BB962C8B-B14F-4D97-AF65-F5344CB8AC3E}">
        <p14:creationId xmlns:p14="http://schemas.microsoft.com/office/powerpoint/2010/main" val="2059259600"/>
      </p:ext>
    </p:extLst>
  </p:cSld>
</p:sld>
</file>

<file path=ppt/slides/slide5.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E1F8894-518D-43EE-9DFC-DA19702F6443}"/>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80A2E"/>
                </a:solidFill>
                <a:latin typeface="Arial"/>
                <a:ea typeface="Arial"/>
                <a:cs typeface="Arial"/>
              </a:defRPr>
            </a:pPr>
            <a:r>
              <a:rPr sz="1875" b="1">
                <a:solidFill>
                  <a:srgbClr val="180A2E"/>
                </a:solidFill>
                <a:latin typeface="Arial"/>
                <a:ea typeface="Arial"/>
                <a:cs typeface="Arial"/>
              </a:rPr>
              <a:t>Guard</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bf3ee6ed9fd458e"/>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72274C-FE48-47B9-824B-285FB4A179C6}"/>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D3FA87-7C64-4161-8010-05D619697FC2}"/>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9828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90CDF1-08F4-482F-AA68-F56A16530794}"/>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D22B7"/>
                </a:solidFill>
                <a:latin typeface="Arial"/>
                <a:ea typeface="Arial"/>
                <a:cs typeface="Arial"/>
              </a:defRPr>
            </a:pPr>
            <a:r>
              <a:rPr sz="1050" b="1">
                <a:solidFill>
                  <a:srgbClr val="6D22B7"/>
                </a:solidFill>
                <a:latin typeface="Arial"/>
                <a:ea typeface="Arial"/>
                <a:cs typeface="Arial"/>
              </a:rPr>
              <a:t>USER EXPERIENCE</a:t>
            </a:r>
          </a:p>
        </p:txBody>
      </p:sp>
      <p:sp>
        <p:nvSpPr>
          <p:cNvPr id="6" name="">
            <a:extLst xmlns:a="http://schemas.openxmlformats.org/drawingml/2006/main">
              <a:ext uri="{FF2B5EF4-FFF2-40B4-BE49-F238E27FC236}">
                <a16:creationId xmlns:a16="http://schemas.microsoft.com/office/drawing/2014/main" id="{44440736-1885-4C82-9494-3F64CB53B732}"/>
              </a:ext>
            </a:extLst>
          </p:cNvPr>
          <p:cNvSpPr>
            <a:spLocks xmlns:a="http://schemas.openxmlformats.org/drawingml/2006/main" noGrp="1"/>
          </p:cNvSpPr>
          <p:nvPr/>
        </p:nvSpPr>
        <p:spPr>
          <a:xfrm xmlns:a="http://schemas.openxmlformats.org/drawingml/2006/main">
            <a:off x="514350" y="1285875"/>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a:solidFill>
                  <a:srgbClr val="241539"/>
                </a:solidFill>
                <a:latin typeface="Arial"/>
                <a:ea typeface="Arial"/>
                <a:cs typeface="Arial"/>
              </a:defRPr>
            </a:pPr>
            <a:r>
              <a:rPr sz="3225" b="1">
                <a:solidFill>
                  <a:srgbClr val="241539"/>
                </a:solidFill>
                <a:latin typeface="Arial"/>
                <a:ea typeface="Arial"/>
                <a:cs typeface="Arial"/>
              </a:rPr>
              <a:t>The warning appears where the risk appears</a:t>
            </a:r>
          </a:p>
        </p:txBody>
      </p:sp>
      <p:sp>
        <p:nvSpPr>
          <p:cNvPr id="7" name="">
            <a:extLst xmlns:a="http://schemas.openxmlformats.org/drawingml/2006/main">
              <a:ext uri="{FF2B5EF4-FFF2-40B4-BE49-F238E27FC236}">
                <a16:creationId xmlns:a16="http://schemas.microsoft.com/office/drawing/2014/main" id="{C5AD6B56-462B-49F2-AEE4-AA304B36D2D1}"/>
              </a:ext>
            </a:extLst>
          </p:cNvPr>
          <p:cNvSpPr>
            <a:spLocks xmlns:a="http://schemas.openxmlformats.org/drawingml/2006/main" noGrp="1"/>
          </p:cNvSpPr>
          <p:nvPr/>
        </p:nvSpPr>
        <p:spPr>
          <a:xfrm xmlns:a="http://schemas.openxmlformats.org/drawingml/2006/main">
            <a:off x="552450" y="2343150"/>
            <a:ext cx="2533650" cy="2800350"/>
          </a:xfrm>
          <a:prstGeom xmlns:a="http://schemas.openxmlformats.org/drawingml/2006/main" prst="roundRect">
            <a:avLst>
              <a:gd name="adj" fmla="val 3008"/>
            </a:avLst>
          </a:prstGeom>
          <a:solidFill xmlns:a="http://schemas.openxmlformats.org/drawingml/2006/main">
            <a:srgbClr val="F0E9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0EF862C-E847-4EF9-AD41-9B2C2100957C}"/>
              </a:ext>
            </a:extLst>
          </p:cNvPr>
          <p:cNvSpPr>
            <a:spLocks xmlns:a="http://schemas.openxmlformats.org/drawingml/2006/main" noGrp="1"/>
          </p:cNvSpPr>
          <p:nvPr/>
        </p:nvSpPr>
        <p:spPr>
          <a:xfrm xmlns:a="http://schemas.openxmlformats.org/drawingml/2006/main">
            <a:off x="742950" y="254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D22B7"/>
                </a:solidFill>
                <a:latin typeface="Arial"/>
                <a:ea typeface="Arial"/>
                <a:cs typeface="Arial"/>
              </a:defRPr>
            </a:pPr>
            <a:r>
              <a:rPr sz="975" b="1">
                <a:solidFill>
                  <a:srgbClr val="6D22B7"/>
                </a:solidFill>
                <a:latin typeface="Arial"/>
                <a:ea typeface="Arial"/>
                <a:cs typeface="Arial"/>
              </a:rPr>
              <a:t>CALL</a:t>
            </a:r>
          </a:p>
        </p:txBody>
      </p:sp>
      <p:sp>
        <p:nvSpPr>
          <p:cNvPr id="9" name="">
            <a:extLst xmlns:a="http://schemas.openxmlformats.org/drawingml/2006/main">
              <a:ext uri="{FF2B5EF4-FFF2-40B4-BE49-F238E27FC236}">
                <a16:creationId xmlns:a16="http://schemas.microsoft.com/office/drawing/2014/main" id="{D192CAB0-3247-4BBE-9CDA-C71B9A537FB1}"/>
              </a:ext>
            </a:extLst>
          </p:cNvPr>
          <p:cNvSpPr>
            <a:spLocks xmlns:a="http://schemas.openxmlformats.org/drawingml/2006/main" noGrp="1"/>
          </p:cNvSpPr>
          <p:nvPr/>
        </p:nvSpPr>
        <p:spPr>
          <a:xfrm xmlns:a="http://schemas.openxmlformats.org/drawingml/2006/main">
            <a:off x="742950" y="3038475"/>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241539"/>
                </a:solidFill>
                <a:latin typeface="Arial"/>
                <a:ea typeface="Arial"/>
                <a:cs typeface="Arial"/>
              </a:defRPr>
            </a:pPr>
            <a:r>
              <a:rPr sz="1725" b="1">
                <a:solidFill>
                  <a:srgbClr val="241539"/>
                </a:solidFill>
                <a:latin typeface="Arial"/>
                <a:ea typeface="Arial"/>
                <a:cs typeface="Arial"/>
              </a:rPr>
              <a:t>Caller warning</a:t>
            </a:r>
          </a:p>
        </p:txBody>
      </p:sp>
      <p:sp>
        <p:nvSpPr>
          <p:cNvPr id="10" name="">
            <a:extLst xmlns:a="http://schemas.openxmlformats.org/drawingml/2006/main">
              <a:ext uri="{FF2B5EF4-FFF2-40B4-BE49-F238E27FC236}">
                <a16:creationId xmlns:a16="http://schemas.microsoft.com/office/drawing/2014/main" id="{2A39A90B-AFC8-49C1-B151-92F173CD2ACA}"/>
              </a:ext>
            </a:extLst>
          </p:cNvPr>
          <p:cNvSpPr>
            <a:spLocks xmlns:a="http://schemas.openxmlformats.org/drawingml/2006/main" noGrp="1"/>
          </p:cNvSpPr>
          <p:nvPr/>
        </p:nvSpPr>
        <p:spPr>
          <a:xfrm xmlns:a="http://schemas.openxmlformats.org/drawingml/2006/main">
            <a:off x="742950" y="3771900"/>
            <a:ext cx="685800" cy="0"/>
          </a:xfrm>
          <a:prstGeom xmlns:a="http://schemas.openxmlformats.org/drawingml/2006/main" prst="line">
            <a:avLst/>
          </a:prstGeom>
          <a:noFill xmlns:a="http://schemas.openxmlformats.org/drawingml/2006/main"/>
          <a:ln xmlns:a="http://schemas.openxmlformats.org/drawingml/2006/main" w="38100">
            <a:solidFill>
              <a:srgbClr val="FF7A18"/>
            </a:solidFill>
          </a:ln>
        </p:spPr>
      </p:sp>
      <p:sp>
        <p:nvSpPr>
          <p:cNvPr id="11" name="">
            <a:extLst xmlns:a="http://schemas.openxmlformats.org/drawingml/2006/main">
              <a:ext uri="{FF2B5EF4-FFF2-40B4-BE49-F238E27FC236}">
                <a16:creationId xmlns:a16="http://schemas.microsoft.com/office/drawing/2014/main" id="{C9DE3200-9B41-479F-82A9-D9BFE74A20D5}"/>
              </a:ext>
            </a:extLst>
          </p:cNvPr>
          <p:cNvSpPr>
            <a:spLocks xmlns:a="http://schemas.openxmlformats.org/drawingml/2006/main" noGrp="1"/>
          </p:cNvSpPr>
          <p:nvPr/>
        </p:nvSpPr>
        <p:spPr>
          <a:xfrm xmlns:a="http://schemas.openxmlformats.org/drawingml/2006/main">
            <a:off x="742950" y="4029075"/>
            <a:ext cx="2133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Identify or screen suspicious callers before the user answers.</a:t>
            </a:r>
          </a:p>
        </p:txBody>
      </p:sp>
      <p:sp>
        <p:nvSpPr>
          <p:cNvPr id="12" name="">
            <a:extLst xmlns:a="http://schemas.openxmlformats.org/drawingml/2006/main">
              <a:ext uri="{FF2B5EF4-FFF2-40B4-BE49-F238E27FC236}">
                <a16:creationId xmlns:a16="http://schemas.microsoft.com/office/drawing/2014/main" id="{8E798394-D488-41FF-8AF3-E6F80DE798CA}"/>
              </a:ext>
            </a:extLst>
          </p:cNvPr>
          <p:cNvSpPr>
            <a:spLocks xmlns:a="http://schemas.openxmlformats.org/drawingml/2006/main" noGrp="1"/>
          </p:cNvSpPr>
          <p:nvPr/>
        </p:nvSpPr>
        <p:spPr>
          <a:xfrm xmlns:a="http://schemas.openxmlformats.org/drawingml/2006/main">
            <a:off x="3352800" y="2343150"/>
            <a:ext cx="2533650" cy="2800350"/>
          </a:xfrm>
          <a:prstGeom xmlns:a="http://schemas.openxmlformats.org/drawingml/2006/main" prst="roundRect">
            <a:avLst>
              <a:gd name="adj" fmla="val 3008"/>
            </a:avLst>
          </a:prstGeom>
          <a:solidFill xmlns:a="http://schemas.openxmlformats.org/drawingml/2006/main">
            <a:srgbClr val="FFF4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1BA501A-5AFD-4623-B713-FC5A0515914F}"/>
              </a:ext>
            </a:extLst>
          </p:cNvPr>
          <p:cNvSpPr>
            <a:spLocks xmlns:a="http://schemas.openxmlformats.org/drawingml/2006/main" noGrp="1"/>
          </p:cNvSpPr>
          <p:nvPr/>
        </p:nvSpPr>
        <p:spPr>
          <a:xfrm xmlns:a="http://schemas.openxmlformats.org/drawingml/2006/main">
            <a:off x="3543300" y="254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D22B7"/>
                </a:solidFill>
                <a:latin typeface="Arial"/>
                <a:ea typeface="Arial"/>
                <a:cs typeface="Arial"/>
              </a:defRPr>
            </a:pPr>
            <a:r>
              <a:rPr sz="975" b="1">
                <a:solidFill>
                  <a:srgbClr val="6D22B7"/>
                </a:solidFill>
                <a:latin typeface="Arial"/>
                <a:ea typeface="Arial"/>
                <a:cs typeface="Arial"/>
              </a:rPr>
              <a:t>SMS</a:t>
            </a:r>
          </a:p>
        </p:txBody>
      </p:sp>
      <p:sp>
        <p:nvSpPr>
          <p:cNvPr id="14" name="">
            <a:extLst xmlns:a="http://schemas.openxmlformats.org/drawingml/2006/main">
              <a:ext uri="{FF2B5EF4-FFF2-40B4-BE49-F238E27FC236}">
                <a16:creationId xmlns:a16="http://schemas.microsoft.com/office/drawing/2014/main" id="{DD6DC36A-0398-4B8D-B74C-78B3152DF157}"/>
              </a:ext>
            </a:extLst>
          </p:cNvPr>
          <p:cNvSpPr>
            <a:spLocks xmlns:a="http://schemas.openxmlformats.org/drawingml/2006/main" noGrp="1"/>
          </p:cNvSpPr>
          <p:nvPr/>
        </p:nvSpPr>
        <p:spPr>
          <a:xfrm xmlns:a="http://schemas.openxmlformats.org/drawingml/2006/main">
            <a:off x="3543300" y="3038475"/>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241539"/>
                </a:solidFill>
                <a:latin typeface="Arial"/>
                <a:ea typeface="Arial"/>
                <a:cs typeface="Arial"/>
              </a:defRPr>
            </a:pPr>
            <a:r>
              <a:rPr sz="1725" b="1">
                <a:solidFill>
                  <a:srgbClr val="241539"/>
                </a:solidFill>
                <a:latin typeface="Arial"/>
                <a:ea typeface="Arial"/>
                <a:cs typeface="Arial"/>
              </a:rPr>
              <a:t>Inbox flag</a:t>
            </a:r>
          </a:p>
        </p:txBody>
      </p:sp>
      <p:sp>
        <p:nvSpPr>
          <p:cNvPr id="15" name="">
            <a:extLst xmlns:a="http://schemas.openxmlformats.org/drawingml/2006/main">
              <a:ext uri="{FF2B5EF4-FFF2-40B4-BE49-F238E27FC236}">
                <a16:creationId xmlns:a16="http://schemas.microsoft.com/office/drawing/2014/main" id="{B2244A39-ED51-48A3-BBEC-89EE3AC37D03}"/>
              </a:ext>
            </a:extLst>
          </p:cNvPr>
          <p:cNvSpPr>
            <a:spLocks xmlns:a="http://schemas.openxmlformats.org/drawingml/2006/main" noGrp="1"/>
          </p:cNvSpPr>
          <p:nvPr/>
        </p:nvSpPr>
        <p:spPr>
          <a:xfrm xmlns:a="http://schemas.openxmlformats.org/drawingml/2006/main">
            <a:off x="3543300" y="3771900"/>
            <a:ext cx="685800" cy="0"/>
          </a:xfrm>
          <a:prstGeom xmlns:a="http://schemas.openxmlformats.org/drawingml/2006/main" prst="line">
            <a:avLst/>
          </a:prstGeom>
          <a:noFill xmlns:a="http://schemas.openxmlformats.org/drawingml/2006/main"/>
          <a:ln xmlns:a="http://schemas.openxmlformats.org/drawingml/2006/main" w="38100">
            <a:solidFill>
              <a:srgbClr val="FF7A18"/>
            </a:solidFill>
          </a:ln>
        </p:spPr>
      </p:sp>
      <p:sp>
        <p:nvSpPr>
          <p:cNvPr id="16" name="">
            <a:extLst xmlns:a="http://schemas.openxmlformats.org/drawingml/2006/main">
              <a:ext uri="{FF2B5EF4-FFF2-40B4-BE49-F238E27FC236}">
                <a16:creationId xmlns:a16="http://schemas.microsoft.com/office/drawing/2014/main" id="{0C59D7CA-3255-4E8D-A414-B1539D28FD48}"/>
              </a:ext>
            </a:extLst>
          </p:cNvPr>
          <p:cNvSpPr>
            <a:spLocks xmlns:a="http://schemas.openxmlformats.org/drawingml/2006/main" noGrp="1"/>
          </p:cNvSpPr>
          <p:nvPr/>
        </p:nvSpPr>
        <p:spPr>
          <a:xfrm xmlns:a="http://schemas.openxmlformats.org/drawingml/2006/main">
            <a:off x="3543300" y="4029075"/>
            <a:ext cx="2133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Label likely fraud and explain the request that raised concern.</a:t>
            </a:r>
          </a:p>
        </p:txBody>
      </p:sp>
      <p:sp>
        <p:nvSpPr>
          <p:cNvPr id="17" name="">
            <a:extLst xmlns:a="http://schemas.openxmlformats.org/drawingml/2006/main">
              <a:ext uri="{FF2B5EF4-FFF2-40B4-BE49-F238E27FC236}">
                <a16:creationId xmlns:a16="http://schemas.microsoft.com/office/drawing/2014/main" id="{408F93EA-29B7-4B0D-BF7D-075FDB158F14}"/>
              </a:ext>
            </a:extLst>
          </p:cNvPr>
          <p:cNvSpPr>
            <a:spLocks xmlns:a="http://schemas.openxmlformats.org/drawingml/2006/main" noGrp="1"/>
          </p:cNvSpPr>
          <p:nvPr/>
        </p:nvSpPr>
        <p:spPr>
          <a:xfrm xmlns:a="http://schemas.openxmlformats.org/drawingml/2006/main">
            <a:off x="6153150" y="2343150"/>
            <a:ext cx="2533650" cy="2800350"/>
          </a:xfrm>
          <a:prstGeom xmlns:a="http://schemas.openxmlformats.org/drawingml/2006/main" prst="roundRect">
            <a:avLst>
              <a:gd name="adj" fmla="val 3008"/>
            </a:avLst>
          </a:prstGeom>
          <a:solidFill xmlns:a="http://schemas.openxmlformats.org/drawingml/2006/main">
            <a:srgbClr val="F0E9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E38CEA2-328A-4E79-9993-1E57A15C5B9B}"/>
              </a:ext>
            </a:extLst>
          </p:cNvPr>
          <p:cNvSpPr>
            <a:spLocks xmlns:a="http://schemas.openxmlformats.org/drawingml/2006/main" noGrp="1"/>
          </p:cNvSpPr>
          <p:nvPr/>
        </p:nvSpPr>
        <p:spPr>
          <a:xfrm xmlns:a="http://schemas.openxmlformats.org/drawingml/2006/main">
            <a:off x="6343650" y="254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D22B7"/>
                </a:solidFill>
                <a:latin typeface="Arial"/>
                <a:ea typeface="Arial"/>
                <a:cs typeface="Arial"/>
              </a:defRPr>
            </a:pPr>
            <a:r>
              <a:rPr sz="975" b="1">
                <a:solidFill>
                  <a:srgbClr val="6D22B7"/>
                </a:solidFill>
                <a:latin typeface="Arial"/>
                <a:ea typeface="Arial"/>
                <a:cs typeface="Arial"/>
              </a:rPr>
              <a:t>EMAIL</a:t>
            </a:r>
          </a:p>
        </p:txBody>
      </p:sp>
      <p:sp>
        <p:nvSpPr>
          <p:cNvPr id="19" name="">
            <a:extLst xmlns:a="http://schemas.openxmlformats.org/drawingml/2006/main">
              <a:ext uri="{FF2B5EF4-FFF2-40B4-BE49-F238E27FC236}">
                <a16:creationId xmlns:a16="http://schemas.microsoft.com/office/drawing/2014/main" id="{86D7F4AC-F008-4FD8-B2B8-E37B28165FE1}"/>
              </a:ext>
            </a:extLst>
          </p:cNvPr>
          <p:cNvSpPr>
            <a:spLocks xmlns:a="http://schemas.openxmlformats.org/drawingml/2006/main" noGrp="1"/>
          </p:cNvSpPr>
          <p:nvPr/>
        </p:nvSpPr>
        <p:spPr>
          <a:xfrm xmlns:a="http://schemas.openxmlformats.org/drawingml/2006/main">
            <a:off x="6343650" y="3038475"/>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241539"/>
                </a:solidFill>
                <a:latin typeface="Arial"/>
                <a:ea typeface="Arial"/>
                <a:cs typeface="Arial"/>
              </a:defRPr>
            </a:pPr>
            <a:r>
              <a:rPr sz="1725" b="1">
                <a:solidFill>
                  <a:srgbClr val="241539"/>
                </a:solidFill>
                <a:latin typeface="Arial"/>
                <a:ea typeface="Arial"/>
                <a:cs typeface="Arial"/>
              </a:rPr>
              <a:t>Message alert</a:t>
            </a:r>
          </a:p>
        </p:txBody>
      </p:sp>
      <p:sp>
        <p:nvSpPr>
          <p:cNvPr id="20" name="">
            <a:extLst xmlns:a="http://schemas.openxmlformats.org/drawingml/2006/main">
              <a:ext uri="{FF2B5EF4-FFF2-40B4-BE49-F238E27FC236}">
                <a16:creationId xmlns:a16="http://schemas.microsoft.com/office/drawing/2014/main" id="{E52B644C-22D4-46C8-8F46-90A7E0EC24DD}"/>
              </a:ext>
            </a:extLst>
          </p:cNvPr>
          <p:cNvSpPr>
            <a:spLocks xmlns:a="http://schemas.openxmlformats.org/drawingml/2006/main" noGrp="1"/>
          </p:cNvSpPr>
          <p:nvPr/>
        </p:nvSpPr>
        <p:spPr>
          <a:xfrm xmlns:a="http://schemas.openxmlformats.org/drawingml/2006/main">
            <a:off x="6343650" y="3771900"/>
            <a:ext cx="685800" cy="0"/>
          </a:xfrm>
          <a:prstGeom xmlns:a="http://schemas.openxmlformats.org/drawingml/2006/main" prst="line">
            <a:avLst/>
          </a:prstGeom>
          <a:noFill xmlns:a="http://schemas.openxmlformats.org/drawingml/2006/main"/>
          <a:ln xmlns:a="http://schemas.openxmlformats.org/drawingml/2006/main" w="38100">
            <a:solidFill>
              <a:srgbClr val="FF7A18"/>
            </a:solidFill>
          </a:ln>
        </p:spPr>
      </p:sp>
      <p:sp>
        <p:nvSpPr>
          <p:cNvPr id="21" name="">
            <a:extLst xmlns:a="http://schemas.openxmlformats.org/drawingml/2006/main">
              <a:ext uri="{FF2B5EF4-FFF2-40B4-BE49-F238E27FC236}">
                <a16:creationId xmlns:a16="http://schemas.microsoft.com/office/drawing/2014/main" id="{956E9A1F-8703-4EE1-9B93-CF0556FD43B2}"/>
              </a:ext>
            </a:extLst>
          </p:cNvPr>
          <p:cNvSpPr>
            <a:spLocks xmlns:a="http://schemas.openxmlformats.org/drawingml/2006/main" noGrp="1"/>
          </p:cNvSpPr>
          <p:nvPr/>
        </p:nvSpPr>
        <p:spPr>
          <a:xfrm xmlns:a="http://schemas.openxmlformats.org/drawingml/2006/main">
            <a:off x="6343650" y="4029075"/>
            <a:ext cx="2133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Assess a connected inbox and warn before the user replies or clicks.</a:t>
            </a:r>
          </a:p>
        </p:txBody>
      </p:sp>
      <p:sp>
        <p:nvSpPr>
          <p:cNvPr id="22" name="">
            <a:extLst xmlns:a="http://schemas.openxmlformats.org/drawingml/2006/main">
              <a:ext uri="{FF2B5EF4-FFF2-40B4-BE49-F238E27FC236}">
                <a16:creationId xmlns:a16="http://schemas.microsoft.com/office/drawing/2014/main" id="{EAA97409-7FB2-412A-AB95-959BFED43232}"/>
              </a:ext>
            </a:extLst>
          </p:cNvPr>
          <p:cNvSpPr>
            <a:spLocks xmlns:a="http://schemas.openxmlformats.org/drawingml/2006/main" noGrp="1"/>
          </p:cNvSpPr>
          <p:nvPr/>
        </p:nvSpPr>
        <p:spPr>
          <a:xfrm xmlns:a="http://schemas.openxmlformats.org/drawingml/2006/main">
            <a:off x="8953500" y="2343150"/>
            <a:ext cx="2533650" cy="2800350"/>
          </a:xfrm>
          <a:prstGeom xmlns:a="http://schemas.openxmlformats.org/drawingml/2006/main" prst="roundRect">
            <a:avLst>
              <a:gd name="adj" fmla="val 3008"/>
            </a:avLst>
          </a:prstGeom>
          <a:solidFill xmlns:a="http://schemas.openxmlformats.org/drawingml/2006/main">
            <a:srgbClr val="FFF4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9EA9694-AF7A-4369-B6A1-73C3EB1C302E}"/>
              </a:ext>
            </a:extLst>
          </p:cNvPr>
          <p:cNvSpPr>
            <a:spLocks xmlns:a="http://schemas.openxmlformats.org/drawingml/2006/main" noGrp="1"/>
          </p:cNvSpPr>
          <p:nvPr/>
        </p:nvSpPr>
        <p:spPr>
          <a:xfrm xmlns:a="http://schemas.openxmlformats.org/drawingml/2006/main">
            <a:off x="9144000" y="254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D22B7"/>
                </a:solidFill>
                <a:latin typeface="Arial"/>
                <a:ea typeface="Arial"/>
                <a:cs typeface="Arial"/>
              </a:defRPr>
            </a:pPr>
            <a:r>
              <a:rPr sz="975" b="1">
                <a:solidFill>
                  <a:srgbClr val="6D22B7"/>
                </a:solidFill>
                <a:latin typeface="Arial"/>
                <a:ea typeface="Arial"/>
                <a:cs typeface="Arial"/>
              </a:rPr>
              <a:t>APPS</a:t>
            </a:r>
          </a:p>
        </p:txBody>
      </p:sp>
      <p:sp>
        <p:nvSpPr>
          <p:cNvPr id="24" name="">
            <a:extLst xmlns:a="http://schemas.openxmlformats.org/drawingml/2006/main">
              <a:ext uri="{FF2B5EF4-FFF2-40B4-BE49-F238E27FC236}">
                <a16:creationId xmlns:a16="http://schemas.microsoft.com/office/drawing/2014/main" id="{BB8C86C3-2A4C-47E6-A31D-ABDA23F5D442}"/>
              </a:ext>
            </a:extLst>
          </p:cNvPr>
          <p:cNvSpPr>
            <a:spLocks xmlns:a="http://schemas.openxmlformats.org/drawingml/2006/main" noGrp="1"/>
          </p:cNvSpPr>
          <p:nvPr/>
        </p:nvSpPr>
        <p:spPr>
          <a:xfrm xmlns:a="http://schemas.openxmlformats.org/drawingml/2006/main">
            <a:off x="9144000" y="3038475"/>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241539"/>
                </a:solidFill>
                <a:latin typeface="Arial"/>
                <a:ea typeface="Arial"/>
                <a:cs typeface="Arial"/>
              </a:defRPr>
            </a:pPr>
            <a:r>
              <a:rPr sz="1725" b="1">
                <a:solidFill>
                  <a:srgbClr val="241539"/>
                </a:solidFill>
                <a:latin typeface="Arial"/>
                <a:ea typeface="Arial"/>
                <a:cs typeface="Arial"/>
              </a:rPr>
              <a:t>Risk notification</a:t>
            </a:r>
          </a:p>
        </p:txBody>
      </p:sp>
      <p:sp>
        <p:nvSpPr>
          <p:cNvPr id="25" name="">
            <a:extLst xmlns:a="http://schemas.openxmlformats.org/drawingml/2006/main">
              <a:ext uri="{FF2B5EF4-FFF2-40B4-BE49-F238E27FC236}">
                <a16:creationId xmlns:a16="http://schemas.microsoft.com/office/drawing/2014/main" id="{A7F8811B-0DDF-478C-A3A6-4E401D4FBEE9}"/>
              </a:ext>
            </a:extLst>
          </p:cNvPr>
          <p:cNvSpPr>
            <a:spLocks xmlns:a="http://schemas.openxmlformats.org/drawingml/2006/main" noGrp="1"/>
          </p:cNvSpPr>
          <p:nvPr/>
        </p:nvSpPr>
        <p:spPr>
          <a:xfrm xmlns:a="http://schemas.openxmlformats.org/drawingml/2006/main">
            <a:off x="9144000" y="3771900"/>
            <a:ext cx="685800" cy="0"/>
          </a:xfrm>
          <a:prstGeom xmlns:a="http://schemas.openxmlformats.org/drawingml/2006/main" prst="line">
            <a:avLst/>
          </a:prstGeom>
          <a:noFill xmlns:a="http://schemas.openxmlformats.org/drawingml/2006/main"/>
          <a:ln xmlns:a="http://schemas.openxmlformats.org/drawingml/2006/main" w="38100">
            <a:solidFill>
              <a:srgbClr val="FF7A18"/>
            </a:solidFill>
          </a:ln>
        </p:spPr>
      </p:sp>
      <p:sp>
        <p:nvSpPr>
          <p:cNvPr id="26" name="">
            <a:extLst xmlns:a="http://schemas.openxmlformats.org/drawingml/2006/main">
              <a:ext uri="{FF2B5EF4-FFF2-40B4-BE49-F238E27FC236}">
                <a16:creationId xmlns:a16="http://schemas.microsoft.com/office/drawing/2014/main" id="{0D261640-1BE5-4FD5-B80B-1392503D7905}"/>
              </a:ext>
            </a:extLst>
          </p:cNvPr>
          <p:cNvSpPr>
            <a:spLocks xmlns:a="http://schemas.openxmlformats.org/drawingml/2006/main" noGrp="1"/>
          </p:cNvSpPr>
          <p:nvPr/>
        </p:nvSpPr>
        <p:spPr>
          <a:xfrm xmlns:a="http://schemas.openxmlformats.org/drawingml/2006/main">
            <a:off x="9144000" y="4029075"/>
            <a:ext cx="2133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Use supported notification data or a share action to assess the content.</a:t>
            </a:r>
          </a:p>
        </p:txBody>
      </p:sp>
      <p:sp>
        <p:nvSpPr>
          <p:cNvPr id="27" name="">
            <a:extLst xmlns:a="http://schemas.openxmlformats.org/drawingml/2006/main">
              <a:ext uri="{FF2B5EF4-FFF2-40B4-BE49-F238E27FC236}">
                <a16:creationId xmlns:a16="http://schemas.microsoft.com/office/drawing/2014/main" id="{F21B3239-0C9F-4248-A9C1-599EFE1CEE7A}"/>
              </a:ext>
            </a:extLst>
          </p:cNvPr>
          <p:cNvSpPr>
            <a:spLocks xmlns:a="http://schemas.openxmlformats.org/drawingml/2006/main" noGrp="1"/>
          </p:cNvSpPr>
          <p:nvPr/>
        </p:nvSpPr>
        <p:spPr>
          <a:xfrm xmlns:a="http://schemas.openxmlformats.org/drawingml/2006/main">
            <a:off x="552450" y="561022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756780"/>
                </a:solidFill>
                <a:latin typeface="Arial"/>
                <a:ea typeface="Arial"/>
                <a:cs typeface="Arial"/>
              </a:defRPr>
            </a:pPr>
            <a:r>
              <a:rPr sz="975" b="0">
                <a:solidFill>
                  <a:srgbClr val="756780"/>
                </a:solidFill>
                <a:latin typeface="Arial"/>
                <a:ea typeface="Arial"/>
                <a:cs typeface="Arial"/>
              </a:rPr>
              <a:t>Every surface requires explicit permission. Coverage depends on operating-system and platform capabilities.</a:t>
            </a:r>
          </a:p>
        </p:txBody>
      </p:sp>
      <p:sp>
        <p:nvSpPr>
          <p:cNvPr id="28" name="">
            <a:extLst xmlns:a="http://schemas.openxmlformats.org/drawingml/2006/main">
              <a:ext uri="{FF2B5EF4-FFF2-40B4-BE49-F238E27FC236}">
                <a16:creationId xmlns:a16="http://schemas.microsoft.com/office/drawing/2014/main" id="{789EFFF6-6190-43E6-9BA9-E9C164F7660E}"/>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29" name="">
            <a:extLst xmlns:a="http://schemas.openxmlformats.org/drawingml/2006/main">
              <a:ext uri="{FF2B5EF4-FFF2-40B4-BE49-F238E27FC236}">
                <a16:creationId xmlns:a16="http://schemas.microsoft.com/office/drawing/2014/main" id="{31ED0010-976E-4D7B-9A0F-53F18ECEB0D9}"/>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9A8DA5"/>
                </a:solidFill>
                <a:latin typeface="Arial"/>
                <a:ea typeface="Arial"/>
                <a:cs typeface="Arial"/>
              </a:defRPr>
            </a:pPr>
            <a:r>
              <a:rPr sz="750" b="0">
                <a:solidFill>
                  <a:srgbClr val="9A8DA5"/>
                </a:solidFill>
                <a:latin typeface="Arial"/>
                <a:ea typeface="Arial"/>
                <a:cs typeface="Arial"/>
              </a:rPr>
              <a:t>Guard - Ghana-first fraud prevention</a:t>
            </a:r>
          </a:p>
        </p:txBody>
      </p:sp>
      <p:sp>
        <p:nvSpPr>
          <p:cNvPr id="30" name="">
            <a:extLst xmlns:a="http://schemas.openxmlformats.org/drawingml/2006/main">
              <a:ext uri="{FF2B5EF4-FFF2-40B4-BE49-F238E27FC236}">
                <a16:creationId xmlns:a16="http://schemas.microsoft.com/office/drawing/2014/main" id="{CADA3373-6156-49DF-BD41-9E23B77284F6}"/>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D22B7"/>
                </a:solidFill>
                <a:latin typeface="Arial"/>
                <a:ea typeface="Arial"/>
                <a:cs typeface="Arial"/>
              </a:defRPr>
            </a:pPr>
            <a:r>
              <a:rPr sz="825" b="1">
                <a:solidFill>
                  <a:srgbClr val="6D22B7"/>
                </a:solidFill>
                <a:latin typeface="Arial"/>
                <a:ea typeface="Arial"/>
                <a:cs typeface="Arial"/>
              </a:rPr>
              <a:t>05</a:t>
            </a:r>
          </a:p>
        </p:txBody>
      </p:sp>
    </p:spTree>
    <p:extLst>
      <p:ext uri="{BB962C8B-B14F-4D97-AF65-F5344CB8AC3E}">
        <p14:creationId xmlns:p14="http://schemas.microsoft.com/office/powerpoint/2010/main" val="250012186"/>
      </p:ext>
    </p:extLst>
  </p:cSld>
</p:sld>
</file>

<file path=ppt/slides/slide6.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771FE7-49A1-47CE-B0B2-C63815B3A9C6}"/>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80A2E"/>
                </a:solidFill>
                <a:latin typeface="Arial"/>
                <a:ea typeface="Arial"/>
                <a:cs typeface="Arial"/>
              </a:defRPr>
            </a:pPr>
            <a:r>
              <a:rPr sz="1875" b="1">
                <a:solidFill>
                  <a:srgbClr val="180A2E"/>
                </a:solidFill>
                <a:latin typeface="Arial"/>
                <a:ea typeface="Arial"/>
                <a:cs typeface="Arial"/>
              </a:rPr>
              <a:t>Guard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651392d47114fd5"/>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AEE7C60-D280-475A-AD1A-4A01CED5C20E}"/>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B0FF6A-7A95-4D45-BBD3-1556A0542E26}"/>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9828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07D8523-1465-45D1-9561-1EA3B099C74E}"/>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D22B7"/>
                </a:solidFill>
                <a:latin typeface="Arial"/>
                <a:ea typeface="Arial"/>
                <a:cs typeface="Arial"/>
              </a:defRPr>
            </a:pPr>
            <a:r>
              <a:rPr sz="1050" b="1">
                <a:solidFill>
                  <a:srgbClr val="6D22B7"/>
                </a:solidFill>
                <a:latin typeface="Arial"/>
                <a:ea typeface="Arial"/>
                <a:cs typeface="Arial"/>
              </a:rPr>
              <a:t>POSITIONING</a:t>
            </a:r>
          </a:p>
        </p:txBody>
      </p:sp>
      <p:sp>
        <p:nvSpPr>
          <p:cNvPr id="6" name="">
            <a:extLst xmlns:a="http://schemas.openxmlformats.org/drawingml/2006/main">
              <a:ext uri="{FF2B5EF4-FFF2-40B4-BE49-F238E27FC236}">
                <a16:creationId xmlns:a16="http://schemas.microsoft.com/office/drawing/2014/main" id="{DB65F09F-5698-4ABB-B9FD-5BEAF804DACC}"/>
              </a:ext>
            </a:extLst>
          </p:cNvPr>
          <p:cNvSpPr>
            <a:spLocks xmlns:a="http://schemas.openxmlformats.org/drawingml/2006/main" noGrp="1"/>
          </p:cNvSpPr>
          <p:nvPr/>
        </p:nvSpPr>
        <p:spPr>
          <a:xfrm xmlns:a="http://schemas.openxmlformats.org/drawingml/2006/main">
            <a:off x="514350" y="12858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925" b="1">
                <a:solidFill>
                  <a:srgbClr val="241539"/>
                </a:solidFill>
                <a:latin typeface="Arial"/>
                <a:ea typeface="Arial"/>
                <a:cs typeface="Arial"/>
              </a:defRPr>
            </a:pPr>
            <a:r>
              <a:rPr sz="2925" b="1">
                <a:solidFill>
                  <a:srgbClr val="241539"/>
                </a:solidFill>
                <a:latin typeface="Arial"/>
                <a:ea typeface="Arial"/>
                <a:cs typeface="Arial"/>
              </a:rPr>
              <a:t>Guard protects across channels and explains the risk</a:t>
            </a:r>
          </a:p>
        </p:txBody>
      </p:sp>
      <p:graphicFrame>
        <p:nvGraphicFramePr>
          <p:cNvPr id="18" name=""/>
          <p:cNvGraphicFramePr/>
          <p:nvPr/>
        </p:nvGraphicFramePr>
        <p:xfrm>
          <a:off xmlns:a="http://schemas.openxmlformats.org/drawingml/2006/main" x="552450" y="2362200"/>
          <a:ext xmlns:a="http://schemas.openxmlformats.org/drawingml/2006/main" cx="11125200" cy="2857500"/>
        </p:xfrm>
        <a:graphic xmlns:a="http://schemas.openxmlformats.org/drawingml/2006/main">
          <a:graphicData uri="http://schemas.openxmlformats.org/drawingml/2006/table">
            <a:tbl>
              <a:tblPr/>
              <a:tblGrid>
                <a:gridCol w="2857500"/>
                <a:gridCol w="1905000"/>
                <a:gridCol w="2095500"/>
                <a:gridCol w="2000250"/>
                <a:gridCol w="2266950"/>
              </a:tblGrid>
              <a:tr h="476250">
                <a:tc>
                  <a:txBody>
                    <a:bodyPr/>
                    <a:lstStyle/>
                    <a:p>
                      <a:pPr algn="l"/>
                      <a:r>
                        <a:rPr sz="1050" b="1">
                          <a:solidFill>
                            <a:srgbClr val="FFFFFF"/>
                          </a:solidFill>
                          <a:latin typeface="Arial"/>
                          <a:ea typeface="Arial"/>
                          <a:cs typeface="Arial"/>
                        </a:rPr>
                        <a:t>Approach</a:t>
                      </a:r>
                    </a:p>
                  </a:txBody>
                  <a:tcPr marL="91440" marR="91440" marT="45720" marB="45720" anchor="ctr">
                    <a:solidFill>
                      <a:srgbClr val="180A2E"/>
                    </a:solidFill>
                  </a:tcPr>
                </a:tc>
                <a:tc>
                  <a:txBody>
                    <a:bodyPr/>
                    <a:lstStyle/>
                    <a:p>
                      <a:pPr algn="ctr"/>
                      <a:r>
                        <a:rPr sz="1050" b="1">
                          <a:solidFill>
                            <a:srgbClr val="FFFFFF"/>
                          </a:solidFill>
                          <a:latin typeface="Arial"/>
                          <a:ea typeface="Arial"/>
                          <a:cs typeface="Arial"/>
                        </a:rPr>
                        <a:t>Calls + SMS</a:t>
                      </a:r>
                    </a:p>
                  </a:txBody>
                  <a:tcPr marL="91440" marR="91440" marT="45720" marB="45720" anchor="ctr">
                    <a:solidFill>
                      <a:srgbClr val="180A2E"/>
                    </a:solidFill>
                  </a:tcPr>
                </a:tc>
                <a:tc>
                  <a:txBody>
                    <a:bodyPr/>
                    <a:lstStyle/>
                    <a:p>
                      <a:pPr algn="ctr"/>
                      <a:r>
                        <a:rPr sz="1050" b="1">
                          <a:solidFill>
                            <a:srgbClr val="FFFFFF"/>
                          </a:solidFill>
                          <a:latin typeface="Arial"/>
                          <a:ea typeface="Arial"/>
                          <a:cs typeface="Arial"/>
                        </a:rPr>
                        <a:t>Email + links</a:t>
                      </a:r>
                    </a:p>
                  </a:txBody>
                  <a:tcPr marL="91440" marR="91440" marT="45720" marB="45720" anchor="ctr">
                    <a:solidFill>
                      <a:srgbClr val="180A2E"/>
                    </a:solidFill>
                  </a:tcPr>
                </a:tc>
                <a:tc>
                  <a:txBody>
                    <a:bodyPr/>
                    <a:lstStyle/>
                    <a:p>
                      <a:pPr algn="ctr"/>
                      <a:r>
                        <a:rPr sz="1050" b="1">
                          <a:solidFill>
                            <a:srgbClr val="FFFFFF"/>
                          </a:solidFill>
                          <a:latin typeface="Arial"/>
                          <a:ea typeface="Arial"/>
                          <a:cs typeface="Arial"/>
                        </a:rPr>
                        <a:t>App signals</a:t>
                      </a:r>
                    </a:p>
                  </a:txBody>
                  <a:tcPr marL="91440" marR="91440" marT="45720" marB="45720" anchor="ctr">
                    <a:solidFill>
                      <a:srgbClr val="180A2E"/>
                    </a:solidFill>
                  </a:tcPr>
                </a:tc>
                <a:tc>
                  <a:txBody>
                    <a:bodyPr/>
                    <a:lstStyle/>
                    <a:p>
                      <a:pPr algn="ctr"/>
                      <a:r>
                        <a:rPr sz="1050" b="1">
                          <a:solidFill>
                            <a:srgbClr val="FFFFFF"/>
                          </a:solidFill>
                          <a:latin typeface="Arial"/>
                          <a:ea typeface="Arial"/>
                          <a:cs typeface="Arial"/>
                        </a:rPr>
                        <a:t>Explains risk</a:t>
                      </a:r>
                    </a:p>
                  </a:txBody>
                  <a:tcPr marL="91440" marR="91440" marT="45720" marB="45720" anchor="ctr">
                    <a:solidFill>
                      <a:srgbClr val="180A2E"/>
                    </a:solidFill>
                  </a:tcPr>
                </a:tc>
              </a:tr>
              <a:tr h="476250">
                <a:tc>
                  <a:txBody>
                    <a:bodyPr/>
                    <a:lstStyle/>
                    <a:p>
                      <a:pPr algn="l"/>
                      <a:r>
                        <a:rPr sz="975" b="1">
                          <a:solidFill>
                            <a:srgbClr val="241539"/>
                          </a:solidFill>
                          <a:latin typeface="Arial"/>
                          <a:ea typeface="Arial"/>
                          <a:cs typeface="Arial"/>
                        </a:rPr>
                        <a:t>Guard</a:t>
                      </a:r>
                    </a:p>
                  </a:txBody>
                  <a:tcPr marL="91440" marR="91440" marT="45720" marB="45720" anchor="ctr">
                    <a:solidFill>
                      <a:srgbClr val="F0E9FF"/>
                    </a:solidFill>
                  </a:tcPr>
                </a:tc>
                <a:tc>
                  <a:txBody>
                    <a:bodyPr/>
                    <a:lstStyle/>
                    <a:p>
                      <a:pPr algn="ctr"/>
                      <a:r>
                        <a:rPr sz="975" b="1">
                          <a:solidFill>
                            <a:srgbClr val="6D22B7"/>
                          </a:solidFill>
                          <a:latin typeface="Arial"/>
                          <a:ea typeface="Arial"/>
                          <a:cs typeface="Arial"/>
                        </a:rPr>
                        <a:t>Yes</a:t>
                      </a:r>
                    </a:p>
                  </a:txBody>
                  <a:tcPr marL="91440" marR="91440" marT="45720" marB="45720" anchor="ctr">
                    <a:solidFill>
                      <a:srgbClr val="F0E9FF"/>
                    </a:solidFill>
                  </a:tcPr>
                </a:tc>
                <a:tc>
                  <a:txBody>
                    <a:bodyPr/>
                    <a:lstStyle/>
                    <a:p>
                      <a:pPr algn="ctr"/>
                      <a:r>
                        <a:rPr sz="975" b="1">
                          <a:solidFill>
                            <a:srgbClr val="6D22B7"/>
                          </a:solidFill>
                          <a:latin typeface="Arial"/>
                          <a:ea typeface="Arial"/>
                          <a:cs typeface="Arial"/>
                        </a:rPr>
                        <a:t>Yes</a:t>
                      </a:r>
                    </a:p>
                  </a:txBody>
                  <a:tcPr marL="91440" marR="91440" marT="45720" marB="45720" anchor="ctr">
                    <a:solidFill>
                      <a:srgbClr val="F0E9FF"/>
                    </a:solidFill>
                  </a:tcPr>
                </a:tc>
                <a:tc>
                  <a:txBody>
                    <a:bodyPr/>
                    <a:lstStyle/>
                    <a:p>
                      <a:pPr algn="ctr"/>
                      <a:r>
                        <a:rPr sz="975" b="1">
                          <a:solidFill>
                            <a:srgbClr val="756780"/>
                          </a:solidFill>
                          <a:latin typeface="Arial"/>
                          <a:ea typeface="Arial"/>
                          <a:cs typeface="Arial"/>
                        </a:rPr>
                        <a:t>Supported</a:t>
                      </a:r>
                    </a:p>
                  </a:txBody>
                  <a:tcPr marL="91440" marR="91440" marT="45720" marB="45720" anchor="ctr">
                    <a:solidFill>
                      <a:srgbClr val="F0E9FF"/>
                    </a:solidFill>
                  </a:tcPr>
                </a:tc>
                <a:tc>
                  <a:txBody>
                    <a:bodyPr/>
                    <a:lstStyle/>
                    <a:p>
                      <a:pPr algn="ctr"/>
                      <a:r>
                        <a:rPr sz="975" b="1">
                          <a:solidFill>
                            <a:srgbClr val="6D22B7"/>
                          </a:solidFill>
                          <a:latin typeface="Arial"/>
                          <a:ea typeface="Arial"/>
                          <a:cs typeface="Arial"/>
                        </a:rPr>
                        <a:t>Yes</a:t>
                      </a:r>
                    </a:p>
                  </a:txBody>
                  <a:tcPr marL="91440" marR="91440" marT="45720" marB="45720" anchor="ctr">
                    <a:solidFill>
                      <a:srgbClr val="F0E9FF"/>
                    </a:solidFill>
                  </a:tcPr>
                </a:tc>
              </a:tr>
              <a:tr h="476250">
                <a:tc>
                  <a:txBody>
                    <a:bodyPr/>
                    <a:lstStyle/>
                    <a:p>
                      <a:pPr algn="l"/>
                      <a:r>
                        <a:rPr sz="975" b="0">
                          <a:solidFill>
                            <a:srgbClr val="241539"/>
                          </a:solidFill>
                          <a:latin typeface="Arial"/>
                          <a:ea typeface="Arial"/>
                          <a:cs typeface="Arial"/>
                        </a:rPr>
                        <a:t>Caller ID app</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Strong</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No</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No</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Limited</a:t>
                      </a:r>
                    </a:p>
                  </a:txBody>
                  <a:tcPr marL="91440" marR="91440" marT="45720" marB="45720" anchor="ctr">
                    <a:solidFill>
                      <a:srgbClr val="FFFFFF"/>
                    </a:solidFill>
                  </a:tcPr>
                </a:tc>
              </a:tr>
              <a:tr h="476250">
                <a:tc>
                  <a:txBody>
                    <a:bodyPr/>
                    <a:lstStyle/>
                    <a:p>
                      <a:pPr algn="l"/>
                      <a:r>
                        <a:rPr sz="975" b="0">
                          <a:solidFill>
                            <a:srgbClr val="241539"/>
                          </a:solidFill>
                          <a:latin typeface="Arial"/>
                          <a:ea typeface="Arial"/>
                          <a:cs typeface="Arial"/>
                        </a:rPr>
                        <a:t>Email spam filter</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No</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Strong</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No</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Limited</a:t>
                      </a:r>
                    </a:p>
                  </a:txBody>
                  <a:tcPr marL="91440" marR="91440" marT="45720" marB="45720" anchor="ctr">
                    <a:solidFill>
                      <a:srgbClr val="FFFFFF"/>
                    </a:solidFill>
                  </a:tcPr>
                </a:tc>
              </a:tr>
              <a:tr h="476250">
                <a:tc>
                  <a:txBody>
                    <a:bodyPr/>
                    <a:lstStyle/>
                    <a:p>
                      <a:pPr algn="l"/>
                      <a:r>
                        <a:rPr sz="975" b="0">
                          <a:solidFill>
                            <a:srgbClr val="241539"/>
                          </a:solidFill>
                          <a:latin typeface="Arial"/>
                          <a:ea typeface="Arial"/>
                          <a:cs typeface="Arial"/>
                        </a:rPr>
                        <a:t>General AI assistant</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Manual</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Manual</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Manual</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Partial</a:t>
                      </a:r>
                    </a:p>
                  </a:txBody>
                  <a:tcPr marL="91440" marR="91440" marT="45720" marB="45720" anchor="ctr">
                    <a:solidFill>
                      <a:srgbClr val="FFFFFF"/>
                    </a:solidFill>
                  </a:tcPr>
                </a:tc>
              </a:tr>
              <a:tr h="476250">
                <a:tc>
                  <a:txBody>
                    <a:bodyPr/>
                    <a:lstStyle/>
                    <a:p>
                      <a:pPr algn="l"/>
                      <a:r>
                        <a:rPr sz="975" b="0">
                          <a:solidFill>
                            <a:srgbClr val="241539"/>
                          </a:solidFill>
                          <a:latin typeface="Arial"/>
                          <a:ea typeface="Arial"/>
                          <a:cs typeface="Arial"/>
                        </a:rPr>
                        <a:t>Enterprise fraud platform</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Varies</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Varies</a:t>
                      </a:r>
                    </a:p>
                  </a:txBody>
                  <a:tcPr marL="91440" marR="91440" marT="45720" marB="45720" anchor="ctr">
                    <a:solidFill>
                      <a:srgbClr val="FFFFFF"/>
                    </a:solidFill>
                  </a:tcPr>
                </a:tc>
                <a:tc>
                  <a:txBody>
                    <a:bodyPr/>
                    <a:lstStyle/>
                    <a:p>
                      <a:pPr algn="ctr"/>
                      <a:r>
                        <a:rPr sz="975" b="0">
                          <a:solidFill>
                            <a:srgbClr val="756780"/>
                          </a:solidFill>
                          <a:latin typeface="Arial"/>
                          <a:ea typeface="Arial"/>
                          <a:cs typeface="Arial"/>
                        </a:rPr>
                        <a:t>Varies</a:t>
                      </a:r>
                    </a:p>
                  </a:txBody>
                  <a:tcPr marL="91440" marR="91440" marT="45720" marB="45720" anchor="ctr">
                    <a:solidFill>
                      <a:srgbClr val="FFFFFF"/>
                    </a:solidFill>
                  </a:tcPr>
                </a:tc>
                <a:tc>
                  <a:txBody>
                    <a:bodyPr/>
                    <a:lstStyle/>
                    <a:p>
                      <a:pPr algn="ctr"/>
                      <a:r>
                        <a:rPr sz="975" b="0">
                          <a:solidFill>
                            <a:srgbClr val="6D22B7"/>
                          </a:solidFill>
                          <a:latin typeface="Arial"/>
                          <a:ea typeface="Arial"/>
                          <a:cs typeface="Arial"/>
                        </a:rPr>
                        <a:t>Yes</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78FBAF47-67CF-48AB-A296-5EAC65EDA32B}"/>
              </a:ext>
            </a:extLst>
          </p:cNvPr>
          <p:cNvSpPr>
            <a:spLocks xmlns:a="http://schemas.openxmlformats.org/drawingml/2006/main" noGrp="1"/>
          </p:cNvSpPr>
          <p:nvPr/>
        </p:nvSpPr>
        <p:spPr>
          <a:xfrm xmlns:a="http://schemas.openxmlformats.org/drawingml/2006/main">
            <a:off x="552450" y="55721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756780"/>
                </a:solidFill>
                <a:latin typeface="Arial"/>
                <a:ea typeface="Arial"/>
                <a:cs typeface="Arial"/>
              </a:defRPr>
            </a:pPr>
            <a:r>
              <a:rPr sz="975" b="0">
                <a:solidFill>
                  <a:srgbClr val="756780"/>
                </a:solidFill>
                <a:latin typeface="Arial"/>
                <a:ea typeface="Arial"/>
                <a:cs typeface="Arial"/>
              </a:rPr>
              <a:t>Positioning hypothesis for investor discussion. Named competitors and feature validation should follow pilot interviews.</a:t>
            </a:r>
          </a:p>
        </p:txBody>
      </p:sp>
      <p:sp>
        <p:nvSpPr>
          <p:cNvPr id="9" name="">
            <a:extLst xmlns:a="http://schemas.openxmlformats.org/drawingml/2006/main">
              <a:ext uri="{FF2B5EF4-FFF2-40B4-BE49-F238E27FC236}">
                <a16:creationId xmlns:a16="http://schemas.microsoft.com/office/drawing/2014/main" id="{7583591C-C482-4D30-AD0E-64AABAAAC5E4}"/>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10" name="">
            <a:extLst xmlns:a="http://schemas.openxmlformats.org/drawingml/2006/main">
              <a:ext uri="{FF2B5EF4-FFF2-40B4-BE49-F238E27FC236}">
                <a16:creationId xmlns:a16="http://schemas.microsoft.com/office/drawing/2014/main" id="{B098A709-5486-45C6-911C-CA2F7872EC11}"/>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9A8DA5"/>
                </a:solidFill>
                <a:latin typeface="Arial"/>
                <a:ea typeface="Arial"/>
                <a:cs typeface="Arial"/>
              </a:defRPr>
            </a:pPr>
            <a:r>
              <a:rPr sz="750" b="0">
                <a:solidFill>
                  <a:srgbClr val="9A8DA5"/>
                </a:solidFill>
                <a:latin typeface="Arial"/>
                <a:ea typeface="Arial"/>
                <a:cs typeface="Arial"/>
              </a:rPr>
              <a:t>Guard - Ghana-first fraud prevention</a:t>
            </a:r>
          </a:p>
        </p:txBody>
      </p:sp>
      <p:sp>
        <p:nvSpPr>
          <p:cNvPr id="11" name="">
            <a:extLst xmlns:a="http://schemas.openxmlformats.org/drawingml/2006/main">
              <a:ext uri="{FF2B5EF4-FFF2-40B4-BE49-F238E27FC236}">
                <a16:creationId xmlns:a16="http://schemas.microsoft.com/office/drawing/2014/main" id="{BFAA520A-369C-480C-BBB3-B9BE681F4D59}"/>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D22B7"/>
                </a:solidFill>
                <a:latin typeface="Arial"/>
                <a:ea typeface="Arial"/>
                <a:cs typeface="Arial"/>
              </a:defRPr>
            </a:pPr>
            <a:r>
              <a:rPr sz="825" b="1">
                <a:solidFill>
                  <a:srgbClr val="6D22B7"/>
                </a:solidFill>
                <a:latin typeface="Arial"/>
                <a:ea typeface="Arial"/>
                <a:cs typeface="Arial"/>
              </a:rPr>
              <a:t>06</a:t>
            </a:r>
          </a:p>
        </p:txBody>
      </p:sp>
    </p:spTree>
    <p:extLst>
      <p:ext uri="{BB962C8B-B14F-4D97-AF65-F5344CB8AC3E}">
        <p14:creationId xmlns:p14="http://schemas.microsoft.com/office/powerpoint/2010/main" val="241960180"/>
      </p:ext>
    </p:extLst>
  </p:cSld>
</p:sld>
</file>

<file path=ppt/slides/slide7.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CF8C253-5C3E-4AB9-A7C5-13BE43D1CAC0}"/>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80A2E"/>
                </a:solidFill>
                <a:latin typeface="Arial"/>
                <a:ea typeface="Arial"/>
                <a:cs typeface="Arial"/>
              </a:defRPr>
            </a:pPr>
            <a:r>
              <a:rPr sz="1875" b="1">
                <a:solidFill>
                  <a:srgbClr val="180A2E"/>
                </a:solidFill>
                <a:latin typeface="Arial"/>
                <a:ea typeface="Arial"/>
                <a:cs typeface="Arial"/>
              </a:rPr>
              <a:t>Guard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64f85414abc4ed2"/>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A218A3-ACE3-40FF-B0A4-C30F5A1AF475}"/>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2E245C-6F74-47E4-B223-E2DEA2F4B240}"/>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9828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C08890-6677-4E67-9749-D5E932BFB747}"/>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D22B7"/>
                </a:solidFill>
                <a:latin typeface="Arial"/>
                <a:ea typeface="Arial"/>
                <a:cs typeface="Arial"/>
              </a:defRPr>
            </a:pPr>
            <a:r>
              <a:rPr sz="1050" b="1">
                <a:solidFill>
                  <a:srgbClr val="6D22B7"/>
                </a:solidFill>
                <a:latin typeface="Arial"/>
                <a:ea typeface="Arial"/>
                <a:cs typeface="Arial"/>
              </a:rPr>
              <a:t>MARKET</a:t>
            </a:r>
          </a:p>
        </p:txBody>
      </p:sp>
      <p:sp>
        <p:nvSpPr>
          <p:cNvPr id="6" name="">
            <a:extLst xmlns:a="http://schemas.openxmlformats.org/drawingml/2006/main">
              <a:ext uri="{FF2B5EF4-FFF2-40B4-BE49-F238E27FC236}">
                <a16:creationId xmlns:a16="http://schemas.microsoft.com/office/drawing/2014/main" id="{085DC785-0D99-4C6F-9894-1D172DFDCABA}"/>
              </a:ext>
            </a:extLst>
          </p:cNvPr>
          <p:cNvSpPr>
            <a:spLocks xmlns:a="http://schemas.openxmlformats.org/drawingml/2006/main" noGrp="1"/>
          </p:cNvSpPr>
          <p:nvPr/>
        </p:nvSpPr>
        <p:spPr>
          <a:xfrm xmlns:a="http://schemas.openxmlformats.org/drawingml/2006/main">
            <a:off x="514350" y="1285875"/>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a:solidFill>
                  <a:srgbClr val="241539"/>
                </a:solidFill>
                <a:latin typeface="Arial"/>
                <a:ea typeface="Arial"/>
                <a:cs typeface="Arial"/>
              </a:defRPr>
            </a:pPr>
            <a:r>
              <a:rPr sz="3225" b="1">
                <a:solidFill>
                  <a:srgbClr val="241539"/>
                </a:solidFill>
                <a:latin typeface="Arial"/>
                <a:ea typeface="Arial"/>
                <a:cs typeface="Arial"/>
              </a:rPr>
              <a:t>Ghana is a strong mobile launch market</a:t>
            </a:r>
          </a:p>
        </p:txBody>
      </p:sp>
      <p:sp>
        <p:nvSpPr>
          <p:cNvPr id="7" name="">
            <a:extLst xmlns:a="http://schemas.openxmlformats.org/drawingml/2006/main">
              <a:ext uri="{FF2B5EF4-FFF2-40B4-BE49-F238E27FC236}">
                <a16:creationId xmlns:a16="http://schemas.microsoft.com/office/drawing/2014/main" id="{21929912-C728-44E8-8479-7890D75CC67D}"/>
              </a:ext>
            </a:extLst>
          </p:cNvPr>
          <p:cNvSpPr>
            <a:spLocks xmlns:a="http://schemas.openxmlformats.org/drawingml/2006/main" noGrp="1"/>
          </p:cNvSpPr>
          <p:nvPr/>
        </p:nvSpPr>
        <p:spPr>
          <a:xfrm xmlns:a="http://schemas.openxmlformats.org/drawingml/2006/main">
            <a:off x="552450" y="2505075"/>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75" b="1">
                <a:solidFill>
                  <a:srgbClr val="6D22B7"/>
                </a:solidFill>
                <a:latin typeface="Arial"/>
                <a:ea typeface="Arial"/>
                <a:cs typeface="Arial"/>
              </a:defRPr>
            </a:pPr>
            <a:r>
              <a:rPr sz="4575" b="1">
                <a:solidFill>
                  <a:srgbClr val="6D22B7"/>
                </a:solidFill>
                <a:latin typeface="Arial"/>
                <a:ea typeface="Arial"/>
                <a:cs typeface="Arial"/>
              </a:rPr>
              <a:t>30.5m</a:t>
            </a:r>
          </a:p>
        </p:txBody>
      </p:sp>
      <p:sp>
        <p:nvSpPr>
          <p:cNvPr id="8" name="">
            <a:extLst xmlns:a="http://schemas.openxmlformats.org/drawingml/2006/main">
              <a:ext uri="{FF2B5EF4-FFF2-40B4-BE49-F238E27FC236}">
                <a16:creationId xmlns:a16="http://schemas.microsoft.com/office/drawing/2014/main" id="{6A968F9F-6936-487A-919F-036125845D08}"/>
              </a:ext>
            </a:extLst>
          </p:cNvPr>
          <p:cNvSpPr>
            <a:spLocks xmlns:a="http://schemas.openxmlformats.org/drawingml/2006/main" noGrp="1"/>
          </p:cNvSpPr>
          <p:nvPr/>
        </p:nvSpPr>
        <p:spPr>
          <a:xfrm xmlns:a="http://schemas.openxmlformats.org/drawingml/2006/main">
            <a:off x="571500" y="322897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756780"/>
                </a:solidFill>
                <a:latin typeface="Arial"/>
                <a:ea typeface="Arial"/>
                <a:cs typeface="Arial"/>
              </a:defRPr>
            </a:pPr>
            <a:r>
              <a:rPr sz="1275" b="0">
                <a:solidFill>
                  <a:srgbClr val="756780"/>
                </a:solidFill>
                <a:latin typeface="Arial"/>
                <a:ea typeface="Arial"/>
                <a:cs typeface="Arial"/>
              </a:rPr>
              <a:t>mobile data subscriptions</a:t>
            </a:r>
          </a:p>
          <a:p xmlns:a="http://schemas.openxmlformats.org/drawingml/2006/main">
            <a:pPr algn="l">
              <a:defRPr sz="1275" b="0">
                <a:solidFill>
                  <a:srgbClr val="756780"/>
                </a:solidFill>
                <a:latin typeface="Arial"/>
                <a:ea typeface="Arial"/>
                <a:cs typeface="Arial"/>
              </a:defRPr>
            </a:pPr>
            <a:r>
              <a:rPr sz="1275" b="0">
                <a:solidFill>
                  <a:srgbClr val="756780"/>
                </a:solidFill>
                <a:latin typeface="Arial"/>
                <a:ea typeface="Arial"/>
                <a:cs typeface="Arial"/>
              </a:rPr>
              <a:t>in June 2026</a:t>
            </a:r>
          </a:p>
        </p:txBody>
      </p:sp>
      <p:sp>
        <p:nvSpPr>
          <p:cNvPr id="9" name="">
            <a:extLst xmlns:a="http://schemas.openxmlformats.org/drawingml/2006/main">
              <a:ext uri="{FF2B5EF4-FFF2-40B4-BE49-F238E27FC236}">
                <a16:creationId xmlns:a16="http://schemas.microsoft.com/office/drawing/2014/main" id="{ED7F173C-D381-4172-9F7B-510270E92C88}"/>
              </a:ext>
            </a:extLst>
          </p:cNvPr>
          <p:cNvSpPr>
            <a:spLocks xmlns:a="http://schemas.openxmlformats.org/drawingml/2006/main" noGrp="1"/>
          </p:cNvSpPr>
          <p:nvPr/>
        </p:nvSpPr>
        <p:spPr>
          <a:xfrm xmlns:a="http://schemas.openxmlformats.org/drawingml/2006/main">
            <a:off x="3695700" y="3524250"/>
            <a:ext cx="2000250" cy="1695450"/>
          </a:xfrm>
          <a:prstGeom xmlns:a="http://schemas.openxmlformats.org/drawingml/2006/main" prst="roundRect">
            <a:avLst>
              <a:gd name="adj" fmla="val 4494"/>
            </a:avLst>
          </a:prstGeom>
          <a:solidFill xmlns:a="http://schemas.openxmlformats.org/drawingml/2006/main">
            <a:srgbClr val="180A2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71204E4-0CFD-40D3-9BF8-1A092D7B668E}"/>
              </a:ext>
            </a:extLst>
          </p:cNvPr>
          <p:cNvSpPr>
            <a:spLocks xmlns:a="http://schemas.openxmlformats.org/drawingml/2006/main" noGrp="1"/>
          </p:cNvSpPr>
          <p:nvPr/>
        </p:nvSpPr>
        <p:spPr>
          <a:xfrm xmlns:a="http://schemas.openxmlformats.org/drawingml/2006/main">
            <a:off x="3800475" y="3905250"/>
            <a:ext cx="1790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25" b="1">
                <a:solidFill>
                  <a:srgbClr val="FFFFFF"/>
                </a:solidFill>
                <a:latin typeface="Arial"/>
                <a:ea typeface="Arial"/>
                <a:cs typeface="Arial"/>
              </a:defRPr>
            </a:pPr>
            <a:r>
              <a:rPr sz="2625" b="1">
                <a:solidFill>
                  <a:srgbClr val="FFFFFF"/>
                </a:solidFill>
                <a:latin typeface="Arial"/>
                <a:ea typeface="Arial"/>
                <a:cs typeface="Arial"/>
              </a:rPr>
              <a:t>89.5%</a:t>
            </a:r>
          </a:p>
        </p:txBody>
      </p:sp>
      <p:sp>
        <p:nvSpPr>
          <p:cNvPr id="11" name="">
            <a:extLst xmlns:a="http://schemas.openxmlformats.org/drawingml/2006/main">
              <a:ext uri="{FF2B5EF4-FFF2-40B4-BE49-F238E27FC236}">
                <a16:creationId xmlns:a16="http://schemas.microsoft.com/office/drawing/2014/main" id="{309F0C3A-5827-4C12-9CB1-12FA01352777}"/>
              </a:ext>
            </a:extLst>
          </p:cNvPr>
          <p:cNvSpPr>
            <a:spLocks xmlns:a="http://schemas.openxmlformats.org/drawingml/2006/main" noGrp="1"/>
          </p:cNvSpPr>
          <p:nvPr/>
        </p:nvSpPr>
        <p:spPr>
          <a:xfrm xmlns:a="http://schemas.openxmlformats.org/drawingml/2006/main">
            <a:off x="3905250" y="4524375"/>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0">
                <a:solidFill>
                  <a:srgbClr val="CBBADD"/>
                </a:solidFill>
                <a:latin typeface="Arial"/>
                <a:ea typeface="Arial"/>
                <a:cs typeface="Arial"/>
              </a:defRPr>
            </a:pPr>
            <a:r>
              <a:rPr sz="1050" b="0">
                <a:solidFill>
                  <a:srgbClr val="CBBADD"/>
                </a:solidFill>
                <a:latin typeface="Arial"/>
                <a:ea typeface="Arial"/>
                <a:cs typeface="Arial"/>
              </a:rPr>
              <a:t>mobile data penetration</a:t>
            </a:r>
          </a:p>
        </p:txBody>
      </p:sp>
      <p:sp>
        <p:nvSpPr>
          <p:cNvPr id="12" name="">
            <a:extLst xmlns:a="http://schemas.openxmlformats.org/drawingml/2006/main">
              <a:ext uri="{FF2B5EF4-FFF2-40B4-BE49-F238E27FC236}">
                <a16:creationId xmlns:a16="http://schemas.microsoft.com/office/drawing/2014/main" id="{3CA044A4-6CF1-414D-8D4C-455D65F2352A}"/>
              </a:ext>
            </a:extLst>
          </p:cNvPr>
          <p:cNvSpPr>
            <a:spLocks xmlns:a="http://schemas.openxmlformats.org/drawingml/2006/main" noGrp="1"/>
          </p:cNvSpPr>
          <p:nvPr/>
        </p:nvSpPr>
        <p:spPr>
          <a:xfrm xmlns:a="http://schemas.openxmlformats.org/drawingml/2006/main">
            <a:off x="5924550" y="3028950"/>
            <a:ext cx="2000250" cy="2190750"/>
          </a:xfrm>
          <a:prstGeom xmlns:a="http://schemas.openxmlformats.org/drawingml/2006/main" prst="roundRect">
            <a:avLst>
              <a:gd name="adj" fmla="val 3810"/>
            </a:avLst>
          </a:prstGeom>
          <a:solidFill xmlns:a="http://schemas.openxmlformats.org/drawingml/2006/main">
            <a:srgbClr val="6D22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732B7E-EFB9-47DF-A473-2FD6F2B8932C}"/>
              </a:ext>
            </a:extLst>
          </p:cNvPr>
          <p:cNvSpPr>
            <a:spLocks xmlns:a="http://schemas.openxmlformats.org/drawingml/2006/main" noGrp="1"/>
          </p:cNvSpPr>
          <p:nvPr/>
        </p:nvSpPr>
        <p:spPr>
          <a:xfrm xmlns:a="http://schemas.openxmlformats.org/drawingml/2006/main">
            <a:off x="6124575" y="3476625"/>
            <a:ext cx="160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75" b="1">
                <a:solidFill>
                  <a:srgbClr val="FFFFFF"/>
                </a:solidFill>
                <a:latin typeface="Arial"/>
                <a:ea typeface="Arial"/>
                <a:cs typeface="Arial"/>
              </a:defRPr>
            </a:pPr>
            <a:r>
              <a:rPr sz="2775" b="1">
                <a:solidFill>
                  <a:srgbClr val="FFFFFF"/>
                </a:solidFill>
                <a:latin typeface="Arial"/>
                <a:ea typeface="Arial"/>
                <a:cs typeface="Arial"/>
              </a:rPr>
              <a:t>1,799</a:t>
            </a:r>
          </a:p>
        </p:txBody>
      </p:sp>
      <p:sp>
        <p:nvSpPr>
          <p:cNvPr id="14" name="">
            <a:extLst xmlns:a="http://schemas.openxmlformats.org/drawingml/2006/main">
              <a:ext uri="{FF2B5EF4-FFF2-40B4-BE49-F238E27FC236}">
                <a16:creationId xmlns:a16="http://schemas.microsoft.com/office/drawing/2014/main" id="{E8210352-22D4-4921-BD0D-69D12C657C09}"/>
              </a:ext>
            </a:extLst>
          </p:cNvPr>
          <p:cNvSpPr>
            <a:spLocks xmlns:a="http://schemas.openxmlformats.org/drawingml/2006/main" noGrp="1"/>
          </p:cNvSpPr>
          <p:nvPr/>
        </p:nvSpPr>
        <p:spPr>
          <a:xfrm xmlns:a="http://schemas.openxmlformats.org/drawingml/2006/main">
            <a:off x="6134100" y="4095750"/>
            <a:ext cx="1581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0">
                <a:solidFill>
                  <a:srgbClr val="E7D8F3"/>
                </a:solidFill>
                <a:latin typeface="Arial"/>
                <a:ea typeface="Arial"/>
                <a:cs typeface="Arial"/>
              </a:defRPr>
            </a:pPr>
            <a:r>
              <a:rPr sz="1050" b="0">
                <a:solidFill>
                  <a:srgbClr val="E7D8F3"/>
                </a:solidFill>
                <a:latin typeface="Arial"/>
                <a:ea typeface="Arial"/>
                <a:cs typeface="Arial"/>
              </a:rPr>
              <a:t>confirmed online fraud incidents in 2025</a:t>
            </a:r>
          </a:p>
        </p:txBody>
      </p:sp>
      <p:sp>
        <p:nvSpPr>
          <p:cNvPr id="15" name="">
            <a:extLst xmlns:a="http://schemas.openxmlformats.org/drawingml/2006/main">
              <a:ext uri="{FF2B5EF4-FFF2-40B4-BE49-F238E27FC236}">
                <a16:creationId xmlns:a16="http://schemas.microsoft.com/office/drawing/2014/main" id="{96A754E1-716F-4392-B7F9-AF73E912C8A1}"/>
              </a:ext>
            </a:extLst>
          </p:cNvPr>
          <p:cNvSpPr>
            <a:spLocks xmlns:a="http://schemas.openxmlformats.org/drawingml/2006/main" noGrp="1"/>
          </p:cNvSpPr>
          <p:nvPr/>
        </p:nvSpPr>
        <p:spPr>
          <a:xfrm xmlns:a="http://schemas.openxmlformats.org/drawingml/2006/main">
            <a:off x="8153400" y="2400300"/>
            <a:ext cx="2000250" cy="2819400"/>
          </a:xfrm>
          <a:prstGeom xmlns:a="http://schemas.openxmlformats.org/drawingml/2006/main" prst="roundRect">
            <a:avLst>
              <a:gd name="adj" fmla="val 3810"/>
            </a:avLst>
          </a:prstGeom>
          <a:solidFill xmlns:a="http://schemas.openxmlformats.org/drawingml/2006/main">
            <a:srgbClr val="FF7A1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D6D725-EED7-4564-8B30-5DF121724D60}"/>
              </a:ext>
            </a:extLst>
          </p:cNvPr>
          <p:cNvSpPr>
            <a:spLocks xmlns:a="http://schemas.openxmlformats.org/drawingml/2006/main" noGrp="1"/>
          </p:cNvSpPr>
          <p:nvPr/>
        </p:nvSpPr>
        <p:spPr>
          <a:xfrm xmlns:a="http://schemas.openxmlformats.org/drawingml/2006/main">
            <a:off x="8353425" y="3143250"/>
            <a:ext cx="1600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350" b="1">
                <a:solidFill>
                  <a:srgbClr val="241539"/>
                </a:solidFill>
                <a:latin typeface="Arial"/>
                <a:ea typeface="Arial"/>
                <a:cs typeface="Arial"/>
              </a:defRPr>
            </a:pPr>
            <a:r>
              <a:rPr sz="4350" b="1">
                <a:solidFill>
                  <a:srgbClr val="241539"/>
                </a:solidFill>
                <a:latin typeface="Arial"/>
                <a:ea typeface="Arial"/>
                <a:cs typeface="Arial"/>
              </a:rPr>
              <a:t>47%</a:t>
            </a:r>
          </a:p>
        </p:txBody>
      </p:sp>
      <p:sp>
        <p:nvSpPr>
          <p:cNvPr id="17" name="">
            <a:extLst xmlns:a="http://schemas.openxmlformats.org/drawingml/2006/main">
              <a:ext uri="{FF2B5EF4-FFF2-40B4-BE49-F238E27FC236}">
                <a16:creationId xmlns:a16="http://schemas.microsoft.com/office/drawing/2014/main" id="{AE304724-0365-469B-A7A7-A923C3C95E18}"/>
              </a:ext>
            </a:extLst>
          </p:cNvPr>
          <p:cNvSpPr>
            <a:spLocks xmlns:a="http://schemas.openxmlformats.org/drawingml/2006/main" noGrp="1"/>
          </p:cNvSpPr>
          <p:nvPr/>
        </p:nvSpPr>
        <p:spPr>
          <a:xfrm xmlns:a="http://schemas.openxmlformats.org/drawingml/2006/main">
            <a:off x="8362950" y="3962400"/>
            <a:ext cx="1581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0">
                <a:solidFill>
                  <a:srgbClr val="241539"/>
                </a:solidFill>
                <a:latin typeface="Arial"/>
                <a:ea typeface="Arial"/>
                <a:cs typeface="Arial"/>
              </a:defRPr>
            </a:pPr>
            <a:r>
              <a:rPr sz="1050" b="0">
                <a:solidFill>
                  <a:srgbClr val="241539"/>
                </a:solidFill>
                <a:latin typeface="Arial"/>
                <a:ea typeface="Arial"/>
                <a:cs typeface="Arial"/>
              </a:rPr>
              <a:t>share of reported incidents that were online fraud, Jan-Jul 2026</a:t>
            </a:r>
          </a:p>
        </p:txBody>
      </p:sp>
      <p:sp>
        <p:nvSpPr>
          <p:cNvPr id="18" name="">
            <a:extLst xmlns:a="http://schemas.openxmlformats.org/drawingml/2006/main">
              <a:ext uri="{FF2B5EF4-FFF2-40B4-BE49-F238E27FC236}">
                <a16:creationId xmlns:a16="http://schemas.microsoft.com/office/drawing/2014/main" id="{3B204D4A-BE0C-4636-BDBC-25C651367652}"/>
              </a:ext>
            </a:extLst>
          </p:cNvPr>
          <p:cNvSpPr>
            <a:spLocks xmlns:a="http://schemas.openxmlformats.org/drawingml/2006/main" noGrp="1"/>
          </p:cNvSpPr>
          <p:nvPr/>
        </p:nvSpPr>
        <p:spPr>
          <a:xfrm xmlns:a="http://schemas.openxmlformats.org/drawingml/2006/main">
            <a:off x="10420350" y="2543175"/>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FF7A18"/>
                </a:solidFill>
                <a:latin typeface="Arial"/>
                <a:ea typeface="Arial"/>
                <a:cs typeface="Arial"/>
              </a:defRPr>
            </a:pPr>
            <a:r>
              <a:rPr sz="900" b="1">
                <a:solidFill>
                  <a:srgbClr val="FF7A18"/>
                </a:solidFill>
                <a:latin typeface="Arial"/>
                <a:ea typeface="Arial"/>
                <a:cs typeface="Arial"/>
              </a:rPr>
              <a:t>ENTRY WEDGE</a:t>
            </a:r>
          </a:p>
        </p:txBody>
      </p:sp>
      <p:sp>
        <p:nvSpPr>
          <p:cNvPr id="19" name="">
            <a:extLst xmlns:a="http://schemas.openxmlformats.org/drawingml/2006/main">
              <a:ext uri="{FF2B5EF4-FFF2-40B4-BE49-F238E27FC236}">
                <a16:creationId xmlns:a16="http://schemas.microsoft.com/office/drawing/2014/main" id="{1FED2216-1289-4F1A-B48B-4E2E173D3485}"/>
              </a:ext>
            </a:extLst>
          </p:cNvPr>
          <p:cNvSpPr>
            <a:spLocks xmlns:a="http://schemas.openxmlformats.org/drawingml/2006/main" noGrp="1"/>
          </p:cNvSpPr>
          <p:nvPr/>
        </p:nvSpPr>
        <p:spPr>
          <a:xfrm xmlns:a="http://schemas.openxmlformats.org/drawingml/2006/main">
            <a:off x="10382250" y="2905125"/>
            <a:ext cx="1295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756780"/>
                </a:solidFill>
                <a:latin typeface="Arial"/>
                <a:ea typeface="Arial"/>
                <a:cs typeface="Arial"/>
              </a:defRPr>
            </a:pPr>
            <a:r>
              <a:rPr sz="1200" b="0">
                <a:solidFill>
                  <a:srgbClr val="756780"/>
                </a:solidFill>
                <a:latin typeface="Arial"/>
                <a:ea typeface="Arial"/>
                <a:cs typeface="Arial"/>
              </a:rPr>
              <a:t>Start with Android personal protection, followed by email connections, iOS extensions and partner distribution.</a:t>
            </a:r>
          </a:p>
        </p:txBody>
      </p:sp>
      <p:sp>
        <p:nvSpPr>
          <p:cNvPr id="20" name="">
            <a:extLst xmlns:a="http://schemas.openxmlformats.org/drawingml/2006/main">
              <a:ext uri="{FF2B5EF4-FFF2-40B4-BE49-F238E27FC236}">
                <a16:creationId xmlns:a16="http://schemas.microsoft.com/office/drawing/2014/main" id="{3ADDEEFD-2C9A-4654-BAA7-C76528871309}"/>
              </a:ext>
            </a:extLst>
          </p:cNvPr>
          <p:cNvSpPr>
            <a:spLocks xmlns:a="http://schemas.openxmlformats.org/drawingml/2006/main" noGrp="1"/>
          </p:cNvSpPr>
          <p:nvPr/>
        </p:nvSpPr>
        <p:spPr>
          <a:xfrm xmlns:a="http://schemas.openxmlformats.org/drawingml/2006/main">
            <a:off x="552450" y="5667375"/>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756780"/>
                </a:solidFill>
                <a:latin typeface="Arial"/>
                <a:ea typeface="Arial"/>
                <a:cs typeface="Arial"/>
              </a:defRPr>
            </a:pPr>
            <a:r>
              <a:rPr sz="975" b="0">
                <a:solidFill>
                  <a:srgbClr val="756780"/>
                </a:solidFill>
                <a:latin typeface="Arial"/>
                <a:ea typeface="Arial"/>
                <a:cs typeface="Arial"/>
              </a:rPr>
              <a:t>Subscriptions are connections, not unique people. Market sizing still requires conversion and pricing evidence.</a:t>
            </a:r>
          </a:p>
        </p:txBody>
      </p:sp>
      <p:sp>
        <p:nvSpPr>
          <p:cNvPr id="21" name="">
            <a:extLst xmlns:a="http://schemas.openxmlformats.org/drawingml/2006/main">
              <a:ext uri="{FF2B5EF4-FFF2-40B4-BE49-F238E27FC236}">
                <a16:creationId xmlns:a16="http://schemas.microsoft.com/office/drawing/2014/main" id="{FA3187AC-6B1E-44BC-8A41-E1080D48BC4B}"/>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22" name="">
            <a:extLst xmlns:a="http://schemas.openxmlformats.org/drawingml/2006/main">
              <a:ext uri="{FF2B5EF4-FFF2-40B4-BE49-F238E27FC236}">
                <a16:creationId xmlns:a16="http://schemas.microsoft.com/office/drawing/2014/main" id="{481147B2-FF6A-44D0-B73D-458B80970CE2}"/>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9A8DA5"/>
                </a:solidFill>
                <a:latin typeface="Arial"/>
                <a:ea typeface="Arial"/>
                <a:cs typeface="Arial"/>
              </a:defRPr>
            </a:pPr>
            <a:r>
              <a:rPr sz="750" b="0">
                <a:solidFill>
                  <a:srgbClr val="9A8DA5"/>
                </a:solidFill>
                <a:latin typeface="Arial"/>
                <a:ea typeface="Arial"/>
                <a:cs typeface="Arial"/>
              </a:rPr>
              <a:t>Guard - Ghana-first fraud prevention</a:t>
            </a:r>
          </a:p>
        </p:txBody>
      </p:sp>
      <p:sp>
        <p:nvSpPr>
          <p:cNvPr id="23" name="">
            <a:extLst xmlns:a="http://schemas.openxmlformats.org/drawingml/2006/main">
              <a:ext uri="{FF2B5EF4-FFF2-40B4-BE49-F238E27FC236}">
                <a16:creationId xmlns:a16="http://schemas.microsoft.com/office/drawing/2014/main" id="{22923455-0922-4D7C-8776-A5A79B1C5366}"/>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D22B7"/>
                </a:solidFill>
                <a:latin typeface="Arial"/>
                <a:ea typeface="Arial"/>
                <a:cs typeface="Arial"/>
              </a:defRPr>
            </a:pPr>
            <a:r>
              <a:rPr sz="825" b="1">
                <a:solidFill>
                  <a:srgbClr val="6D22B7"/>
                </a:solidFill>
                <a:latin typeface="Arial"/>
                <a:ea typeface="Arial"/>
                <a:cs typeface="Arial"/>
              </a:rPr>
              <a:t>07</a:t>
            </a:r>
          </a:p>
        </p:txBody>
      </p:sp>
    </p:spTree>
    <p:extLst>
      <p:ext uri="{BB962C8B-B14F-4D97-AF65-F5344CB8AC3E}">
        <p14:creationId xmlns:p14="http://schemas.microsoft.com/office/powerpoint/2010/main" val="933233517"/>
      </p:ext>
    </p:extLst>
  </p:cSld>
</p:sld>
</file>

<file path=ppt/slides/slide8.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19C789F-8F40-4842-8468-CD62A911B1C3}"/>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80A2E"/>
                </a:solidFill>
                <a:latin typeface="Arial"/>
                <a:ea typeface="Arial"/>
                <a:cs typeface="Arial"/>
              </a:defRPr>
            </a:pPr>
            <a:r>
              <a:rPr sz="1875" b="1">
                <a:solidFill>
                  <a:srgbClr val="180A2E"/>
                </a:solidFill>
                <a:latin typeface="Arial"/>
                <a:ea typeface="Arial"/>
                <a:cs typeface="Arial"/>
              </a:rPr>
              <a:t>Guard</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697787eabeb40d4"/>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3C91F9D-03E5-4D62-A588-7F4706DBE0BF}"/>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61D24E-3AB3-462B-AA48-AFD0852C41E3}"/>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9828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F01F73-645B-462B-9F1B-0C463B725164}"/>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D22B7"/>
                </a:solidFill>
                <a:latin typeface="Arial"/>
                <a:ea typeface="Arial"/>
                <a:cs typeface="Arial"/>
              </a:defRPr>
            </a:pPr>
            <a:r>
              <a:rPr sz="1050" b="1">
                <a:solidFill>
                  <a:srgbClr val="6D22B7"/>
                </a:solidFill>
                <a:latin typeface="Arial"/>
                <a:ea typeface="Arial"/>
                <a:cs typeface="Arial"/>
              </a:rPr>
              <a:t>REVENUE MODEL</a:t>
            </a:r>
          </a:p>
        </p:txBody>
      </p:sp>
      <p:sp>
        <p:nvSpPr>
          <p:cNvPr id="6" name="">
            <a:extLst xmlns:a="http://schemas.openxmlformats.org/drawingml/2006/main">
              <a:ext uri="{FF2B5EF4-FFF2-40B4-BE49-F238E27FC236}">
                <a16:creationId xmlns:a16="http://schemas.microsoft.com/office/drawing/2014/main" id="{DDF524B9-AD6D-4F8B-8C8C-33CF25FCDB90}"/>
              </a:ext>
            </a:extLst>
          </p:cNvPr>
          <p:cNvSpPr>
            <a:spLocks xmlns:a="http://schemas.openxmlformats.org/drawingml/2006/main" noGrp="1"/>
          </p:cNvSpPr>
          <p:nvPr/>
        </p:nvSpPr>
        <p:spPr>
          <a:xfrm xmlns:a="http://schemas.openxmlformats.org/drawingml/2006/main">
            <a:off x="514350" y="12858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925" b="1">
                <a:solidFill>
                  <a:srgbClr val="241539"/>
                </a:solidFill>
                <a:latin typeface="Arial"/>
                <a:ea typeface="Arial"/>
                <a:cs typeface="Arial"/>
              </a:defRPr>
            </a:pPr>
            <a:r>
              <a:rPr sz="2925" b="1">
                <a:solidFill>
                  <a:srgbClr val="241539"/>
                </a:solidFill>
                <a:latin typeface="Arial"/>
                <a:ea typeface="Arial"/>
                <a:cs typeface="Arial"/>
              </a:rPr>
              <a:t>Personal protection builds reach while partners fund scale</a:t>
            </a:r>
          </a:p>
        </p:txBody>
      </p:sp>
      <p:sp>
        <p:nvSpPr>
          <p:cNvPr id="7" name="">
            <a:extLst xmlns:a="http://schemas.openxmlformats.org/drawingml/2006/main">
              <a:ext uri="{FF2B5EF4-FFF2-40B4-BE49-F238E27FC236}">
                <a16:creationId xmlns:a16="http://schemas.microsoft.com/office/drawing/2014/main" id="{61B85070-6F03-4130-8AB5-6EE4A1A31547}"/>
              </a:ext>
            </a:extLst>
          </p:cNvPr>
          <p:cNvSpPr>
            <a:spLocks xmlns:a="http://schemas.openxmlformats.org/drawingml/2006/main" noGrp="1"/>
          </p:cNvSpPr>
          <p:nvPr/>
        </p:nvSpPr>
        <p:spPr>
          <a:xfrm xmlns:a="http://schemas.openxmlformats.org/drawingml/2006/main">
            <a:off x="552450" y="2314575"/>
            <a:ext cx="1190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FF7A18"/>
                </a:solidFill>
                <a:latin typeface="Arial"/>
                <a:ea typeface="Arial"/>
                <a:cs typeface="Arial"/>
              </a:defRPr>
            </a:pPr>
            <a:r>
              <a:rPr sz="825" b="1">
                <a:solidFill>
                  <a:srgbClr val="FF7A18"/>
                </a:solidFill>
                <a:latin typeface="Arial"/>
                <a:ea typeface="Arial"/>
                <a:cs typeface="Arial"/>
              </a:rPr>
              <a:t>PERSONAL</a:t>
            </a:r>
          </a:p>
        </p:txBody>
      </p:sp>
      <p:sp>
        <p:nvSpPr>
          <p:cNvPr id="8" name="">
            <a:extLst xmlns:a="http://schemas.openxmlformats.org/drawingml/2006/main">
              <a:ext uri="{FF2B5EF4-FFF2-40B4-BE49-F238E27FC236}">
                <a16:creationId xmlns:a16="http://schemas.microsoft.com/office/drawing/2014/main" id="{32D44133-59BF-45C0-8E4E-BF3DA4205178}"/>
              </a:ext>
            </a:extLst>
          </p:cNvPr>
          <p:cNvSpPr>
            <a:spLocks xmlns:a="http://schemas.openxmlformats.org/drawingml/2006/main" noGrp="1"/>
          </p:cNvSpPr>
          <p:nvPr/>
        </p:nvSpPr>
        <p:spPr>
          <a:xfrm xmlns:a="http://schemas.openxmlformats.org/drawingml/2006/main">
            <a:off x="1924050" y="22479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241539"/>
                </a:solidFill>
                <a:latin typeface="Arial"/>
                <a:ea typeface="Arial"/>
                <a:cs typeface="Arial"/>
              </a:defRPr>
            </a:pPr>
            <a:r>
              <a:rPr sz="1725" b="1">
                <a:solidFill>
                  <a:srgbClr val="241539"/>
                </a:solidFill>
                <a:latin typeface="Arial"/>
                <a:ea typeface="Arial"/>
                <a:cs typeface="Arial"/>
              </a:rPr>
              <a:t>Free protection</a:t>
            </a:r>
          </a:p>
        </p:txBody>
      </p:sp>
      <p:sp>
        <p:nvSpPr>
          <p:cNvPr id="9" name="">
            <a:extLst xmlns:a="http://schemas.openxmlformats.org/drawingml/2006/main">
              <a:ext uri="{FF2B5EF4-FFF2-40B4-BE49-F238E27FC236}">
                <a16:creationId xmlns:a16="http://schemas.microsoft.com/office/drawing/2014/main" id="{CBAF1F01-4A1C-443F-AE43-D2CA8504F1FB}"/>
              </a:ext>
            </a:extLst>
          </p:cNvPr>
          <p:cNvSpPr>
            <a:spLocks xmlns:a="http://schemas.openxmlformats.org/drawingml/2006/main" noGrp="1"/>
          </p:cNvSpPr>
          <p:nvPr/>
        </p:nvSpPr>
        <p:spPr>
          <a:xfrm xmlns:a="http://schemas.openxmlformats.org/drawingml/2006/main">
            <a:off x="4857750" y="225742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Core warnings for supported calls, messages, links and connected email.</a:t>
            </a:r>
          </a:p>
        </p:txBody>
      </p:sp>
      <p:sp>
        <p:nvSpPr>
          <p:cNvPr id="10" name="">
            <a:extLst xmlns:a="http://schemas.openxmlformats.org/drawingml/2006/main">
              <a:ext uri="{FF2B5EF4-FFF2-40B4-BE49-F238E27FC236}">
                <a16:creationId xmlns:a16="http://schemas.microsoft.com/office/drawing/2014/main" id="{D9556AD6-D73E-4B2D-95A3-D604D328964A}"/>
              </a:ext>
            </a:extLst>
          </p:cNvPr>
          <p:cNvSpPr>
            <a:spLocks xmlns:a="http://schemas.openxmlformats.org/drawingml/2006/main" noGrp="1"/>
          </p:cNvSpPr>
          <p:nvPr/>
        </p:nvSpPr>
        <p:spPr>
          <a:xfrm xmlns:a="http://schemas.openxmlformats.org/drawingml/2006/main">
            <a:off x="552450" y="2914650"/>
            <a:ext cx="111252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11" name="">
            <a:extLst xmlns:a="http://schemas.openxmlformats.org/drawingml/2006/main">
              <a:ext uri="{FF2B5EF4-FFF2-40B4-BE49-F238E27FC236}">
                <a16:creationId xmlns:a16="http://schemas.microsoft.com/office/drawing/2014/main" id="{70A60CF9-BBCD-4C8C-ACB4-D8032C30C9F6}"/>
              </a:ext>
            </a:extLst>
          </p:cNvPr>
          <p:cNvSpPr>
            <a:spLocks xmlns:a="http://schemas.openxmlformats.org/drawingml/2006/main" noGrp="1"/>
          </p:cNvSpPr>
          <p:nvPr/>
        </p:nvSpPr>
        <p:spPr>
          <a:xfrm xmlns:a="http://schemas.openxmlformats.org/drawingml/2006/main">
            <a:off x="552450" y="3181350"/>
            <a:ext cx="1190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D22B7"/>
                </a:solidFill>
                <a:latin typeface="Arial"/>
                <a:ea typeface="Arial"/>
                <a:cs typeface="Arial"/>
              </a:defRPr>
            </a:pPr>
            <a:r>
              <a:rPr sz="825" b="1">
                <a:solidFill>
                  <a:srgbClr val="6D22B7"/>
                </a:solidFill>
                <a:latin typeface="Arial"/>
                <a:ea typeface="Arial"/>
                <a:cs typeface="Arial"/>
              </a:rPr>
              <a:t>PREMIUM</a:t>
            </a:r>
          </a:p>
        </p:txBody>
      </p:sp>
      <p:sp>
        <p:nvSpPr>
          <p:cNvPr id="12" name="">
            <a:extLst xmlns:a="http://schemas.openxmlformats.org/drawingml/2006/main">
              <a:ext uri="{FF2B5EF4-FFF2-40B4-BE49-F238E27FC236}">
                <a16:creationId xmlns:a16="http://schemas.microsoft.com/office/drawing/2014/main" id="{13FD7AFB-B2F8-441C-9F3D-5F2A5D8C055A}"/>
              </a:ext>
            </a:extLst>
          </p:cNvPr>
          <p:cNvSpPr>
            <a:spLocks xmlns:a="http://schemas.openxmlformats.org/drawingml/2006/main" noGrp="1"/>
          </p:cNvSpPr>
          <p:nvPr/>
        </p:nvSpPr>
        <p:spPr>
          <a:xfrm xmlns:a="http://schemas.openxmlformats.org/drawingml/2006/main">
            <a:off x="1924050" y="3114675"/>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241539"/>
                </a:solidFill>
                <a:latin typeface="Arial"/>
                <a:ea typeface="Arial"/>
                <a:cs typeface="Arial"/>
              </a:defRPr>
            </a:pPr>
            <a:r>
              <a:rPr sz="1725" b="1">
                <a:solidFill>
                  <a:srgbClr val="241539"/>
                </a:solidFill>
                <a:latin typeface="Arial"/>
                <a:ea typeface="Arial"/>
                <a:cs typeface="Arial"/>
              </a:rPr>
              <a:t>Personal or family plan</a:t>
            </a:r>
          </a:p>
        </p:txBody>
      </p:sp>
      <p:sp>
        <p:nvSpPr>
          <p:cNvPr id="13" name="">
            <a:extLst xmlns:a="http://schemas.openxmlformats.org/drawingml/2006/main">
              <a:ext uri="{FF2B5EF4-FFF2-40B4-BE49-F238E27FC236}">
                <a16:creationId xmlns:a16="http://schemas.microsoft.com/office/drawing/2014/main" id="{236C43DE-7DA7-494A-93F6-29EBAFAC3014}"/>
              </a:ext>
            </a:extLst>
          </p:cNvPr>
          <p:cNvSpPr>
            <a:spLocks xmlns:a="http://schemas.openxmlformats.org/drawingml/2006/main" noGrp="1"/>
          </p:cNvSpPr>
          <p:nvPr/>
        </p:nvSpPr>
        <p:spPr>
          <a:xfrm xmlns:a="http://schemas.openxmlformats.org/drawingml/2006/main">
            <a:off x="4857750" y="312420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Broader monitoring, shared protection, history and recovery guidance.</a:t>
            </a:r>
          </a:p>
        </p:txBody>
      </p:sp>
      <p:sp>
        <p:nvSpPr>
          <p:cNvPr id="14" name="">
            <a:extLst xmlns:a="http://schemas.openxmlformats.org/drawingml/2006/main">
              <a:ext uri="{FF2B5EF4-FFF2-40B4-BE49-F238E27FC236}">
                <a16:creationId xmlns:a16="http://schemas.microsoft.com/office/drawing/2014/main" id="{3D2407CC-0F50-439E-9BA5-7B783307E7EB}"/>
              </a:ext>
            </a:extLst>
          </p:cNvPr>
          <p:cNvSpPr>
            <a:spLocks xmlns:a="http://schemas.openxmlformats.org/drawingml/2006/main" noGrp="1"/>
          </p:cNvSpPr>
          <p:nvPr/>
        </p:nvSpPr>
        <p:spPr>
          <a:xfrm xmlns:a="http://schemas.openxmlformats.org/drawingml/2006/main">
            <a:off x="552450" y="3781425"/>
            <a:ext cx="111252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15" name="">
            <a:extLst xmlns:a="http://schemas.openxmlformats.org/drawingml/2006/main">
              <a:ext uri="{FF2B5EF4-FFF2-40B4-BE49-F238E27FC236}">
                <a16:creationId xmlns:a16="http://schemas.microsoft.com/office/drawing/2014/main" id="{205B5FBC-77B2-4DA8-85A6-F38A3203929A}"/>
              </a:ext>
            </a:extLst>
          </p:cNvPr>
          <p:cNvSpPr>
            <a:spLocks xmlns:a="http://schemas.openxmlformats.org/drawingml/2006/main" noGrp="1"/>
          </p:cNvSpPr>
          <p:nvPr/>
        </p:nvSpPr>
        <p:spPr>
          <a:xfrm xmlns:a="http://schemas.openxmlformats.org/drawingml/2006/main">
            <a:off x="552450" y="4048125"/>
            <a:ext cx="1190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D22B7"/>
                </a:solidFill>
                <a:latin typeface="Arial"/>
                <a:ea typeface="Arial"/>
                <a:cs typeface="Arial"/>
              </a:defRPr>
            </a:pPr>
            <a:r>
              <a:rPr sz="825" b="1">
                <a:solidFill>
                  <a:srgbClr val="6D22B7"/>
                </a:solidFill>
                <a:latin typeface="Arial"/>
                <a:ea typeface="Arial"/>
                <a:cs typeface="Arial"/>
              </a:rPr>
              <a:t>BUSINESS</a:t>
            </a:r>
          </a:p>
        </p:txBody>
      </p:sp>
      <p:sp>
        <p:nvSpPr>
          <p:cNvPr id="16" name="">
            <a:extLst xmlns:a="http://schemas.openxmlformats.org/drawingml/2006/main">
              <a:ext uri="{FF2B5EF4-FFF2-40B4-BE49-F238E27FC236}">
                <a16:creationId xmlns:a16="http://schemas.microsoft.com/office/drawing/2014/main" id="{A8D38DA0-A196-44CF-9BA6-FB406B94A6AE}"/>
              </a:ext>
            </a:extLst>
          </p:cNvPr>
          <p:cNvSpPr>
            <a:spLocks xmlns:a="http://schemas.openxmlformats.org/drawingml/2006/main" noGrp="1"/>
          </p:cNvSpPr>
          <p:nvPr/>
        </p:nvSpPr>
        <p:spPr>
          <a:xfrm xmlns:a="http://schemas.openxmlformats.org/drawingml/2006/main">
            <a:off x="1924050" y="39814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241539"/>
                </a:solidFill>
                <a:latin typeface="Arial"/>
                <a:ea typeface="Arial"/>
                <a:cs typeface="Arial"/>
              </a:defRPr>
            </a:pPr>
            <a:r>
              <a:rPr sz="1725" b="1">
                <a:solidFill>
                  <a:srgbClr val="241539"/>
                </a:solidFill>
                <a:latin typeface="Arial"/>
                <a:ea typeface="Arial"/>
                <a:cs typeface="Arial"/>
              </a:rPr>
              <a:t>Seats + API usage</a:t>
            </a:r>
          </a:p>
        </p:txBody>
      </p:sp>
      <p:sp>
        <p:nvSpPr>
          <p:cNvPr id="17" name="">
            <a:extLst xmlns:a="http://schemas.openxmlformats.org/drawingml/2006/main">
              <a:ext uri="{FF2B5EF4-FFF2-40B4-BE49-F238E27FC236}">
                <a16:creationId xmlns:a16="http://schemas.microsoft.com/office/drawing/2014/main" id="{99D27CBC-D459-43BE-BF42-9ED5974C7E74}"/>
              </a:ext>
            </a:extLst>
          </p:cNvPr>
          <p:cNvSpPr>
            <a:spLocks xmlns:a="http://schemas.openxmlformats.org/drawingml/2006/main" noGrp="1"/>
          </p:cNvSpPr>
          <p:nvPr/>
        </p:nvSpPr>
        <p:spPr>
          <a:xfrm xmlns:a="http://schemas.openxmlformats.org/drawingml/2006/main">
            <a:off x="4857750" y="39909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Fraud detection for staff, customers, support teams and digital workflows.</a:t>
            </a:r>
          </a:p>
        </p:txBody>
      </p:sp>
      <p:sp>
        <p:nvSpPr>
          <p:cNvPr id="18" name="">
            <a:extLst xmlns:a="http://schemas.openxmlformats.org/drawingml/2006/main">
              <a:ext uri="{FF2B5EF4-FFF2-40B4-BE49-F238E27FC236}">
                <a16:creationId xmlns:a16="http://schemas.microsoft.com/office/drawing/2014/main" id="{EF6C0743-254B-41A6-9426-C0ECD678C0AB}"/>
              </a:ext>
            </a:extLst>
          </p:cNvPr>
          <p:cNvSpPr>
            <a:spLocks xmlns:a="http://schemas.openxmlformats.org/drawingml/2006/main" noGrp="1"/>
          </p:cNvSpPr>
          <p:nvPr/>
        </p:nvSpPr>
        <p:spPr>
          <a:xfrm xmlns:a="http://schemas.openxmlformats.org/drawingml/2006/main">
            <a:off x="552450" y="4648200"/>
            <a:ext cx="111252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19" name="">
            <a:extLst xmlns:a="http://schemas.openxmlformats.org/drawingml/2006/main">
              <a:ext uri="{FF2B5EF4-FFF2-40B4-BE49-F238E27FC236}">
                <a16:creationId xmlns:a16="http://schemas.microsoft.com/office/drawing/2014/main" id="{6041CD3F-D9DE-4B79-A96E-9CB9673FC620}"/>
              </a:ext>
            </a:extLst>
          </p:cNvPr>
          <p:cNvSpPr>
            <a:spLocks xmlns:a="http://schemas.openxmlformats.org/drawingml/2006/main" noGrp="1"/>
          </p:cNvSpPr>
          <p:nvPr/>
        </p:nvSpPr>
        <p:spPr>
          <a:xfrm xmlns:a="http://schemas.openxmlformats.org/drawingml/2006/main">
            <a:off x="552450" y="4914900"/>
            <a:ext cx="1190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D22B7"/>
                </a:solidFill>
                <a:latin typeface="Arial"/>
                <a:ea typeface="Arial"/>
                <a:cs typeface="Arial"/>
              </a:defRPr>
            </a:pPr>
            <a:r>
              <a:rPr sz="825" b="1">
                <a:solidFill>
                  <a:srgbClr val="6D22B7"/>
                </a:solidFill>
                <a:latin typeface="Arial"/>
                <a:ea typeface="Arial"/>
                <a:cs typeface="Arial"/>
              </a:rPr>
              <a:t>PARTNERS</a:t>
            </a:r>
          </a:p>
        </p:txBody>
      </p:sp>
      <p:sp>
        <p:nvSpPr>
          <p:cNvPr id="20" name="">
            <a:extLst xmlns:a="http://schemas.openxmlformats.org/drawingml/2006/main">
              <a:ext uri="{FF2B5EF4-FFF2-40B4-BE49-F238E27FC236}">
                <a16:creationId xmlns:a16="http://schemas.microsoft.com/office/drawing/2014/main" id="{FA6E6460-7504-467B-A96F-90559AB741B9}"/>
              </a:ext>
            </a:extLst>
          </p:cNvPr>
          <p:cNvSpPr>
            <a:spLocks xmlns:a="http://schemas.openxmlformats.org/drawingml/2006/main" noGrp="1"/>
          </p:cNvSpPr>
          <p:nvPr/>
        </p:nvSpPr>
        <p:spPr>
          <a:xfrm xmlns:a="http://schemas.openxmlformats.org/drawingml/2006/main">
            <a:off x="1924050" y="4848225"/>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241539"/>
                </a:solidFill>
                <a:latin typeface="Arial"/>
                <a:ea typeface="Arial"/>
                <a:cs typeface="Arial"/>
              </a:defRPr>
            </a:pPr>
            <a:r>
              <a:rPr sz="1725" b="1">
                <a:solidFill>
                  <a:srgbClr val="241539"/>
                </a:solidFill>
                <a:latin typeface="Arial"/>
                <a:ea typeface="Arial"/>
                <a:cs typeface="Arial"/>
              </a:rPr>
              <a:t>License + distribution</a:t>
            </a:r>
          </a:p>
        </p:txBody>
      </p:sp>
      <p:sp>
        <p:nvSpPr>
          <p:cNvPr id="21" name="">
            <a:extLst xmlns:a="http://schemas.openxmlformats.org/drawingml/2006/main">
              <a:ext uri="{FF2B5EF4-FFF2-40B4-BE49-F238E27FC236}">
                <a16:creationId xmlns:a16="http://schemas.microsoft.com/office/drawing/2014/main" id="{8C97BF98-4071-4613-BC5E-EFE4B7A33F01}"/>
              </a:ext>
            </a:extLst>
          </p:cNvPr>
          <p:cNvSpPr>
            <a:spLocks xmlns:a="http://schemas.openxmlformats.org/drawingml/2006/main" noGrp="1"/>
          </p:cNvSpPr>
          <p:nvPr/>
        </p:nvSpPr>
        <p:spPr>
          <a:xfrm xmlns:a="http://schemas.openxmlformats.org/drawingml/2006/main">
            <a:off x="4857750" y="485775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56780"/>
                </a:solidFill>
                <a:latin typeface="Arial"/>
                <a:ea typeface="Arial"/>
                <a:cs typeface="Arial"/>
              </a:defRPr>
            </a:pPr>
            <a:r>
              <a:rPr sz="1200" b="0">
                <a:solidFill>
                  <a:srgbClr val="756780"/>
                </a:solidFill>
                <a:latin typeface="Arial"/>
                <a:ea typeface="Arial"/>
                <a:cs typeface="Arial"/>
              </a:rPr>
              <a:t>Telecom, financial, device and platform partnerships with local intelligence.</a:t>
            </a:r>
          </a:p>
        </p:txBody>
      </p:sp>
      <p:sp>
        <p:nvSpPr>
          <p:cNvPr id="22" name="">
            <a:extLst xmlns:a="http://schemas.openxmlformats.org/drawingml/2006/main">
              <a:ext uri="{FF2B5EF4-FFF2-40B4-BE49-F238E27FC236}">
                <a16:creationId xmlns:a16="http://schemas.microsoft.com/office/drawing/2014/main" id="{A4698B43-AF29-4C53-A920-137397BB90C3}"/>
              </a:ext>
            </a:extLst>
          </p:cNvPr>
          <p:cNvSpPr>
            <a:spLocks xmlns:a="http://schemas.openxmlformats.org/drawingml/2006/main" noGrp="1"/>
          </p:cNvSpPr>
          <p:nvPr/>
        </p:nvSpPr>
        <p:spPr>
          <a:xfrm xmlns:a="http://schemas.openxmlformats.org/drawingml/2006/main">
            <a:off x="552450" y="5791200"/>
            <a:ext cx="11125200" cy="400050"/>
          </a:xfrm>
          <a:prstGeom xmlns:a="http://schemas.openxmlformats.org/drawingml/2006/main" prst="roundRect">
            <a:avLst>
              <a:gd name="adj" fmla="val 19048"/>
            </a:avLst>
          </a:prstGeom>
          <a:solidFill xmlns:a="http://schemas.openxmlformats.org/drawingml/2006/main">
            <a:srgbClr val="F0E9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93A2DEC-3243-43F0-9FC0-C655EAA375F3}"/>
              </a:ext>
            </a:extLst>
          </p:cNvPr>
          <p:cNvSpPr>
            <a:spLocks xmlns:a="http://schemas.openxmlformats.org/drawingml/2006/main" noGrp="1"/>
          </p:cNvSpPr>
          <p:nvPr/>
        </p:nvSpPr>
        <p:spPr>
          <a:xfrm xmlns:a="http://schemas.openxmlformats.org/drawingml/2006/main">
            <a:off x="742950" y="5915025"/>
            <a:ext cx="1074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80A2E"/>
                </a:solidFill>
                <a:latin typeface="Arial"/>
                <a:ea typeface="Arial"/>
                <a:cs typeface="Arial"/>
              </a:defRPr>
            </a:pPr>
            <a:r>
              <a:rPr sz="975" b="1">
                <a:solidFill>
                  <a:srgbClr val="180A2E"/>
                </a:solidFill>
                <a:latin typeface="Arial"/>
                <a:ea typeface="Arial"/>
                <a:cs typeface="Arial"/>
              </a:rPr>
              <a:t>Pricing remains a test variable. Pilot contracts should validate willingness to pay before external forecasts use fixed rates.</a:t>
            </a:r>
          </a:p>
        </p:txBody>
      </p:sp>
      <p:sp>
        <p:nvSpPr>
          <p:cNvPr id="24" name="">
            <a:extLst xmlns:a="http://schemas.openxmlformats.org/drawingml/2006/main">
              <a:ext uri="{FF2B5EF4-FFF2-40B4-BE49-F238E27FC236}">
                <a16:creationId xmlns:a16="http://schemas.microsoft.com/office/drawing/2014/main" id="{40CC2B19-3BAE-4519-B3F3-393FCD2CBF5D}"/>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25" name="">
            <a:extLst xmlns:a="http://schemas.openxmlformats.org/drawingml/2006/main">
              <a:ext uri="{FF2B5EF4-FFF2-40B4-BE49-F238E27FC236}">
                <a16:creationId xmlns:a16="http://schemas.microsoft.com/office/drawing/2014/main" id="{4302B40E-6E6D-4A06-8EEF-C8897E658D1A}"/>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9A8DA5"/>
                </a:solidFill>
                <a:latin typeface="Arial"/>
                <a:ea typeface="Arial"/>
                <a:cs typeface="Arial"/>
              </a:defRPr>
            </a:pPr>
            <a:r>
              <a:rPr sz="750" b="0">
                <a:solidFill>
                  <a:srgbClr val="9A8DA5"/>
                </a:solidFill>
                <a:latin typeface="Arial"/>
                <a:ea typeface="Arial"/>
                <a:cs typeface="Arial"/>
              </a:rPr>
              <a:t>Guard - Ghana-first fraud prevention</a:t>
            </a:r>
          </a:p>
        </p:txBody>
      </p:sp>
      <p:sp>
        <p:nvSpPr>
          <p:cNvPr id="26" name="">
            <a:extLst xmlns:a="http://schemas.openxmlformats.org/drawingml/2006/main">
              <a:ext uri="{FF2B5EF4-FFF2-40B4-BE49-F238E27FC236}">
                <a16:creationId xmlns:a16="http://schemas.microsoft.com/office/drawing/2014/main" id="{921377F0-2686-4BC3-B7D0-FFAD586A578B}"/>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D22B7"/>
                </a:solidFill>
                <a:latin typeface="Arial"/>
                <a:ea typeface="Arial"/>
                <a:cs typeface="Arial"/>
              </a:defRPr>
            </a:pPr>
            <a:r>
              <a:rPr sz="825" b="1">
                <a:solidFill>
                  <a:srgbClr val="6D22B7"/>
                </a:solidFill>
                <a:latin typeface="Arial"/>
                <a:ea typeface="Arial"/>
                <a:cs typeface="Arial"/>
              </a:rPr>
              <a:t>08</a:t>
            </a:r>
          </a:p>
        </p:txBody>
      </p:sp>
    </p:spTree>
    <p:extLst>
      <p:ext uri="{BB962C8B-B14F-4D97-AF65-F5344CB8AC3E}">
        <p14:creationId xmlns:p14="http://schemas.microsoft.com/office/powerpoint/2010/main" val="1731588285"/>
      </p:ext>
    </p:extLst>
  </p:cSld>
</p:sld>
</file>

<file path=ppt/slides/slide9.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22E1D3C-2257-48D7-85CA-AE3D0B2EB457}"/>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80A2E"/>
                </a:solidFill>
                <a:latin typeface="Arial"/>
                <a:ea typeface="Arial"/>
                <a:cs typeface="Arial"/>
              </a:defRPr>
            </a:pPr>
            <a:r>
              <a:rPr sz="1875" b="1">
                <a:solidFill>
                  <a:srgbClr val="180A2E"/>
                </a:solidFill>
                <a:latin typeface="Arial"/>
                <a:ea typeface="Arial"/>
                <a:cs typeface="Arial"/>
              </a:rPr>
              <a:t>Guard</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4b00102b26a4463"/>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57C783C-7336-44AE-A935-5E2F31E43C1D}"/>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83C882-EE32-4861-A4B9-27D534C58B87}"/>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9828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92FBC1-8749-4637-B099-3D9A09D5578F}"/>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D22B7"/>
                </a:solidFill>
                <a:latin typeface="Arial"/>
                <a:ea typeface="Arial"/>
                <a:cs typeface="Arial"/>
              </a:defRPr>
            </a:pPr>
            <a:r>
              <a:rPr sz="1050" b="1">
                <a:solidFill>
                  <a:srgbClr val="6D22B7"/>
                </a:solidFill>
                <a:latin typeface="Arial"/>
                <a:ea typeface="Arial"/>
                <a:cs typeface="Arial"/>
              </a:rPr>
              <a:t>PRODUCT READINESS</a:t>
            </a:r>
          </a:p>
        </p:txBody>
      </p:sp>
      <p:sp>
        <p:nvSpPr>
          <p:cNvPr id="6" name="">
            <a:extLst xmlns:a="http://schemas.openxmlformats.org/drawingml/2006/main">
              <a:ext uri="{FF2B5EF4-FFF2-40B4-BE49-F238E27FC236}">
                <a16:creationId xmlns:a16="http://schemas.microsoft.com/office/drawing/2014/main" id="{E9B3DBA4-7292-4812-BCE7-FC534C4E440A}"/>
              </a:ext>
            </a:extLst>
          </p:cNvPr>
          <p:cNvSpPr>
            <a:spLocks xmlns:a="http://schemas.openxmlformats.org/drawingml/2006/main" noGrp="1"/>
          </p:cNvSpPr>
          <p:nvPr/>
        </p:nvSpPr>
        <p:spPr>
          <a:xfrm xmlns:a="http://schemas.openxmlformats.org/drawingml/2006/main">
            <a:off x="514350" y="12858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241539"/>
                </a:solidFill>
                <a:latin typeface="Arial"/>
                <a:ea typeface="Arial"/>
                <a:cs typeface="Arial"/>
              </a:defRPr>
            </a:pPr>
            <a:r>
              <a:rPr sz="2775" b="1">
                <a:solidFill>
                  <a:srgbClr val="241539"/>
                </a:solidFill>
                <a:latin typeface="Arial"/>
                <a:ea typeface="Arial"/>
                <a:cs typeface="Arial"/>
              </a:rPr>
              <a:t>The MVP proves the engine. Native protection comes next</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1aef760701f4972"/>
          <a:srcRect xmlns:a="http://schemas.openxmlformats.org/drawingml/2006/main" l="5658" t="0" r="5658" b="0"/>
          <a:stretch xmlns:a="http://schemas.openxmlformats.org/drawingml/2006/main">
            <a:fillRect l="0" t="0" r="0" b="0"/>
          </a:stretch>
        </p:blipFill>
        <p:spPr>
          <a:xfrm xmlns:a="http://schemas.openxmlformats.org/drawingml/2006/main">
            <a:off x="552450" y="2286000"/>
            <a:ext cx="4953000" cy="3143250"/>
          </a:xfrm>
          <a:prstGeom xmlns:a="http://schemas.openxmlformats.org/drawingml/2006/main" prst="roundRect">
            <a:avLst>
              <a:gd name="adj" fmla="val 7273"/>
            </a:avLst>
          </a:prstGeom>
        </p:spPr>
      </p:pic>
      <p:sp>
        <p:nvSpPr>
          <p:cNvPr id="8" name="">
            <a:extLst xmlns:a="http://schemas.openxmlformats.org/drawingml/2006/main">
              <a:ext uri="{FF2B5EF4-FFF2-40B4-BE49-F238E27FC236}">
                <a16:creationId xmlns:a16="http://schemas.microsoft.com/office/drawing/2014/main" id="{BC15934C-6C5F-4815-A9C7-A86642D43AFB}"/>
              </a:ext>
            </a:extLst>
          </p:cNvPr>
          <p:cNvSpPr>
            <a:spLocks xmlns:a="http://schemas.openxmlformats.org/drawingml/2006/main" noGrp="1"/>
          </p:cNvSpPr>
          <p:nvPr/>
        </p:nvSpPr>
        <p:spPr>
          <a:xfrm xmlns:a="http://schemas.openxmlformats.org/drawingml/2006/main">
            <a:off x="6019800" y="2266950"/>
            <a:ext cx="2571750" cy="1390650"/>
          </a:xfrm>
          <a:prstGeom xmlns:a="http://schemas.openxmlformats.org/drawingml/2006/main" prst="roundRect">
            <a:avLst>
              <a:gd name="adj" fmla="val 5479"/>
            </a:avLst>
          </a:prstGeom>
          <a:solidFill xmlns:a="http://schemas.openxmlformats.org/drawingml/2006/main">
            <a:srgbClr val="180A2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E7AB014-F1D2-454F-A5D7-2608EF57FD0D}"/>
              </a:ext>
            </a:extLst>
          </p:cNvPr>
          <p:cNvSpPr>
            <a:spLocks xmlns:a="http://schemas.openxmlformats.org/drawingml/2006/main" noGrp="1"/>
          </p:cNvSpPr>
          <p:nvPr/>
        </p:nvSpPr>
        <p:spPr>
          <a:xfrm xmlns:a="http://schemas.openxmlformats.org/drawingml/2006/main">
            <a:off x="6191250" y="2438400"/>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925" b="1">
                <a:solidFill>
                  <a:srgbClr val="FFB52E"/>
                </a:solidFill>
                <a:latin typeface="Arial"/>
                <a:ea typeface="Arial"/>
                <a:cs typeface="Arial"/>
              </a:defRPr>
            </a:pPr>
            <a:r>
              <a:rPr sz="2925" b="1">
                <a:solidFill>
                  <a:srgbClr val="FFB52E"/>
                </a:solidFill>
                <a:latin typeface="Arial"/>
                <a:ea typeface="Arial"/>
                <a:cs typeface="Arial"/>
              </a:rPr>
              <a:t>NOW</a:t>
            </a:r>
          </a:p>
        </p:txBody>
      </p:sp>
      <p:sp>
        <p:nvSpPr>
          <p:cNvPr id="10" name="">
            <a:extLst xmlns:a="http://schemas.openxmlformats.org/drawingml/2006/main">
              <a:ext uri="{FF2B5EF4-FFF2-40B4-BE49-F238E27FC236}">
                <a16:creationId xmlns:a16="http://schemas.microsoft.com/office/drawing/2014/main" id="{8FF72430-D660-478F-A2BF-BD598EDC5983}"/>
              </a:ext>
            </a:extLst>
          </p:cNvPr>
          <p:cNvSpPr>
            <a:spLocks xmlns:a="http://schemas.openxmlformats.org/drawingml/2006/main" noGrp="1"/>
          </p:cNvSpPr>
          <p:nvPr/>
        </p:nvSpPr>
        <p:spPr>
          <a:xfrm xmlns:a="http://schemas.openxmlformats.org/drawingml/2006/main">
            <a:off x="6191250" y="2857500"/>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Web and API</a:t>
            </a:r>
          </a:p>
        </p:txBody>
      </p:sp>
      <p:sp>
        <p:nvSpPr>
          <p:cNvPr id="11" name="">
            <a:extLst xmlns:a="http://schemas.openxmlformats.org/drawingml/2006/main">
              <a:ext uri="{FF2B5EF4-FFF2-40B4-BE49-F238E27FC236}">
                <a16:creationId xmlns:a16="http://schemas.microsoft.com/office/drawing/2014/main" id="{C8DC9DC7-2B39-455A-8B87-375B3BBD495A}"/>
              </a:ext>
            </a:extLst>
          </p:cNvPr>
          <p:cNvSpPr>
            <a:spLocks xmlns:a="http://schemas.openxmlformats.org/drawingml/2006/main" noGrp="1"/>
          </p:cNvSpPr>
          <p:nvPr/>
        </p:nvSpPr>
        <p:spPr>
          <a:xfrm xmlns:a="http://schemas.openxmlformats.org/drawingml/2006/main">
            <a:off x="6191250" y="3143250"/>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BBADD"/>
                </a:solidFill>
                <a:latin typeface="Arial"/>
                <a:ea typeface="Arial"/>
                <a:cs typeface="Arial"/>
              </a:defRPr>
            </a:pPr>
            <a:r>
              <a:rPr sz="900" b="0">
                <a:solidFill>
                  <a:srgbClr val="CBBADD"/>
                </a:solidFill>
                <a:latin typeface="Arial"/>
                <a:ea typeface="Arial"/>
                <a:cs typeface="Arial"/>
              </a:rPr>
              <a:t>Manual checks already cover messages, screenshots, links, numbers, payments and calls</a:t>
            </a:r>
          </a:p>
        </p:txBody>
      </p:sp>
      <p:sp>
        <p:nvSpPr>
          <p:cNvPr id="12" name="">
            <a:extLst xmlns:a="http://schemas.openxmlformats.org/drawingml/2006/main">
              <a:ext uri="{FF2B5EF4-FFF2-40B4-BE49-F238E27FC236}">
                <a16:creationId xmlns:a16="http://schemas.microsoft.com/office/drawing/2014/main" id="{5ED354AA-C9A4-4268-BA04-C6A854DAC757}"/>
              </a:ext>
            </a:extLst>
          </p:cNvPr>
          <p:cNvSpPr>
            <a:spLocks xmlns:a="http://schemas.openxmlformats.org/drawingml/2006/main" noGrp="1"/>
          </p:cNvSpPr>
          <p:nvPr/>
        </p:nvSpPr>
        <p:spPr>
          <a:xfrm xmlns:a="http://schemas.openxmlformats.org/drawingml/2006/main">
            <a:off x="8801100" y="2266950"/>
            <a:ext cx="2571750" cy="1390650"/>
          </a:xfrm>
          <a:prstGeom xmlns:a="http://schemas.openxmlformats.org/drawingml/2006/main" prst="roundRect">
            <a:avLst>
              <a:gd name="adj" fmla="val 5479"/>
            </a:avLst>
          </a:prstGeom>
          <a:solidFill xmlns:a="http://schemas.openxmlformats.org/drawingml/2006/main">
            <a:srgbClr val="F7F1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28412E9-63D0-45E1-BD44-AEB5640756E1}"/>
              </a:ext>
            </a:extLst>
          </p:cNvPr>
          <p:cNvSpPr>
            <a:spLocks xmlns:a="http://schemas.openxmlformats.org/drawingml/2006/main" noGrp="1"/>
          </p:cNvSpPr>
          <p:nvPr/>
        </p:nvSpPr>
        <p:spPr>
          <a:xfrm xmlns:a="http://schemas.openxmlformats.org/drawingml/2006/main">
            <a:off x="8972550" y="2438400"/>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6D22B7"/>
                </a:solidFill>
                <a:latin typeface="Arial"/>
                <a:ea typeface="Arial"/>
                <a:cs typeface="Arial"/>
              </a:defRPr>
            </a:pPr>
            <a:r>
              <a:rPr sz="1800" b="1">
                <a:solidFill>
                  <a:srgbClr val="6D22B7"/>
                </a:solidFill>
                <a:latin typeface="Arial"/>
                <a:ea typeface="Arial"/>
                <a:cs typeface="Arial"/>
              </a:rPr>
              <a:t>NEXT</a:t>
            </a:r>
          </a:p>
        </p:txBody>
      </p:sp>
      <p:sp>
        <p:nvSpPr>
          <p:cNvPr id="14" name="">
            <a:extLst xmlns:a="http://schemas.openxmlformats.org/drawingml/2006/main">
              <a:ext uri="{FF2B5EF4-FFF2-40B4-BE49-F238E27FC236}">
                <a16:creationId xmlns:a16="http://schemas.microsoft.com/office/drawing/2014/main" id="{CE1AC288-C22B-4BDA-812B-0F55A8533B46}"/>
              </a:ext>
            </a:extLst>
          </p:cNvPr>
          <p:cNvSpPr>
            <a:spLocks xmlns:a="http://schemas.openxmlformats.org/drawingml/2006/main" noGrp="1"/>
          </p:cNvSpPr>
          <p:nvPr/>
        </p:nvSpPr>
        <p:spPr>
          <a:xfrm xmlns:a="http://schemas.openxmlformats.org/drawingml/2006/main">
            <a:off x="8972550" y="2857500"/>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241539"/>
                </a:solidFill>
                <a:latin typeface="Arial"/>
                <a:ea typeface="Arial"/>
                <a:cs typeface="Arial"/>
              </a:defRPr>
            </a:pPr>
            <a:r>
              <a:rPr sz="1050" b="1">
                <a:solidFill>
                  <a:srgbClr val="241539"/>
                </a:solidFill>
                <a:latin typeface="Arial"/>
                <a:ea typeface="Arial"/>
                <a:cs typeface="Arial"/>
              </a:rPr>
              <a:t>Android app</a:t>
            </a:r>
          </a:p>
        </p:txBody>
      </p:sp>
      <p:sp>
        <p:nvSpPr>
          <p:cNvPr id="15" name="">
            <a:extLst xmlns:a="http://schemas.openxmlformats.org/drawingml/2006/main">
              <a:ext uri="{FF2B5EF4-FFF2-40B4-BE49-F238E27FC236}">
                <a16:creationId xmlns:a16="http://schemas.microsoft.com/office/drawing/2014/main" id="{6A54D934-BB19-4ED4-A7F3-37470CC864CF}"/>
              </a:ext>
            </a:extLst>
          </p:cNvPr>
          <p:cNvSpPr>
            <a:spLocks xmlns:a="http://schemas.openxmlformats.org/drawingml/2006/main" noGrp="1"/>
          </p:cNvSpPr>
          <p:nvPr/>
        </p:nvSpPr>
        <p:spPr>
          <a:xfrm xmlns:a="http://schemas.openxmlformats.org/drawingml/2006/main">
            <a:off x="8972550" y="3143250"/>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756780"/>
                </a:solidFill>
                <a:latin typeface="Arial"/>
                <a:ea typeface="Arial"/>
                <a:cs typeface="Arial"/>
              </a:defRPr>
            </a:pPr>
            <a:r>
              <a:rPr sz="900" b="0">
                <a:solidFill>
                  <a:srgbClr val="756780"/>
                </a:solidFill>
                <a:latin typeface="Arial"/>
                <a:ea typeface="Arial"/>
                <a:cs typeface="Arial"/>
              </a:rPr>
              <a:t>Call screening, notification access and link assessment with permission</a:t>
            </a:r>
          </a:p>
        </p:txBody>
      </p:sp>
      <p:sp>
        <p:nvSpPr>
          <p:cNvPr id="16" name="">
            <a:extLst xmlns:a="http://schemas.openxmlformats.org/drawingml/2006/main">
              <a:ext uri="{FF2B5EF4-FFF2-40B4-BE49-F238E27FC236}">
                <a16:creationId xmlns:a16="http://schemas.microsoft.com/office/drawing/2014/main" id="{5F9390D8-E398-43CF-BCA7-54AE0594A6E5}"/>
              </a:ext>
            </a:extLst>
          </p:cNvPr>
          <p:cNvSpPr>
            <a:spLocks xmlns:a="http://schemas.openxmlformats.org/drawingml/2006/main" noGrp="1"/>
          </p:cNvSpPr>
          <p:nvPr/>
        </p:nvSpPr>
        <p:spPr>
          <a:xfrm xmlns:a="http://schemas.openxmlformats.org/drawingml/2006/main">
            <a:off x="6019800" y="3886200"/>
            <a:ext cx="2571750" cy="1390650"/>
          </a:xfrm>
          <a:prstGeom xmlns:a="http://schemas.openxmlformats.org/drawingml/2006/main" prst="roundRect">
            <a:avLst>
              <a:gd name="adj" fmla="val 5479"/>
            </a:avLst>
          </a:prstGeom>
          <a:solidFill xmlns:a="http://schemas.openxmlformats.org/drawingml/2006/main">
            <a:srgbClr val="F7F1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63FBA58-8E7C-44A3-BD99-A5E328141876}"/>
              </a:ext>
            </a:extLst>
          </p:cNvPr>
          <p:cNvSpPr>
            <a:spLocks xmlns:a="http://schemas.openxmlformats.org/drawingml/2006/main" noGrp="1"/>
          </p:cNvSpPr>
          <p:nvPr/>
        </p:nvSpPr>
        <p:spPr>
          <a:xfrm xmlns:a="http://schemas.openxmlformats.org/drawingml/2006/main">
            <a:off x="6191250" y="4057650"/>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6D22B7"/>
                </a:solidFill>
                <a:latin typeface="Arial"/>
                <a:ea typeface="Arial"/>
                <a:cs typeface="Arial"/>
              </a:defRPr>
            </a:pPr>
            <a:r>
              <a:rPr sz="1800" b="1">
                <a:solidFill>
                  <a:srgbClr val="6D22B7"/>
                </a:solidFill>
                <a:latin typeface="Arial"/>
                <a:ea typeface="Arial"/>
                <a:cs typeface="Arial"/>
              </a:rPr>
              <a:t>CONNECT</a:t>
            </a:r>
          </a:p>
        </p:txBody>
      </p:sp>
      <p:sp>
        <p:nvSpPr>
          <p:cNvPr id="18" name="">
            <a:extLst xmlns:a="http://schemas.openxmlformats.org/drawingml/2006/main">
              <a:ext uri="{FF2B5EF4-FFF2-40B4-BE49-F238E27FC236}">
                <a16:creationId xmlns:a16="http://schemas.microsoft.com/office/drawing/2014/main" id="{7A6B8EE2-24B6-42CF-8904-53DFEC443C44}"/>
              </a:ext>
            </a:extLst>
          </p:cNvPr>
          <p:cNvSpPr>
            <a:spLocks xmlns:a="http://schemas.openxmlformats.org/drawingml/2006/main" noGrp="1"/>
          </p:cNvSpPr>
          <p:nvPr/>
        </p:nvSpPr>
        <p:spPr>
          <a:xfrm xmlns:a="http://schemas.openxmlformats.org/drawingml/2006/main">
            <a:off x="6191250" y="4476750"/>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241539"/>
                </a:solidFill>
                <a:latin typeface="Arial"/>
                <a:ea typeface="Arial"/>
                <a:cs typeface="Arial"/>
              </a:defRPr>
            </a:pPr>
            <a:r>
              <a:rPr sz="1050" b="1">
                <a:solidFill>
                  <a:srgbClr val="241539"/>
                </a:solidFill>
                <a:latin typeface="Arial"/>
                <a:ea typeface="Arial"/>
                <a:cs typeface="Arial"/>
              </a:rPr>
              <a:t>Email and iOS</a:t>
            </a:r>
          </a:p>
        </p:txBody>
      </p:sp>
      <p:sp>
        <p:nvSpPr>
          <p:cNvPr id="19" name="">
            <a:extLst xmlns:a="http://schemas.openxmlformats.org/drawingml/2006/main">
              <a:ext uri="{FF2B5EF4-FFF2-40B4-BE49-F238E27FC236}">
                <a16:creationId xmlns:a16="http://schemas.microsoft.com/office/drawing/2014/main" id="{5587C40E-E2CC-49A4-BC2E-D7738B74845B}"/>
              </a:ext>
            </a:extLst>
          </p:cNvPr>
          <p:cNvSpPr>
            <a:spLocks xmlns:a="http://schemas.openxmlformats.org/drawingml/2006/main" noGrp="1"/>
          </p:cNvSpPr>
          <p:nvPr/>
        </p:nvSpPr>
        <p:spPr>
          <a:xfrm xmlns:a="http://schemas.openxmlformats.org/drawingml/2006/main">
            <a:off x="6191250" y="4762500"/>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756780"/>
                </a:solidFill>
                <a:latin typeface="Arial"/>
                <a:ea typeface="Arial"/>
                <a:cs typeface="Arial"/>
              </a:defRPr>
            </a:pPr>
            <a:r>
              <a:rPr sz="900" b="0">
                <a:solidFill>
                  <a:srgbClr val="756780"/>
                </a:solidFill>
                <a:latin typeface="Arial"/>
                <a:ea typeface="Arial"/>
                <a:cs typeface="Arial"/>
              </a:rPr>
              <a:t>Authorized email access plus iOS call and message extensions</a:t>
            </a:r>
          </a:p>
        </p:txBody>
      </p:sp>
      <p:sp>
        <p:nvSpPr>
          <p:cNvPr id="20" name="">
            <a:extLst xmlns:a="http://schemas.openxmlformats.org/drawingml/2006/main">
              <a:ext uri="{FF2B5EF4-FFF2-40B4-BE49-F238E27FC236}">
                <a16:creationId xmlns:a16="http://schemas.microsoft.com/office/drawing/2014/main" id="{EE79A988-55CA-46C7-AD14-CDCEDAC3BA2F}"/>
              </a:ext>
            </a:extLst>
          </p:cNvPr>
          <p:cNvSpPr>
            <a:spLocks xmlns:a="http://schemas.openxmlformats.org/drawingml/2006/main" noGrp="1"/>
          </p:cNvSpPr>
          <p:nvPr/>
        </p:nvSpPr>
        <p:spPr>
          <a:xfrm xmlns:a="http://schemas.openxmlformats.org/drawingml/2006/main">
            <a:off x="8801100" y="3886200"/>
            <a:ext cx="2571750" cy="1390650"/>
          </a:xfrm>
          <a:prstGeom xmlns:a="http://schemas.openxmlformats.org/drawingml/2006/main" prst="roundRect">
            <a:avLst>
              <a:gd name="adj" fmla="val 5479"/>
            </a:avLst>
          </a:prstGeom>
          <a:solidFill xmlns:a="http://schemas.openxmlformats.org/drawingml/2006/main">
            <a:srgbClr val="F7F1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B8BE86F-2F35-442F-A145-C5B8A0A76B5B}"/>
              </a:ext>
            </a:extLst>
          </p:cNvPr>
          <p:cNvSpPr>
            <a:spLocks xmlns:a="http://schemas.openxmlformats.org/drawingml/2006/main" noGrp="1"/>
          </p:cNvSpPr>
          <p:nvPr/>
        </p:nvSpPr>
        <p:spPr>
          <a:xfrm xmlns:a="http://schemas.openxmlformats.org/drawingml/2006/main">
            <a:off x="8972550" y="4057650"/>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6D22B7"/>
                </a:solidFill>
                <a:latin typeface="Arial"/>
                <a:ea typeface="Arial"/>
                <a:cs typeface="Arial"/>
              </a:defRPr>
            </a:pPr>
            <a:r>
              <a:rPr sz="1800" b="1">
                <a:solidFill>
                  <a:srgbClr val="6D22B7"/>
                </a:solidFill>
                <a:latin typeface="Arial"/>
                <a:ea typeface="Arial"/>
                <a:cs typeface="Arial"/>
              </a:rPr>
              <a:t>CONTROL</a:t>
            </a:r>
          </a:p>
        </p:txBody>
      </p:sp>
      <p:sp>
        <p:nvSpPr>
          <p:cNvPr id="22" name="">
            <a:extLst xmlns:a="http://schemas.openxmlformats.org/drawingml/2006/main">
              <a:ext uri="{FF2B5EF4-FFF2-40B4-BE49-F238E27FC236}">
                <a16:creationId xmlns:a16="http://schemas.microsoft.com/office/drawing/2014/main" id="{E2FA233F-14AB-4F86-B1A0-312E4635C644}"/>
              </a:ext>
            </a:extLst>
          </p:cNvPr>
          <p:cNvSpPr>
            <a:spLocks xmlns:a="http://schemas.openxmlformats.org/drawingml/2006/main" noGrp="1"/>
          </p:cNvSpPr>
          <p:nvPr/>
        </p:nvSpPr>
        <p:spPr>
          <a:xfrm xmlns:a="http://schemas.openxmlformats.org/drawingml/2006/main">
            <a:off x="8972550" y="4476750"/>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241539"/>
                </a:solidFill>
                <a:latin typeface="Arial"/>
                <a:ea typeface="Arial"/>
                <a:cs typeface="Arial"/>
              </a:defRPr>
            </a:pPr>
            <a:r>
              <a:rPr sz="1050" b="1">
                <a:solidFill>
                  <a:srgbClr val="241539"/>
                </a:solidFill>
                <a:latin typeface="Arial"/>
                <a:ea typeface="Arial"/>
                <a:cs typeface="Arial"/>
              </a:rPr>
              <a:t>Privacy by design</a:t>
            </a:r>
          </a:p>
        </p:txBody>
      </p:sp>
      <p:sp>
        <p:nvSpPr>
          <p:cNvPr id="23" name="">
            <a:extLst xmlns:a="http://schemas.openxmlformats.org/drawingml/2006/main">
              <a:ext uri="{FF2B5EF4-FFF2-40B4-BE49-F238E27FC236}">
                <a16:creationId xmlns:a16="http://schemas.microsoft.com/office/drawing/2014/main" id="{81AD90B3-220E-4CA5-AFAA-B2CFC03B2688}"/>
              </a:ext>
            </a:extLst>
          </p:cNvPr>
          <p:cNvSpPr>
            <a:spLocks xmlns:a="http://schemas.openxmlformats.org/drawingml/2006/main" noGrp="1"/>
          </p:cNvSpPr>
          <p:nvPr/>
        </p:nvSpPr>
        <p:spPr>
          <a:xfrm xmlns:a="http://schemas.openxmlformats.org/drawingml/2006/main">
            <a:off x="8972550" y="4762500"/>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756780"/>
                </a:solidFill>
                <a:latin typeface="Arial"/>
                <a:ea typeface="Arial"/>
                <a:cs typeface="Arial"/>
              </a:defRPr>
            </a:pPr>
            <a:r>
              <a:rPr sz="900" b="0">
                <a:solidFill>
                  <a:srgbClr val="756780"/>
                </a:solidFill>
                <a:latin typeface="Arial"/>
                <a:ea typeface="Arial"/>
                <a:cs typeface="Arial"/>
              </a:rPr>
              <a:t>Clear permissions, local processing choices and consented contributions</a:t>
            </a:r>
          </a:p>
        </p:txBody>
      </p:sp>
      <p:sp>
        <p:nvSpPr>
          <p:cNvPr id="24" name="">
            <a:extLst xmlns:a="http://schemas.openxmlformats.org/drawingml/2006/main">
              <a:ext uri="{FF2B5EF4-FFF2-40B4-BE49-F238E27FC236}">
                <a16:creationId xmlns:a16="http://schemas.microsoft.com/office/drawing/2014/main" id="{A60FED97-A665-47AA-B12A-39408C173ED4}"/>
              </a:ext>
            </a:extLst>
          </p:cNvPr>
          <p:cNvSpPr>
            <a:spLocks xmlns:a="http://schemas.openxmlformats.org/drawingml/2006/main" noGrp="1"/>
          </p:cNvSpPr>
          <p:nvPr/>
        </p:nvSpPr>
        <p:spPr>
          <a:xfrm xmlns:a="http://schemas.openxmlformats.org/drawingml/2006/main">
            <a:off x="6019800" y="5638800"/>
            <a:ext cx="5657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756780"/>
                </a:solidFill>
                <a:latin typeface="Arial"/>
                <a:ea typeface="Arial"/>
                <a:cs typeface="Arial"/>
              </a:defRPr>
            </a:pPr>
            <a:r>
              <a:rPr sz="975" b="0">
                <a:solidFill>
                  <a:srgbClr val="756780"/>
                </a:solidFill>
                <a:latin typeface="Arial"/>
                <a:ea typeface="Arial"/>
                <a:cs typeface="Arial"/>
              </a:rPr>
              <a:t>Current evidence proves the analysis workflow. Native integration, accuracy and user trust still require measured pilots.</a:t>
            </a:r>
          </a:p>
        </p:txBody>
      </p:sp>
      <p:sp>
        <p:nvSpPr>
          <p:cNvPr id="25" name="">
            <a:extLst xmlns:a="http://schemas.openxmlformats.org/drawingml/2006/main">
              <a:ext uri="{FF2B5EF4-FFF2-40B4-BE49-F238E27FC236}">
                <a16:creationId xmlns:a16="http://schemas.microsoft.com/office/drawing/2014/main" id="{DBB78F44-6F3A-4C55-AB42-D9140A7905D9}"/>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26" name="">
            <a:extLst xmlns:a="http://schemas.openxmlformats.org/drawingml/2006/main">
              <a:ext uri="{FF2B5EF4-FFF2-40B4-BE49-F238E27FC236}">
                <a16:creationId xmlns:a16="http://schemas.microsoft.com/office/drawing/2014/main" id="{618F431F-5507-4C94-B192-5D1B6DFC80CC}"/>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9A8DA5"/>
                </a:solidFill>
                <a:latin typeface="Arial"/>
                <a:ea typeface="Arial"/>
                <a:cs typeface="Arial"/>
              </a:defRPr>
            </a:pPr>
            <a:r>
              <a:rPr sz="750" b="0">
                <a:solidFill>
                  <a:srgbClr val="9A8DA5"/>
                </a:solidFill>
                <a:latin typeface="Arial"/>
                <a:ea typeface="Arial"/>
                <a:cs typeface="Arial"/>
              </a:rPr>
              <a:t>Guard - Ghana-first fraud prevention</a:t>
            </a:r>
          </a:p>
        </p:txBody>
      </p:sp>
      <p:sp>
        <p:nvSpPr>
          <p:cNvPr id="27" name="">
            <a:extLst xmlns:a="http://schemas.openxmlformats.org/drawingml/2006/main">
              <a:ext uri="{FF2B5EF4-FFF2-40B4-BE49-F238E27FC236}">
                <a16:creationId xmlns:a16="http://schemas.microsoft.com/office/drawing/2014/main" id="{C9C3DDC0-4A5E-4128-95E3-5F8AD039A453}"/>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D22B7"/>
                </a:solidFill>
                <a:latin typeface="Arial"/>
                <a:ea typeface="Arial"/>
                <a:cs typeface="Arial"/>
              </a:defRPr>
            </a:pPr>
            <a:r>
              <a:rPr sz="825" b="1">
                <a:solidFill>
                  <a:srgbClr val="6D22B7"/>
                </a:solidFill>
                <a:latin typeface="Arial"/>
                <a:ea typeface="Arial"/>
                <a:cs typeface="Arial"/>
              </a:rPr>
              <a:t>09</a:t>
            </a:r>
          </a:p>
        </p:txBody>
      </p:sp>
    </p:spTree>
    <p:extLst>
      <p:ext uri="{BB962C8B-B14F-4D97-AF65-F5344CB8AC3E}">
        <p14:creationId xmlns:p14="http://schemas.microsoft.com/office/powerpoint/2010/main" val="250170300"/>
      </p:ext>
    </p:extLst>
  </p:cSld>
</p:sld>
</file>

<file path=ppt/slides/slide10.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6EA501C-A450-43DD-897A-4ED58B5855CC}"/>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80A2E"/>
                </a:solidFill>
                <a:latin typeface="Arial"/>
                <a:ea typeface="Arial"/>
                <a:cs typeface="Arial"/>
              </a:defRPr>
            </a:pPr>
            <a:r>
              <a:rPr sz="1875" b="1">
                <a:solidFill>
                  <a:srgbClr val="180A2E"/>
                </a:solidFill>
                <a:latin typeface="Arial"/>
                <a:ea typeface="Arial"/>
                <a:cs typeface="Arial"/>
              </a:rPr>
              <a:t>Guard</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f62741bd3f34531"/>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783C47-A656-4F29-94B5-5B3420BB3DF0}"/>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A5508B-FC09-4052-A470-7D65CB8B7367}"/>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9828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2AFD73-D0DE-4ABC-9E80-47A390D4B5CB}"/>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D22B7"/>
                </a:solidFill>
                <a:latin typeface="Arial"/>
                <a:ea typeface="Arial"/>
                <a:cs typeface="Arial"/>
              </a:defRPr>
            </a:pPr>
            <a:r>
              <a:rPr sz="1050" b="1">
                <a:solidFill>
                  <a:srgbClr val="6D22B7"/>
                </a:solidFill>
                <a:latin typeface="Arial"/>
                <a:ea typeface="Arial"/>
                <a:cs typeface="Arial"/>
              </a:rPr>
              <a:t>ROADMAP</a:t>
            </a:r>
          </a:p>
        </p:txBody>
      </p:sp>
      <p:sp>
        <p:nvSpPr>
          <p:cNvPr id="6" name="">
            <a:extLst xmlns:a="http://schemas.openxmlformats.org/drawingml/2006/main">
              <a:ext uri="{FF2B5EF4-FFF2-40B4-BE49-F238E27FC236}">
                <a16:creationId xmlns:a16="http://schemas.microsoft.com/office/drawing/2014/main" id="{95017C58-1303-4747-9CF1-BF371E8C90E0}"/>
              </a:ext>
            </a:extLst>
          </p:cNvPr>
          <p:cNvSpPr>
            <a:spLocks xmlns:a="http://schemas.openxmlformats.org/drawingml/2006/main" noGrp="1"/>
          </p:cNvSpPr>
          <p:nvPr/>
        </p:nvSpPr>
        <p:spPr>
          <a:xfrm xmlns:a="http://schemas.openxmlformats.org/drawingml/2006/main">
            <a:off x="514350" y="12858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241539"/>
                </a:solidFill>
                <a:latin typeface="Arial"/>
                <a:ea typeface="Arial"/>
                <a:cs typeface="Arial"/>
              </a:defRPr>
            </a:pPr>
            <a:r>
              <a:rPr sz="2775" b="1">
                <a:solidFill>
                  <a:srgbClr val="241539"/>
                </a:solidFill>
                <a:latin typeface="Arial"/>
                <a:ea typeface="Arial"/>
                <a:cs typeface="Arial"/>
              </a:rPr>
              <a:t>The next 12 months move Guard into the user's daily digital life</a:t>
            </a:r>
          </a:p>
        </p:txBody>
      </p:sp>
      <p:sp>
        <p:nvSpPr>
          <p:cNvPr id="7" name="">
            <a:extLst xmlns:a="http://schemas.openxmlformats.org/drawingml/2006/main">
              <a:ext uri="{FF2B5EF4-FFF2-40B4-BE49-F238E27FC236}">
                <a16:creationId xmlns:a16="http://schemas.microsoft.com/office/drawing/2014/main" id="{08AC833C-1DC7-45C3-945B-0D0C9387327C}"/>
              </a:ext>
            </a:extLst>
          </p:cNvPr>
          <p:cNvSpPr>
            <a:spLocks xmlns:a="http://schemas.openxmlformats.org/drawingml/2006/main" noGrp="1"/>
          </p:cNvSpPr>
          <p:nvPr/>
        </p:nvSpPr>
        <p:spPr>
          <a:xfrm xmlns:a="http://schemas.openxmlformats.org/drawingml/2006/main">
            <a:off x="1200150" y="3028950"/>
            <a:ext cx="9810750" cy="0"/>
          </a:xfrm>
          <a:prstGeom xmlns:a="http://schemas.openxmlformats.org/drawingml/2006/main" prst="line">
            <a:avLst/>
          </a:prstGeom>
          <a:noFill xmlns:a="http://schemas.openxmlformats.org/drawingml/2006/main"/>
          <a:ln xmlns:a="http://schemas.openxmlformats.org/drawingml/2006/main" w="57150">
            <a:solidFill>
              <a:srgbClr val="E8E0EF"/>
            </a:solidFill>
          </a:ln>
        </p:spPr>
      </p:sp>
      <p:sp>
        <p:nvSpPr>
          <p:cNvPr id="8" name="">
            <a:extLst xmlns:a="http://schemas.openxmlformats.org/drawingml/2006/main">
              <a:ext uri="{FF2B5EF4-FFF2-40B4-BE49-F238E27FC236}">
                <a16:creationId xmlns:a16="http://schemas.microsoft.com/office/drawing/2014/main" id="{02453955-8AE6-43DE-B501-89159294F9B3}"/>
              </a:ext>
            </a:extLst>
          </p:cNvPr>
          <p:cNvSpPr>
            <a:spLocks xmlns:a="http://schemas.openxmlformats.org/drawingml/2006/main" noGrp="1"/>
          </p:cNvSpPr>
          <p:nvPr/>
        </p:nvSpPr>
        <p:spPr>
          <a:xfrm xmlns:a="http://schemas.openxmlformats.org/drawingml/2006/main">
            <a:off x="952500" y="2790825"/>
            <a:ext cx="323850" cy="323850"/>
          </a:xfrm>
          <a:prstGeom xmlns:a="http://schemas.openxmlformats.org/drawingml/2006/main" prst="roundRect">
            <a:avLst>
              <a:gd name="adj" fmla="val 23529"/>
            </a:avLst>
          </a:prstGeom>
          <a:solidFill xmlns:a="http://schemas.openxmlformats.org/drawingml/2006/main">
            <a:srgbClr val="FF7A1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1E80AB2-94A8-4E02-A5F1-DB29B2AA78C0}"/>
              </a:ext>
            </a:extLst>
          </p:cNvPr>
          <p:cNvSpPr>
            <a:spLocks xmlns:a="http://schemas.openxmlformats.org/drawingml/2006/main" noGrp="1"/>
          </p:cNvSpPr>
          <p:nvPr/>
        </p:nvSpPr>
        <p:spPr>
          <a:xfrm xmlns:a="http://schemas.openxmlformats.org/drawingml/2006/main">
            <a:off x="952500" y="2867025"/>
            <a:ext cx="323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66C880C3-A6D0-4A91-A127-9A64BF45EA3C}"/>
              </a:ext>
            </a:extLst>
          </p:cNvPr>
          <p:cNvSpPr>
            <a:spLocks xmlns:a="http://schemas.openxmlformats.org/drawingml/2006/main" noGrp="1"/>
          </p:cNvSpPr>
          <p:nvPr/>
        </p:nvSpPr>
        <p:spPr>
          <a:xfrm xmlns:a="http://schemas.openxmlformats.org/drawingml/2006/main">
            <a:off x="552450" y="338137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FF7A18"/>
                </a:solidFill>
                <a:latin typeface="Arial"/>
                <a:ea typeface="Arial"/>
                <a:cs typeface="Arial"/>
              </a:defRPr>
            </a:pPr>
            <a:r>
              <a:rPr sz="825" b="1">
                <a:solidFill>
                  <a:srgbClr val="FF7A18"/>
                </a:solidFill>
                <a:latin typeface="Arial"/>
                <a:ea typeface="Arial"/>
                <a:cs typeface="Arial"/>
              </a:rPr>
              <a:t>0-3 MONTHS</a:t>
            </a:r>
          </a:p>
        </p:txBody>
      </p:sp>
      <p:sp>
        <p:nvSpPr>
          <p:cNvPr id="11" name="">
            <a:extLst xmlns:a="http://schemas.openxmlformats.org/drawingml/2006/main">
              <a:ext uri="{FF2B5EF4-FFF2-40B4-BE49-F238E27FC236}">
                <a16:creationId xmlns:a16="http://schemas.microsoft.com/office/drawing/2014/main" id="{E503AA11-4716-41AC-AE8D-C71CE2036D72}"/>
              </a:ext>
            </a:extLst>
          </p:cNvPr>
          <p:cNvSpPr>
            <a:spLocks xmlns:a="http://schemas.openxmlformats.org/drawingml/2006/main" noGrp="1"/>
          </p:cNvSpPr>
          <p:nvPr/>
        </p:nvSpPr>
        <p:spPr>
          <a:xfrm xmlns:a="http://schemas.openxmlformats.org/drawingml/2006/main">
            <a:off x="552450" y="3714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41539"/>
                </a:solidFill>
                <a:latin typeface="Arial"/>
                <a:ea typeface="Arial"/>
                <a:cs typeface="Arial"/>
              </a:defRPr>
            </a:pPr>
            <a:r>
              <a:rPr sz="2025" b="1">
                <a:solidFill>
                  <a:srgbClr val="241539"/>
                </a:solidFill>
                <a:latin typeface="Arial"/>
                <a:ea typeface="Arial"/>
                <a:cs typeface="Arial"/>
              </a:rPr>
              <a:t>Android</a:t>
            </a:r>
          </a:p>
        </p:txBody>
      </p:sp>
      <p:sp>
        <p:nvSpPr>
          <p:cNvPr id="12" name="">
            <a:extLst xmlns:a="http://schemas.openxmlformats.org/drawingml/2006/main">
              <a:ext uri="{FF2B5EF4-FFF2-40B4-BE49-F238E27FC236}">
                <a16:creationId xmlns:a16="http://schemas.microsoft.com/office/drawing/2014/main" id="{875D1D7F-D3CE-469F-9171-F9D6B3BFCD51}"/>
              </a:ext>
            </a:extLst>
          </p:cNvPr>
          <p:cNvSpPr>
            <a:spLocks xmlns:a="http://schemas.openxmlformats.org/drawingml/2006/main" noGrp="1"/>
          </p:cNvSpPr>
          <p:nvPr/>
        </p:nvSpPr>
        <p:spPr>
          <a:xfrm xmlns:a="http://schemas.openxmlformats.org/drawingml/2006/main">
            <a:off x="552450" y="4238625"/>
            <a:ext cx="238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756780"/>
                </a:solidFill>
                <a:latin typeface="Arial"/>
                <a:ea typeface="Arial"/>
                <a:cs typeface="Arial"/>
              </a:defRPr>
            </a:pPr>
            <a:r>
              <a:rPr sz="1125" b="0">
                <a:solidFill>
                  <a:srgbClr val="756780"/>
                </a:solidFill>
                <a:latin typeface="Arial"/>
                <a:ea typeface="Arial"/>
                <a:cs typeface="Arial"/>
              </a:rPr>
              <a:t>Call screening, notification access, link checks and permission controls</a:t>
            </a:r>
          </a:p>
        </p:txBody>
      </p:sp>
      <p:sp>
        <p:nvSpPr>
          <p:cNvPr id="13" name="">
            <a:extLst xmlns:a="http://schemas.openxmlformats.org/drawingml/2006/main">
              <a:ext uri="{FF2B5EF4-FFF2-40B4-BE49-F238E27FC236}">
                <a16:creationId xmlns:a16="http://schemas.microsoft.com/office/drawing/2014/main" id="{37F1C907-6638-4CBA-A7A6-6A8AEF01CC5F}"/>
              </a:ext>
            </a:extLst>
          </p:cNvPr>
          <p:cNvSpPr>
            <a:spLocks xmlns:a="http://schemas.openxmlformats.org/drawingml/2006/main" noGrp="1"/>
          </p:cNvSpPr>
          <p:nvPr/>
        </p:nvSpPr>
        <p:spPr>
          <a:xfrm xmlns:a="http://schemas.openxmlformats.org/drawingml/2006/main">
            <a:off x="3752850" y="2790825"/>
            <a:ext cx="323850" cy="323850"/>
          </a:xfrm>
          <a:prstGeom xmlns:a="http://schemas.openxmlformats.org/drawingml/2006/main" prst="roundRect">
            <a:avLst>
              <a:gd name="adj" fmla="val 23529"/>
            </a:avLst>
          </a:prstGeom>
          <a:solidFill xmlns:a="http://schemas.openxmlformats.org/drawingml/2006/main">
            <a:srgbClr val="6D22B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0B2F22-5C72-47E4-B2F4-2FD172F876F8}"/>
              </a:ext>
            </a:extLst>
          </p:cNvPr>
          <p:cNvSpPr>
            <a:spLocks xmlns:a="http://schemas.openxmlformats.org/drawingml/2006/main" noGrp="1"/>
          </p:cNvSpPr>
          <p:nvPr/>
        </p:nvSpPr>
        <p:spPr>
          <a:xfrm xmlns:a="http://schemas.openxmlformats.org/drawingml/2006/main">
            <a:off x="3752850" y="2867025"/>
            <a:ext cx="323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2F7B7099-5937-4DB8-801E-6E551D280347}"/>
              </a:ext>
            </a:extLst>
          </p:cNvPr>
          <p:cNvSpPr>
            <a:spLocks xmlns:a="http://schemas.openxmlformats.org/drawingml/2006/main" noGrp="1"/>
          </p:cNvSpPr>
          <p:nvPr/>
        </p:nvSpPr>
        <p:spPr>
          <a:xfrm xmlns:a="http://schemas.openxmlformats.org/drawingml/2006/main">
            <a:off x="3352800" y="338137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FF7A18"/>
                </a:solidFill>
                <a:latin typeface="Arial"/>
                <a:ea typeface="Arial"/>
                <a:cs typeface="Arial"/>
              </a:defRPr>
            </a:pPr>
            <a:r>
              <a:rPr sz="825" b="1">
                <a:solidFill>
                  <a:srgbClr val="FF7A18"/>
                </a:solidFill>
                <a:latin typeface="Arial"/>
                <a:ea typeface="Arial"/>
                <a:cs typeface="Arial"/>
              </a:rPr>
              <a:t>3-6 MONTHS</a:t>
            </a:r>
          </a:p>
        </p:txBody>
      </p:sp>
      <p:sp>
        <p:nvSpPr>
          <p:cNvPr id="16" name="">
            <a:extLst xmlns:a="http://schemas.openxmlformats.org/drawingml/2006/main">
              <a:ext uri="{FF2B5EF4-FFF2-40B4-BE49-F238E27FC236}">
                <a16:creationId xmlns:a16="http://schemas.microsoft.com/office/drawing/2014/main" id="{7A9C2DA1-19FF-4E24-B8ED-4C3B7401E108}"/>
              </a:ext>
            </a:extLst>
          </p:cNvPr>
          <p:cNvSpPr>
            <a:spLocks xmlns:a="http://schemas.openxmlformats.org/drawingml/2006/main" noGrp="1"/>
          </p:cNvSpPr>
          <p:nvPr/>
        </p:nvSpPr>
        <p:spPr>
          <a:xfrm xmlns:a="http://schemas.openxmlformats.org/drawingml/2006/main">
            <a:off x="3352800" y="3714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41539"/>
                </a:solidFill>
                <a:latin typeface="Arial"/>
                <a:ea typeface="Arial"/>
                <a:cs typeface="Arial"/>
              </a:defRPr>
            </a:pPr>
            <a:r>
              <a:rPr sz="2025" b="1">
                <a:solidFill>
                  <a:srgbClr val="241539"/>
                </a:solidFill>
                <a:latin typeface="Arial"/>
                <a:ea typeface="Arial"/>
                <a:cs typeface="Arial"/>
              </a:rPr>
              <a:t>Email</a:t>
            </a:r>
          </a:p>
        </p:txBody>
      </p:sp>
      <p:sp>
        <p:nvSpPr>
          <p:cNvPr id="17" name="">
            <a:extLst xmlns:a="http://schemas.openxmlformats.org/drawingml/2006/main">
              <a:ext uri="{FF2B5EF4-FFF2-40B4-BE49-F238E27FC236}">
                <a16:creationId xmlns:a16="http://schemas.microsoft.com/office/drawing/2014/main" id="{DCCD2B40-89F3-4B3E-8F99-F6E93F889D4A}"/>
              </a:ext>
            </a:extLst>
          </p:cNvPr>
          <p:cNvSpPr>
            <a:spLocks xmlns:a="http://schemas.openxmlformats.org/drawingml/2006/main" noGrp="1"/>
          </p:cNvSpPr>
          <p:nvPr/>
        </p:nvSpPr>
        <p:spPr>
          <a:xfrm xmlns:a="http://schemas.openxmlformats.org/drawingml/2006/main">
            <a:off x="3352800" y="4238625"/>
            <a:ext cx="238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756780"/>
                </a:solidFill>
                <a:latin typeface="Arial"/>
                <a:ea typeface="Arial"/>
                <a:cs typeface="Arial"/>
              </a:defRPr>
            </a:pPr>
            <a:r>
              <a:rPr sz="1125" b="0">
                <a:solidFill>
                  <a:srgbClr val="756780"/>
                </a:solidFill>
                <a:latin typeface="Arial"/>
                <a:ea typeface="Arial"/>
                <a:cs typeface="Arial"/>
              </a:rPr>
              <a:t>Authorized Gmail connection and measured consumer pilots</a:t>
            </a:r>
          </a:p>
        </p:txBody>
      </p:sp>
      <p:sp>
        <p:nvSpPr>
          <p:cNvPr id="18" name="">
            <a:extLst xmlns:a="http://schemas.openxmlformats.org/drawingml/2006/main">
              <a:ext uri="{FF2B5EF4-FFF2-40B4-BE49-F238E27FC236}">
                <a16:creationId xmlns:a16="http://schemas.microsoft.com/office/drawing/2014/main" id="{F4F34B6E-1229-4F85-9119-C191AC5D3DEA}"/>
              </a:ext>
            </a:extLst>
          </p:cNvPr>
          <p:cNvSpPr>
            <a:spLocks xmlns:a="http://schemas.openxmlformats.org/drawingml/2006/main" noGrp="1"/>
          </p:cNvSpPr>
          <p:nvPr/>
        </p:nvSpPr>
        <p:spPr>
          <a:xfrm xmlns:a="http://schemas.openxmlformats.org/drawingml/2006/main">
            <a:off x="6553200" y="2790825"/>
            <a:ext cx="323850" cy="323850"/>
          </a:xfrm>
          <a:prstGeom xmlns:a="http://schemas.openxmlformats.org/drawingml/2006/main" prst="roundRect">
            <a:avLst>
              <a:gd name="adj" fmla="val 23529"/>
            </a:avLst>
          </a:prstGeom>
          <a:solidFill xmlns:a="http://schemas.openxmlformats.org/drawingml/2006/main">
            <a:srgbClr val="6D22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4CECC6A-2448-48D5-BC9C-AB1B89771F62}"/>
              </a:ext>
            </a:extLst>
          </p:cNvPr>
          <p:cNvSpPr>
            <a:spLocks xmlns:a="http://schemas.openxmlformats.org/drawingml/2006/main" noGrp="1"/>
          </p:cNvSpPr>
          <p:nvPr/>
        </p:nvSpPr>
        <p:spPr>
          <a:xfrm xmlns:a="http://schemas.openxmlformats.org/drawingml/2006/main">
            <a:off x="6553200" y="2867025"/>
            <a:ext cx="323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D5D2F878-B65B-4F9B-9345-FCB8D1ADAF28}"/>
              </a:ext>
            </a:extLst>
          </p:cNvPr>
          <p:cNvSpPr>
            <a:spLocks xmlns:a="http://schemas.openxmlformats.org/drawingml/2006/main" noGrp="1"/>
          </p:cNvSpPr>
          <p:nvPr/>
        </p:nvSpPr>
        <p:spPr>
          <a:xfrm xmlns:a="http://schemas.openxmlformats.org/drawingml/2006/main">
            <a:off x="6153150" y="338137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FF7A18"/>
                </a:solidFill>
                <a:latin typeface="Arial"/>
                <a:ea typeface="Arial"/>
                <a:cs typeface="Arial"/>
              </a:defRPr>
            </a:pPr>
            <a:r>
              <a:rPr sz="825" b="1">
                <a:solidFill>
                  <a:srgbClr val="FF7A18"/>
                </a:solidFill>
                <a:latin typeface="Arial"/>
                <a:ea typeface="Arial"/>
                <a:cs typeface="Arial"/>
              </a:rPr>
              <a:t>6-9 MONTHS</a:t>
            </a:r>
          </a:p>
        </p:txBody>
      </p:sp>
      <p:sp>
        <p:nvSpPr>
          <p:cNvPr id="21" name="">
            <a:extLst xmlns:a="http://schemas.openxmlformats.org/drawingml/2006/main">
              <a:ext uri="{FF2B5EF4-FFF2-40B4-BE49-F238E27FC236}">
                <a16:creationId xmlns:a16="http://schemas.microsoft.com/office/drawing/2014/main" id="{C221D214-CE7A-4466-8260-310BBD9FDD0E}"/>
              </a:ext>
            </a:extLst>
          </p:cNvPr>
          <p:cNvSpPr>
            <a:spLocks xmlns:a="http://schemas.openxmlformats.org/drawingml/2006/main" noGrp="1"/>
          </p:cNvSpPr>
          <p:nvPr/>
        </p:nvSpPr>
        <p:spPr>
          <a:xfrm xmlns:a="http://schemas.openxmlformats.org/drawingml/2006/main">
            <a:off x="6153150" y="3714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41539"/>
                </a:solidFill>
                <a:latin typeface="Arial"/>
                <a:ea typeface="Arial"/>
                <a:cs typeface="Arial"/>
              </a:defRPr>
            </a:pPr>
            <a:r>
              <a:rPr sz="2025" b="1">
                <a:solidFill>
                  <a:srgbClr val="241539"/>
                </a:solidFill>
                <a:latin typeface="Arial"/>
                <a:ea typeface="Arial"/>
                <a:cs typeface="Arial"/>
              </a:rPr>
              <a:t>iOS</a:t>
            </a:r>
          </a:p>
        </p:txBody>
      </p:sp>
      <p:sp>
        <p:nvSpPr>
          <p:cNvPr id="22" name="">
            <a:extLst xmlns:a="http://schemas.openxmlformats.org/drawingml/2006/main">
              <a:ext uri="{FF2B5EF4-FFF2-40B4-BE49-F238E27FC236}">
                <a16:creationId xmlns:a16="http://schemas.microsoft.com/office/drawing/2014/main" id="{06D14EBB-EE57-4B5C-94A8-C098A26D19E8}"/>
              </a:ext>
            </a:extLst>
          </p:cNvPr>
          <p:cNvSpPr>
            <a:spLocks xmlns:a="http://schemas.openxmlformats.org/drawingml/2006/main" noGrp="1"/>
          </p:cNvSpPr>
          <p:nvPr/>
        </p:nvSpPr>
        <p:spPr>
          <a:xfrm xmlns:a="http://schemas.openxmlformats.org/drawingml/2006/main">
            <a:off x="6153150" y="4238625"/>
            <a:ext cx="238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756780"/>
                </a:solidFill>
                <a:latin typeface="Arial"/>
                <a:ea typeface="Arial"/>
                <a:cs typeface="Arial"/>
              </a:defRPr>
            </a:pPr>
            <a:r>
              <a:rPr sz="1125" b="0">
                <a:solidFill>
                  <a:srgbClr val="756780"/>
                </a:solidFill>
                <a:latin typeface="Arial"/>
                <a:ea typeface="Arial"/>
                <a:cs typeface="Arial"/>
              </a:rPr>
              <a:t>Call identification, SMS filtering and share-based link checks</a:t>
            </a:r>
          </a:p>
        </p:txBody>
      </p:sp>
      <p:sp>
        <p:nvSpPr>
          <p:cNvPr id="23" name="">
            <a:extLst xmlns:a="http://schemas.openxmlformats.org/drawingml/2006/main">
              <a:ext uri="{FF2B5EF4-FFF2-40B4-BE49-F238E27FC236}">
                <a16:creationId xmlns:a16="http://schemas.microsoft.com/office/drawing/2014/main" id="{25225C95-B0DB-4130-9051-20B8677FE0E6}"/>
              </a:ext>
            </a:extLst>
          </p:cNvPr>
          <p:cNvSpPr>
            <a:spLocks xmlns:a="http://schemas.openxmlformats.org/drawingml/2006/main" noGrp="1"/>
          </p:cNvSpPr>
          <p:nvPr/>
        </p:nvSpPr>
        <p:spPr>
          <a:xfrm xmlns:a="http://schemas.openxmlformats.org/drawingml/2006/main">
            <a:off x="9353550" y="2790825"/>
            <a:ext cx="323850" cy="323850"/>
          </a:xfrm>
          <a:prstGeom xmlns:a="http://schemas.openxmlformats.org/drawingml/2006/main" prst="roundRect">
            <a:avLst>
              <a:gd name="adj" fmla="val 23529"/>
            </a:avLst>
          </a:prstGeom>
          <a:solidFill xmlns:a="http://schemas.openxmlformats.org/drawingml/2006/main">
            <a:srgbClr val="6D22B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3458F60-D6F0-4E1B-9F1B-C1CEFA2A1F5C}"/>
              </a:ext>
            </a:extLst>
          </p:cNvPr>
          <p:cNvSpPr>
            <a:spLocks xmlns:a="http://schemas.openxmlformats.org/drawingml/2006/main" noGrp="1"/>
          </p:cNvSpPr>
          <p:nvPr/>
        </p:nvSpPr>
        <p:spPr>
          <a:xfrm xmlns:a="http://schemas.openxmlformats.org/drawingml/2006/main">
            <a:off x="9353550" y="2867025"/>
            <a:ext cx="323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DE3A57D0-1607-4279-80F4-C4BB77117584}"/>
              </a:ext>
            </a:extLst>
          </p:cNvPr>
          <p:cNvSpPr>
            <a:spLocks xmlns:a="http://schemas.openxmlformats.org/drawingml/2006/main" noGrp="1"/>
          </p:cNvSpPr>
          <p:nvPr/>
        </p:nvSpPr>
        <p:spPr>
          <a:xfrm xmlns:a="http://schemas.openxmlformats.org/drawingml/2006/main">
            <a:off x="8953500" y="338137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FF7A18"/>
                </a:solidFill>
                <a:latin typeface="Arial"/>
                <a:ea typeface="Arial"/>
                <a:cs typeface="Arial"/>
              </a:defRPr>
            </a:pPr>
            <a:r>
              <a:rPr sz="825" b="1">
                <a:solidFill>
                  <a:srgbClr val="FF7A18"/>
                </a:solidFill>
                <a:latin typeface="Arial"/>
                <a:ea typeface="Arial"/>
                <a:cs typeface="Arial"/>
              </a:rPr>
              <a:t>9-12 MONTHS</a:t>
            </a:r>
          </a:p>
        </p:txBody>
      </p:sp>
      <p:sp>
        <p:nvSpPr>
          <p:cNvPr id="26" name="">
            <a:extLst xmlns:a="http://schemas.openxmlformats.org/drawingml/2006/main">
              <a:ext uri="{FF2B5EF4-FFF2-40B4-BE49-F238E27FC236}">
                <a16:creationId xmlns:a16="http://schemas.microsoft.com/office/drawing/2014/main" id="{0CD505B5-634F-40CE-9D7D-DC3CF333162F}"/>
              </a:ext>
            </a:extLst>
          </p:cNvPr>
          <p:cNvSpPr>
            <a:spLocks xmlns:a="http://schemas.openxmlformats.org/drawingml/2006/main" noGrp="1"/>
          </p:cNvSpPr>
          <p:nvPr/>
        </p:nvSpPr>
        <p:spPr>
          <a:xfrm xmlns:a="http://schemas.openxmlformats.org/drawingml/2006/main">
            <a:off x="8953500" y="3714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41539"/>
                </a:solidFill>
                <a:latin typeface="Arial"/>
                <a:ea typeface="Arial"/>
                <a:cs typeface="Arial"/>
              </a:defRPr>
            </a:pPr>
            <a:r>
              <a:rPr sz="2025" b="1">
                <a:solidFill>
                  <a:srgbClr val="241539"/>
                </a:solidFill>
                <a:latin typeface="Arial"/>
                <a:ea typeface="Arial"/>
                <a:cs typeface="Arial"/>
              </a:rPr>
              <a:t>Partners</a:t>
            </a:r>
          </a:p>
        </p:txBody>
      </p:sp>
      <p:sp>
        <p:nvSpPr>
          <p:cNvPr id="27" name="">
            <a:extLst xmlns:a="http://schemas.openxmlformats.org/drawingml/2006/main">
              <a:ext uri="{FF2B5EF4-FFF2-40B4-BE49-F238E27FC236}">
                <a16:creationId xmlns:a16="http://schemas.microsoft.com/office/drawing/2014/main" id="{51B10114-3D0E-413D-BA76-47705B8BFBE0}"/>
              </a:ext>
            </a:extLst>
          </p:cNvPr>
          <p:cNvSpPr>
            <a:spLocks xmlns:a="http://schemas.openxmlformats.org/drawingml/2006/main" noGrp="1"/>
          </p:cNvSpPr>
          <p:nvPr/>
        </p:nvSpPr>
        <p:spPr>
          <a:xfrm xmlns:a="http://schemas.openxmlformats.org/drawingml/2006/main">
            <a:off x="8953500" y="4238625"/>
            <a:ext cx="238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756780"/>
                </a:solidFill>
                <a:latin typeface="Arial"/>
                <a:ea typeface="Arial"/>
                <a:cs typeface="Arial"/>
              </a:defRPr>
            </a:pPr>
            <a:r>
              <a:rPr sz="1125" b="0">
                <a:solidFill>
                  <a:srgbClr val="756780"/>
                </a:solidFill>
                <a:latin typeface="Arial"/>
                <a:ea typeface="Arial"/>
                <a:cs typeface="Arial"/>
              </a:rPr>
              <a:t>Telecom and financial distribution with moderated local intelligence</a:t>
            </a:r>
          </a:p>
        </p:txBody>
      </p:sp>
      <p:sp>
        <p:nvSpPr>
          <p:cNvPr id="28" name="">
            <a:extLst xmlns:a="http://schemas.openxmlformats.org/drawingml/2006/main">
              <a:ext uri="{FF2B5EF4-FFF2-40B4-BE49-F238E27FC236}">
                <a16:creationId xmlns:a16="http://schemas.microsoft.com/office/drawing/2014/main" id="{32FD5B94-3551-47F6-847D-4E348F15BCDD}"/>
              </a:ext>
            </a:extLst>
          </p:cNvPr>
          <p:cNvSpPr>
            <a:spLocks xmlns:a="http://schemas.openxmlformats.org/drawingml/2006/main" noGrp="1"/>
          </p:cNvSpPr>
          <p:nvPr/>
        </p:nvSpPr>
        <p:spPr>
          <a:xfrm xmlns:a="http://schemas.openxmlformats.org/drawingml/2006/main">
            <a:off x="552450" y="5562600"/>
            <a:ext cx="11125200" cy="476250"/>
          </a:xfrm>
          <a:prstGeom xmlns:a="http://schemas.openxmlformats.org/drawingml/2006/main" prst="roundRect">
            <a:avLst>
              <a:gd name="adj" fmla="val 16000"/>
            </a:avLst>
          </a:prstGeom>
          <a:solidFill xmlns:a="http://schemas.openxmlformats.org/drawingml/2006/main">
            <a:srgbClr val="180A2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1402569-A2FA-4B9F-BDF5-7F3CAE8B328F}"/>
              </a:ext>
            </a:extLst>
          </p:cNvPr>
          <p:cNvSpPr>
            <a:spLocks xmlns:a="http://schemas.openxmlformats.org/drawingml/2006/main" noGrp="1"/>
          </p:cNvSpPr>
          <p:nvPr/>
        </p:nvSpPr>
        <p:spPr>
          <a:xfrm xmlns:a="http://schemas.openxmlformats.org/drawingml/2006/main">
            <a:off x="762000" y="5705475"/>
            <a:ext cx="10706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Success gate: useful warnings, measured false-positive rates and permissions users understand and trust.</a:t>
            </a:r>
          </a:p>
        </p:txBody>
      </p:sp>
      <p:sp>
        <p:nvSpPr>
          <p:cNvPr id="30" name="">
            <a:extLst xmlns:a="http://schemas.openxmlformats.org/drawingml/2006/main">
              <a:ext uri="{FF2B5EF4-FFF2-40B4-BE49-F238E27FC236}">
                <a16:creationId xmlns:a16="http://schemas.microsoft.com/office/drawing/2014/main" id="{1C616022-CC11-43BA-84A1-ED7710F5C2F0}"/>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E8E0EF"/>
            </a:solidFill>
          </a:ln>
        </p:spPr>
      </p:sp>
      <p:sp>
        <p:nvSpPr>
          <p:cNvPr id="31" name="">
            <a:extLst xmlns:a="http://schemas.openxmlformats.org/drawingml/2006/main">
              <a:ext uri="{FF2B5EF4-FFF2-40B4-BE49-F238E27FC236}">
                <a16:creationId xmlns:a16="http://schemas.microsoft.com/office/drawing/2014/main" id="{84582B6D-BEE3-47D6-AF4D-92A539D93622}"/>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9A8DA5"/>
                </a:solidFill>
                <a:latin typeface="Arial"/>
                <a:ea typeface="Arial"/>
                <a:cs typeface="Arial"/>
              </a:defRPr>
            </a:pPr>
            <a:r>
              <a:rPr sz="750" b="0">
                <a:solidFill>
                  <a:srgbClr val="9A8DA5"/>
                </a:solidFill>
                <a:latin typeface="Arial"/>
                <a:ea typeface="Arial"/>
                <a:cs typeface="Arial"/>
              </a:rPr>
              <a:t>Guard - Ghana-first fraud prevention</a:t>
            </a:r>
          </a:p>
        </p:txBody>
      </p:sp>
      <p:sp>
        <p:nvSpPr>
          <p:cNvPr id="32" name="">
            <a:extLst xmlns:a="http://schemas.openxmlformats.org/drawingml/2006/main">
              <a:ext uri="{FF2B5EF4-FFF2-40B4-BE49-F238E27FC236}">
                <a16:creationId xmlns:a16="http://schemas.microsoft.com/office/drawing/2014/main" id="{0AA5590B-0FB2-4A04-A3C1-E4079A78E1EB}"/>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D22B7"/>
                </a:solidFill>
                <a:latin typeface="Arial"/>
                <a:ea typeface="Arial"/>
                <a:cs typeface="Arial"/>
              </a:defRPr>
            </a:pPr>
            <a:r>
              <a:rPr sz="825" b="1">
                <a:solidFill>
                  <a:srgbClr val="6D22B7"/>
                </a:solidFill>
                <a:latin typeface="Arial"/>
                <a:ea typeface="Arial"/>
                <a:cs typeface="Arial"/>
              </a:rPr>
              <a:t>10</a:t>
            </a:r>
          </a:p>
        </p:txBody>
      </p:sp>
    </p:spTree>
    <p:extLst>
      <p:ext uri="{BB962C8B-B14F-4D97-AF65-F5344CB8AC3E}">
        <p14:creationId xmlns:p14="http://schemas.microsoft.com/office/powerpoint/2010/main" val="1118553686"/>
      </p:ext>
    </p:extLst>
  </p:cSld>
</p:sld>
</file>

<file path=ppt/slides/slide11.xml><?xml version="1.0" encoding="utf-8"?>
<p:sld xmlns:p="http://schemas.openxmlformats.org/presentationml/2006/main">
  <p:cSld>
    <p:bg>
      <p:bgPr>
        <a:solidFill xmlns:a="http://schemas.openxmlformats.org/drawingml/2006/main">
          <a:srgbClr val="180A2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A67F4BE-0B46-4E48-84B2-06BF410C4E88}"/>
              </a:ext>
            </a:extLst>
          </p:cNvPr>
          <p:cNvSpPr>
            <a:spLocks xmlns:a="http://schemas.openxmlformats.org/drawingml/2006/main" noGrp="1"/>
          </p:cNvSpPr>
          <p:nvPr/>
        </p:nvSpPr>
        <p:spPr>
          <a:xfrm xmlns:a="http://schemas.openxmlformats.org/drawingml/2006/main">
            <a:off x="962025" y="352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Guard</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769bc13ae9d4556"/>
          <a:stretch xmlns:a="http://schemas.openxmlformats.org/drawingml/2006/main"/>
        </p:blipFill>
        <p:spPr>
          <a:xfrm xmlns:a="http://schemas.openxmlformats.org/drawingml/2006/main">
            <a:off x="514847" y="323850"/>
            <a:ext cx="380005"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01E862-3877-4E65-95D0-9F106B675E41}"/>
              </a:ext>
            </a:extLst>
          </p:cNvPr>
          <p:cNvSpPr>
            <a:spLocks xmlns:a="http://schemas.openxmlformats.org/drawingml/2006/main" noGrp="1"/>
          </p:cNvSpPr>
          <p:nvPr/>
        </p:nvSpPr>
        <p:spPr>
          <a:xfrm xmlns:a="http://schemas.openxmlformats.org/drawingml/2006/main">
            <a:off x="514350" y="800100"/>
            <a:ext cx="647700" cy="47625"/>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F4A8E4-6853-485D-ADBA-D2B425970A4B}"/>
              </a:ext>
            </a:extLst>
          </p:cNvPr>
          <p:cNvSpPr>
            <a:spLocks xmlns:a="http://schemas.openxmlformats.org/drawingml/2006/main" noGrp="1"/>
          </p:cNvSpPr>
          <p:nvPr/>
        </p:nvSpPr>
        <p:spPr>
          <a:xfrm xmlns:a="http://schemas.openxmlformats.org/drawingml/2006/main">
            <a:off x="1162050" y="800100"/>
            <a:ext cx="857250" cy="47625"/>
          </a:xfrm>
          <a:prstGeom xmlns:a="http://schemas.openxmlformats.org/drawingml/2006/main" prst="rect">
            <a:avLst/>
          </a:prstGeom>
          <a:solidFill xmlns:a="http://schemas.openxmlformats.org/drawingml/2006/main">
            <a:srgbClr val="6D22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10F6AF-6CC0-406E-B802-191CC488D9F7}"/>
              </a:ext>
            </a:extLst>
          </p:cNvPr>
          <p:cNvSpPr>
            <a:spLocks xmlns:a="http://schemas.openxmlformats.org/drawingml/2006/main" noGrp="1"/>
          </p:cNvSpPr>
          <p:nvPr/>
        </p:nvSpPr>
        <p:spPr>
          <a:xfrm xmlns:a="http://schemas.openxmlformats.org/drawingml/2006/main">
            <a:off x="514350" y="9906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B52E"/>
                </a:solidFill>
                <a:latin typeface="Arial"/>
                <a:ea typeface="Arial"/>
                <a:cs typeface="Arial"/>
              </a:defRPr>
            </a:pPr>
            <a:r>
              <a:rPr sz="1050" b="1">
                <a:solidFill>
                  <a:srgbClr val="FFB52E"/>
                </a:solidFill>
                <a:latin typeface="Arial"/>
                <a:ea typeface="Arial"/>
                <a:cs typeface="Arial"/>
              </a:rPr>
              <a:t>TEAM AND ASK</a:t>
            </a:r>
          </a:p>
        </p:txBody>
      </p:sp>
      <p:sp>
        <p:nvSpPr>
          <p:cNvPr id="6" name="">
            <a:extLst xmlns:a="http://schemas.openxmlformats.org/drawingml/2006/main">
              <a:ext uri="{FF2B5EF4-FFF2-40B4-BE49-F238E27FC236}">
                <a16:creationId xmlns:a16="http://schemas.microsoft.com/office/drawing/2014/main" id="{78E05046-7EF7-4292-AB1D-C09FC6D6B35F}"/>
              </a:ext>
            </a:extLst>
          </p:cNvPr>
          <p:cNvSpPr>
            <a:spLocks xmlns:a="http://schemas.openxmlformats.org/drawingml/2006/main" noGrp="1"/>
          </p:cNvSpPr>
          <p:nvPr/>
        </p:nvSpPr>
        <p:spPr>
          <a:xfrm xmlns:a="http://schemas.openxmlformats.org/drawingml/2006/main">
            <a:off x="514350" y="12858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Guard is ready to protect everyday digital life</a:t>
            </a:r>
          </a:p>
        </p:txBody>
      </p:sp>
      <p:sp>
        <p:nvSpPr>
          <p:cNvPr id="7" name="">
            <a:extLst xmlns:a="http://schemas.openxmlformats.org/drawingml/2006/main">
              <a:ext uri="{FF2B5EF4-FFF2-40B4-BE49-F238E27FC236}">
                <a16:creationId xmlns:a16="http://schemas.microsoft.com/office/drawing/2014/main" id="{8A85CEB4-552B-4A52-8C03-3D4EEBF582FA}"/>
              </a:ext>
            </a:extLst>
          </p:cNvPr>
          <p:cNvSpPr>
            <a:spLocks xmlns:a="http://schemas.openxmlformats.org/drawingml/2006/main" noGrp="1"/>
          </p:cNvSpPr>
          <p:nvPr/>
        </p:nvSpPr>
        <p:spPr>
          <a:xfrm xmlns:a="http://schemas.openxmlformats.org/drawingml/2006/main">
            <a:off x="552450" y="22002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7A18"/>
                </a:solidFill>
                <a:latin typeface="Arial"/>
                <a:ea typeface="Arial"/>
                <a:cs typeface="Arial"/>
              </a:defRPr>
            </a:pPr>
            <a:r>
              <a:rPr sz="900" b="1">
                <a:solidFill>
                  <a:srgbClr val="FF7A18"/>
                </a:solidFill>
                <a:latin typeface="Arial"/>
                <a:ea typeface="Arial"/>
                <a:cs typeface="Arial"/>
              </a:rPr>
              <a:t>FOUNDING TEAM</a:t>
            </a:r>
          </a:p>
        </p:txBody>
      </p:sp>
      <p:sp>
        <p:nvSpPr>
          <p:cNvPr id="8" name="">
            <a:extLst xmlns:a="http://schemas.openxmlformats.org/drawingml/2006/main">
              <a:ext uri="{FF2B5EF4-FFF2-40B4-BE49-F238E27FC236}">
                <a16:creationId xmlns:a16="http://schemas.microsoft.com/office/drawing/2014/main" id="{C573C7AB-0C30-407B-B911-F4444D1BE629}"/>
              </a:ext>
            </a:extLst>
          </p:cNvPr>
          <p:cNvSpPr>
            <a:spLocks xmlns:a="http://schemas.openxmlformats.org/drawingml/2006/main" noGrp="1"/>
          </p:cNvSpPr>
          <p:nvPr/>
        </p:nvSpPr>
        <p:spPr>
          <a:xfrm xmlns:a="http://schemas.openxmlformats.org/drawingml/2006/main">
            <a:off x="552450" y="2543175"/>
            <a:ext cx="5143500" cy="1809750"/>
          </a:xfrm>
          <a:prstGeom xmlns:a="http://schemas.openxmlformats.org/drawingml/2006/main" prst="roundRect">
            <a:avLst>
              <a:gd name="adj" fmla="val 4211"/>
            </a:avLst>
          </a:prstGeom>
          <a:solidFill xmlns:a="http://schemas.openxmlformats.org/drawingml/2006/main">
            <a:srgbClr val="25123D"/>
          </a:solidFill>
          <a:ln xmlns:a="http://schemas.openxmlformats.org/drawingml/2006/main" w="9525">
            <a:solidFill>
              <a:srgbClr val="4C2E68"/>
            </a:solidFill>
          </a:ln>
        </p:spPr>
      </p:sp>
      <p:sp>
        <p:nvSpPr>
          <p:cNvPr id="9" name="">
            <a:extLst xmlns:a="http://schemas.openxmlformats.org/drawingml/2006/main">
              <a:ext uri="{FF2B5EF4-FFF2-40B4-BE49-F238E27FC236}">
                <a16:creationId xmlns:a16="http://schemas.microsoft.com/office/drawing/2014/main" id="{E546048E-C9D8-4C72-B846-3565D80382B0}"/>
              </a:ext>
            </a:extLst>
          </p:cNvPr>
          <p:cNvSpPr>
            <a:spLocks xmlns:a="http://schemas.openxmlformats.org/drawingml/2006/main" noGrp="1"/>
          </p:cNvSpPr>
          <p:nvPr/>
        </p:nvSpPr>
        <p:spPr>
          <a:xfrm xmlns:a="http://schemas.openxmlformats.org/drawingml/2006/main">
            <a:off x="800100" y="2838450"/>
            <a:ext cx="4648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Add founder names, roles and one proof point each</a:t>
            </a:r>
          </a:p>
        </p:txBody>
      </p:sp>
      <p:sp>
        <p:nvSpPr>
          <p:cNvPr id="10" name="">
            <a:extLst xmlns:a="http://schemas.openxmlformats.org/drawingml/2006/main">
              <a:ext uri="{FF2B5EF4-FFF2-40B4-BE49-F238E27FC236}">
                <a16:creationId xmlns:a16="http://schemas.microsoft.com/office/drawing/2014/main" id="{C86B317A-961C-458A-9ED8-65DB0CE85ADD}"/>
              </a:ext>
            </a:extLst>
          </p:cNvPr>
          <p:cNvSpPr>
            <a:spLocks xmlns:a="http://schemas.openxmlformats.org/drawingml/2006/main" noGrp="1"/>
          </p:cNvSpPr>
          <p:nvPr/>
        </p:nvSpPr>
        <p:spPr>
          <a:xfrm xmlns:a="http://schemas.openxmlformats.org/drawingml/2006/main">
            <a:off x="800100" y="353377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CBBADD"/>
                </a:solidFill>
                <a:latin typeface="Arial"/>
                <a:ea typeface="Arial"/>
                <a:cs typeface="Arial"/>
              </a:defRPr>
            </a:pPr>
            <a:r>
              <a:rPr sz="1200" b="0">
                <a:solidFill>
                  <a:srgbClr val="CBBADD"/>
                </a:solidFill>
                <a:latin typeface="Arial"/>
                <a:ea typeface="Arial"/>
                <a:cs typeface="Arial"/>
              </a:rPr>
              <a:t>Recommended coverage: product and engineering, fraud operations, partnerships and regulated financial services.</a:t>
            </a:r>
          </a:p>
        </p:txBody>
      </p:sp>
      <p:sp>
        <p:nvSpPr>
          <p:cNvPr id="11" name="">
            <a:extLst xmlns:a="http://schemas.openxmlformats.org/drawingml/2006/main">
              <a:ext uri="{FF2B5EF4-FFF2-40B4-BE49-F238E27FC236}">
                <a16:creationId xmlns:a16="http://schemas.microsoft.com/office/drawing/2014/main" id="{B284CF87-4D64-4A2A-8B87-081BE591DB7D}"/>
              </a:ext>
            </a:extLst>
          </p:cNvPr>
          <p:cNvSpPr>
            <a:spLocks xmlns:a="http://schemas.openxmlformats.org/drawingml/2006/main" noGrp="1"/>
          </p:cNvSpPr>
          <p:nvPr/>
        </p:nvSpPr>
        <p:spPr>
          <a:xfrm xmlns:a="http://schemas.openxmlformats.org/drawingml/2006/main">
            <a:off x="6343650" y="2200275"/>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7A18"/>
                </a:solidFill>
                <a:latin typeface="Arial"/>
                <a:ea typeface="Arial"/>
                <a:cs typeface="Arial"/>
              </a:defRPr>
            </a:pPr>
            <a:r>
              <a:rPr sz="900" b="1">
                <a:solidFill>
                  <a:srgbClr val="FF7A18"/>
                </a:solidFill>
                <a:latin typeface="Arial"/>
                <a:ea typeface="Arial"/>
                <a:cs typeface="Arial"/>
              </a:rPr>
              <a:t>THE ASK</a:t>
            </a:r>
          </a:p>
        </p:txBody>
      </p:sp>
      <p:sp>
        <p:nvSpPr>
          <p:cNvPr id="12" name="">
            <a:extLst xmlns:a="http://schemas.openxmlformats.org/drawingml/2006/main">
              <a:ext uri="{FF2B5EF4-FFF2-40B4-BE49-F238E27FC236}">
                <a16:creationId xmlns:a16="http://schemas.microsoft.com/office/drawing/2014/main" id="{9FEAF83E-8D0F-4705-9702-2C66DC469B39}"/>
              </a:ext>
            </a:extLst>
          </p:cNvPr>
          <p:cNvSpPr>
            <a:spLocks xmlns:a="http://schemas.openxmlformats.org/drawingml/2006/main" noGrp="1"/>
          </p:cNvSpPr>
          <p:nvPr/>
        </p:nvSpPr>
        <p:spPr>
          <a:xfrm xmlns:a="http://schemas.openxmlformats.org/drawingml/2006/main">
            <a:off x="6343650" y="2619375"/>
            <a:ext cx="381000" cy="381000"/>
          </a:xfrm>
          <a:prstGeom xmlns:a="http://schemas.openxmlformats.org/drawingml/2006/main" prst="roundRect">
            <a:avLst>
              <a:gd name="adj" fmla="val 20000"/>
            </a:avLst>
          </a:prstGeom>
          <a:solidFill xmlns:a="http://schemas.openxmlformats.org/drawingml/2006/main">
            <a:srgbClr val="6D22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D358D8D-135E-4455-BDCA-8C2B9A5E183B}"/>
              </a:ext>
            </a:extLst>
          </p:cNvPr>
          <p:cNvSpPr>
            <a:spLocks xmlns:a="http://schemas.openxmlformats.org/drawingml/2006/main" noGrp="1"/>
          </p:cNvSpPr>
          <p:nvPr/>
        </p:nvSpPr>
        <p:spPr>
          <a:xfrm xmlns:a="http://schemas.openxmlformats.org/drawingml/2006/main">
            <a:off x="6343650" y="27146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E0CF718A-4A1D-45C4-95C3-B77E50505E08}"/>
              </a:ext>
            </a:extLst>
          </p:cNvPr>
          <p:cNvSpPr>
            <a:spLocks xmlns:a="http://schemas.openxmlformats.org/drawingml/2006/main" noGrp="1"/>
          </p:cNvSpPr>
          <p:nvPr/>
        </p:nvSpPr>
        <p:spPr>
          <a:xfrm xmlns:a="http://schemas.openxmlformats.org/drawingml/2006/main">
            <a:off x="6934200" y="2638425"/>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Consumer pilot groups for Android and connected email</a:t>
            </a:r>
          </a:p>
        </p:txBody>
      </p:sp>
      <p:sp>
        <p:nvSpPr>
          <p:cNvPr id="15" name="">
            <a:extLst xmlns:a="http://schemas.openxmlformats.org/drawingml/2006/main">
              <a:ext uri="{FF2B5EF4-FFF2-40B4-BE49-F238E27FC236}">
                <a16:creationId xmlns:a16="http://schemas.microsoft.com/office/drawing/2014/main" id="{4959A216-DFA5-4EDE-824A-13418710FF53}"/>
              </a:ext>
            </a:extLst>
          </p:cNvPr>
          <p:cNvSpPr>
            <a:spLocks xmlns:a="http://schemas.openxmlformats.org/drawingml/2006/main" noGrp="1"/>
          </p:cNvSpPr>
          <p:nvPr/>
        </p:nvSpPr>
        <p:spPr>
          <a:xfrm xmlns:a="http://schemas.openxmlformats.org/drawingml/2006/main">
            <a:off x="6343650" y="3409950"/>
            <a:ext cx="381000" cy="381000"/>
          </a:xfrm>
          <a:prstGeom xmlns:a="http://schemas.openxmlformats.org/drawingml/2006/main" prst="roundRect">
            <a:avLst>
              <a:gd name="adj" fmla="val 20000"/>
            </a:avLst>
          </a:prstGeom>
          <a:solidFill xmlns:a="http://schemas.openxmlformats.org/drawingml/2006/main">
            <a:srgbClr val="6D22B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7F030AE-8FF1-4554-A4C7-780B2A9A9C14}"/>
              </a:ext>
            </a:extLst>
          </p:cNvPr>
          <p:cNvSpPr>
            <a:spLocks xmlns:a="http://schemas.openxmlformats.org/drawingml/2006/main" noGrp="1"/>
          </p:cNvSpPr>
          <p:nvPr/>
        </p:nvSpPr>
        <p:spPr>
          <a:xfrm xmlns:a="http://schemas.openxmlformats.org/drawingml/2006/main">
            <a:off x="6343650" y="35052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8FB51CDA-21BB-4E43-9282-2610339BC0EE}"/>
              </a:ext>
            </a:extLst>
          </p:cNvPr>
          <p:cNvSpPr>
            <a:spLocks xmlns:a="http://schemas.openxmlformats.org/drawingml/2006/main" noGrp="1"/>
          </p:cNvSpPr>
          <p:nvPr/>
        </p:nvSpPr>
        <p:spPr>
          <a:xfrm xmlns:a="http://schemas.openxmlformats.org/drawingml/2006/main">
            <a:off x="6934200" y="342900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Telecom, email and fraud intelligence partners</a:t>
            </a:r>
          </a:p>
        </p:txBody>
      </p:sp>
      <p:sp>
        <p:nvSpPr>
          <p:cNvPr id="18" name="">
            <a:extLst xmlns:a="http://schemas.openxmlformats.org/drawingml/2006/main">
              <a:ext uri="{FF2B5EF4-FFF2-40B4-BE49-F238E27FC236}">
                <a16:creationId xmlns:a16="http://schemas.microsoft.com/office/drawing/2014/main" id="{8806C8C1-1355-46BA-AA95-199C361AC0AD}"/>
              </a:ext>
            </a:extLst>
          </p:cNvPr>
          <p:cNvSpPr>
            <a:spLocks xmlns:a="http://schemas.openxmlformats.org/drawingml/2006/main" noGrp="1"/>
          </p:cNvSpPr>
          <p:nvPr/>
        </p:nvSpPr>
        <p:spPr>
          <a:xfrm xmlns:a="http://schemas.openxmlformats.org/drawingml/2006/main">
            <a:off x="6343650" y="4200525"/>
            <a:ext cx="381000" cy="381000"/>
          </a:xfrm>
          <a:prstGeom xmlns:a="http://schemas.openxmlformats.org/drawingml/2006/main" prst="roundRect">
            <a:avLst>
              <a:gd name="adj" fmla="val 20000"/>
            </a:avLst>
          </a:prstGeom>
          <a:solidFill xmlns:a="http://schemas.openxmlformats.org/drawingml/2006/main">
            <a:srgbClr val="FF7A1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FA0BA1A-3736-4A05-8795-436462A41D8F}"/>
              </a:ext>
            </a:extLst>
          </p:cNvPr>
          <p:cNvSpPr>
            <a:spLocks xmlns:a="http://schemas.openxmlformats.org/drawingml/2006/main" noGrp="1"/>
          </p:cNvSpPr>
          <p:nvPr/>
        </p:nvSpPr>
        <p:spPr>
          <a:xfrm xmlns:a="http://schemas.openxmlformats.org/drawingml/2006/main">
            <a:off x="6343650" y="42957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D23C9790-6176-440F-8BD5-07FC7D8799B4}"/>
              </a:ext>
            </a:extLst>
          </p:cNvPr>
          <p:cNvSpPr>
            <a:spLocks xmlns:a="http://schemas.openxmlformats.org/drawingml/2006/main" noGrp="1"/>
          </p:cNvSpPr>
          <p:nvPr/>
        </p:nvSpPr>
        <p:spPr>
          <a:xfrm xmlns:a="http://schemas.openxmlformats.org/drawingml/2006/main">
            <a:off x="6934200" y="4219575"/>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Pre-seed capital: insert target amount and runway</a:t>
            </a:r>
          </a:p>
        </p:txBody>
      </p:sp>
      <p:sp>
        <p:nvSpPr>
          <p:cNvPr id="21" name="">
            <a:extLst xmlns:a="http://schemas.openxmlformats.org/drawingml/2006/main">
              <a:ext uri="{FF2B5EF4-FFF2-40B4-BE49-F238E27FC236}">
                <a16:creationId xmlns:a16="http://schemas.microsoft.com/office/drawing/2014/main" id="{2E259F3D-E12B-4DED-B647-C28DA19438D7}"/>
              </a:ext>
            </a:extLst>
          </p:cNvPr>
          <p:cNvSpPr>
            <a:spLocks xmlns:a="http://schemas.openxmlformats.org/drawingml/2006/main" noGrp="1"/>
          </p:cNvSpPr>
          <p:nvPr/>
        </p:nvSpPr>
        <p:spPr>
          <a:xfrm xmlns:a="http://schemas.openxmlformats.org/drawingml/2006/main">
            <a:off x="552450" y="4933950"/>
            <a:ext cx="10763250" cy="704850"/>
          </a:xfrm>
          <a:prstGeom xmlns:a="http://schemas.openxmlformats.org/drawingml/2006/main" prst="roundRect">
            <a:avLst>
              <a:gd name="adj" fmla="val 10811"/>
            </a:avLst>
          </a:prstGeom>
          <a:solidFill xmlns:a="http://schemas.openxmlformats.org/drawingml/2006/main">
            <a:srgbClr val="FFB52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FF1978E-4645-4C4D-B17B-6DD763FB085C}"/>
              </a:ext>
            </a:extLst>
          </p:cNvPr>
          <p:cNvSpPr>
            <a:spLocks xmlns:a="http://schemas.openxmlformats.org/drawingml/2006/main" noGrp="1"/>
          </p:cNvSpPr>
          <p:nvPr/>
        </p:nvSpPr>
        <p:spPr>
          <a:xfrm xmlns:a="http://schemas.openxmlformats.org/drawingml/2006/main">
            <a:off x="800100" y="51339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241539"/>
                </a:solidFill>
                <a:latin typeface="Arial"/>
                <a:ea typeface="Arial"/>
                <a:cs typeface="Arial"/>
              </a:defRPr>
            </a:pPr>
            <a:r>
              <a:rPr sz="1650" b="1">
                <a:solidFill>
                  <a:srgbClr val="241539"/>
                </a:solidFill>
                <a:latin typeface="Arial"/>
                <a:ea typeface="Arial"/>
                <a:cs typeface="Arial"/>
              </a:rPr>
              <a:t>Guard can warn people before a fraudulent call, message, email or link becomes a loss.</a:t>
            </a:r>
          </a:p>
        </p:txBody>
      </p:sp>
      <p:sp>
        <p:nvSpPr>
          <p:cNvPr id="23" name="">
            <a:extLst xmlns:a="http://schemas.openxmlformats.org/drawingml/2006/main">
              <a:ext uri="{FF2B5EF4-FFF2-40B4-BE49-F238E27FC236}">
                <a16:creationId xmlns:a16="http://schemas.microsoft.com/office/drawing/2014/main" id="{6147FD1D-CCBE-4245-8D62-7C892B1F164F}"/>
              </a:ext>
            </a:extLst>
          </p:cNvPr>
          <p:cNvSpPr>
            <a:spLocks xmlns:a="http://schemas.openxmlformats.org/drawingml/2006/main" noGrp="1"/>
          </p:cNvSpPr>
          <p:nvPr/>
        </p:nvSpPr>
        <p:spPr>
          <a:xfrm xmlns:a="http://schemas.openxmlformats.org/drawingml/2006/main">
            <a:off x="552450" y="5953125"/>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0">
                <a:solidFill>
                  <a:srgbClr val="CBBADD"/>
                </a:solidFill>
                <a:latin typeface="Arial"/>
                <a:ea typeface="Arial"/>
                <a:cs typeface="Arial"/>
              </a:defRPr>
            </a:pPr>
            <a:r>
              <a:rPr sz="1050" b="0">
                <a:solidFill>
                  <a:srgbClr val="CBBADD"/>
                </a:solidFill>
                <a:latin typeface="Arial"/>
                <a:ea typeface="Arial"/>
                <a:cs typeface="Arial"/>
              </a:rPr>
              <a:t>Contact: [name]  -  [email]  -  [phone]</a:t>
            </a:r>
          </a:p>
        </p:txBody>
      </p:sp>
      <p:sp>
        <p:nvSpPr>
          <p:cNvPr id="24" name="">
            <a:extLst xmlns:a="http://schemas.openxmlformats.org/drawingml/2006/main">
              <a:ext uri="{FF2B5EF4-FFF2-40B4-BE49-F238E27FC236}">
                <a16:creationId xmlns:a16="http://schemas.microsoft.com/office/drawing/2014/main" id="{B1CE573E-77E3-4FBD-AF06-E2C57F310864}"/>
              </a:ext>
            </a:extLst>
          </p:cNvPr>
          <p:cNvSpPr>
            <a:spLocks xmlns:a="http://schemas.openxmlformats.org/drawingml/2006/main" noGrp="1"/>
          </p:cNvSpPr>
          <p:nvPr/>
        </p:nvSpPr>
        <p:spPr>
          <a:xfrm xmlns:a="http://schemas.openxmlformats.org/drawingml/2006/main">
            <a:off x="514350" y="6477000"/>
            <a:ext cx="11163300" cy="0"/>
          </a:xfrm>
          <a:prstGeom xmlns:a="http://schemas.openxmlformats.org/drawingml/2006/main" prst="line">
            <a:avLst/>
          </a:prstGeom>
          <a:noFill xmlns:a="http://schemas.openxmlformats.org/drawingml/2006/main"/>
          <a:ln xmlns:a="http://schemas.openxmlformats.org/drawingml/2006/main" w="9525">
            <a:solidFill>
              <a:srgbClr val="3A2850"/>
            </a:solidFill>
          </a:ln>
        </p:spPr>
      </p:sp>
      <p:sp>
        <p:nvSpPr>
          <p:cNvPr id="25" name="">
            <a:extLst xmlns:a="http://schemas.openxmlformats.org/drawingml/2006/main">
              <a:ext uri="{FF2B5EF4-FFF2-40B4-BE49-F238E27FC236}">
                <a16:creationId xmlns:a16="http://schemas.microsoft.com/office/drawing/2014/main" id="{E96DC471-5994-4B43-BF51-DB1EA6099AAE}"/>
              </a:ext>
            </a:extLst>
          </p:cNvPr>
          <p:cNvSpPr>
            <a:spLocks xmlns:a="http://schemas.openxmlformats.org/drawingml/2006/main" noGrp="1"/>
          </p:cNvSpPr>
          <p:nvPr/>
        </p:nvSpPr>
        <p:spPr>
          <a:xfrm xmlns:a="http://schemas.openxmlformats.org/drawingml/2006/main">
            <a:off x="514350" y="6543675"/>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BFAECC"/>
                </a:solidFill>
                <a:latin typeface="Arial"/>
                <a:ea typeface="Arial"/>
                <a:cs typeface="Arial"/>
              </a:defRPr>
            </a:pPr>
            <a:r>
              <a:rPr sz="750" b="0">
                <a:solidFill>
                  <a:srgbClr val="BFAECC"/>
                </a:solidFill>
                <a:latin typeface="Arial"/>
                <a:ea typeface="Arial"/>
                <a:cs typeface="Arial"/>
              </a:rPr>
              <a:t>Guard - Ghana-first fraud prevention</a:t>
            </a:r>
          </a:p>
        </p:txBody>
      </p:sp>
      <p:sp>
        <p:nvSpPr>
          <p:cNvPr id="26" name="">
            <a:extLst xmlns:a="http://schemas.openxmlformats.org/drawingml/2006/main">
              <a:ext uri="{FF2B5EF4-FFF2-40B4-BE49-F238E27FC236}">
                <a16:creationId xmlns:a16="http://schemas.microsoft.com/office/drawing/2014/main" id="{179E8E71-A915-416B-9C4D-E52AB313449F}"/>
              </a:ext>
            </a:extLst>
          </p:cNvPr>
          <p:cNvSpPr>
            <a:spLocks xmlns:a="http://schemas.openxmlformats.org/drawingml/2006/main" noGrp="1"/>
          </p:cNvSpPr>
          <p:nvPr/>
        </p:nvSpPr>
        <p:spPr>
          <a:xfrm xmlns:a="http://schemas.openxmlformats.org/drawingml/2006/main">
            <a:off x="11239500" y="65246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FFB52E"/>
                </a:solidFill>
                <a:latin typeface="Arial"/>
                <a:ea typeface="Arial"/>
                <a:cs typeface="Arial"/>
              </a:defRPr>
            </a:pPr>
            <a:r>
              <a:rPr sz="825" b="1">
                <a:solidFill>
                  <a:srgbClr val="FFB52E"/>
                </a:solidFill>
                <a:latin typeface="Arial"/>
                <a:ea typeface="Arial"/>
                <a:cs typeface="Arial"/>
              </a:rPr>
              <a:t>11</a:t>
            </a:r>
          </a:p>
        </p:txBody>
      </p:sp>
    </p:spTree>
    <p:extLst>
      <p:ext uri="{BB962C8B-B14F-4D97-AF65-F5344CB8AC3E}">
        <p14:creationId xmlns:p14="http://schemas.microsoft.com/office/powerpoint/2010/main" val="2063522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2026-10-10T20:38:17.1690000Z</dcterms:created>
  <dcterms:modified xsi:type="dcterms:W3CDTF">2026-10-10T20:38:17.1690000Z</dcterms:modified>
</coreProperties>
</file>